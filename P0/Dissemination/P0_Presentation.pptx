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C51E5A6-39C2-4CA6-8E0B-2F98A1D41BD3}" v="73" dt="2026-02-04T18:12:49.8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66623" autoAdjust="0"/>
  </p:normalViewPr>
  <p:slideViewPr>
    <p:cSldViewPr snapToGrid="0">
      <p:cViewPr varScale="1">
        <p:scale>
          <a:sx n="110" d="100"/>
          <a:sy n="110" d="100"/>
        </p:scale>
        <p:origin x="156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zra Weible" userId="67bcaf2f89c4552e" providerId="LiveId" clId="{E4E19776-AA89-4579-B0CB-50FEF10C4E93}"/>
    <pc:docChg chg="undo custSel delSld modSld">
      <pc:chgData name="Ezra Weible" userId="67bcaf2f89c4552e" providerId="LiveId" clId="{E4E19776-AA89-4579-B0CB-50FEF10C4E93}" dt="2026-02-04T18:15:30.243" v="1573" actId="6549"/>
      <pc:docMkLst>
        <pc:docMk/>
      </pc:docMkLst>
      <pc:sldChg chg="modSp mod">
        <pc:chgData name="Ezra Weible" userId="67bcaf2f89c4552e" providerId="LiveId" clId="{E4E19776-AA89-4579-B0CB-50FEF10C4E93}" dt="2026-02-04T17:59:03.293" v="1213" actId="20577"/>
        <pc:sldMkLst>
          <pc:docMk/>
          <pc:sldMk cId="798666000" sldId="256"/>
        </pc:sldMkLst>
        <pc:spChg chg="mod">
          <ac:chgData name="Ezra Weible" userId="67bcaf2f89c4552e" providerId="LiveId" clId="{E4E19776-AA89-4579-B0CB-50FEF10C4E93}" dt="2026-02-04T17:59:03.293" v="1213" actId="20577"/>
          <ac:spMkLst>
            <pc:docMk/>
            <pc:sldMk cId="798666000" sldId="256"/>
            <ac:spMk id="2" creationId="{6EC56CB9-0C0D-8ED2-2C55-0D9ED6720E2C}"/>
          </ac:spMkLst>
        </pc:spChg>
        <pc:spChg chg="mod">
          <ac:chgData name="Ezra Weible" userId="67bcaf2f89c4552e" providerId="LiveId" clId="{E4E19776-AA89-4579-B0CB-50FEF10C4E93}" dt="2026-02-04T07:20:15.341" v="42" actId="20577"/>
          <ac:spMkLst>
            <pc:docMk/>
            <pc:sldMk cId="798666000" sldId="256"/>
            <ac:spMk id="3" creationId="{40676103-CEFF-EEF2-9BFF-93AD8B085821}"/>
          </ac:spMkLst>
        </pc:spChg>
      </pc:sldChg>
      <pc:sldChg chg="modSp mod modNotesTx">
        <pc:chgData name="Ezra Weible" userId="67bcaf2f89c4552e" providerId="LiveId" clId="{E4E19776-AA89-4579-B0CB-50FEF10C4E93}" dt="2026-02-04T17:52:13.604" v="894" actId="20577"/>
        <pc:sldMkLst>
          <pc:docMk/>
          <pc:sldMk cId="441426594" sldId="257"/>
        </pc:sldMkLst>
        <pc:spChg chg="mod">
          <ac:chgData name="Ezra Weible" userId="67bcaf2f89c4552e" providerId="LiveId" clId="{E4E19776-AA89-4579-B0CB-50FEF10C4E93}" dt="2026-02-04T07:20:31.255" v="50" actId="20577"/>
          <ac:spMkLst>
            <pc:docMk/>
            <pc:sldMk cId="441426594" sldId="257"/>
            <ac:spMk id="2" creationId="{757687EE-62FE-DC97-71A3-07EA94F14F70}"/>
          </ac:spMkLst>
        </pc:spChg>
        <pc:spChg chg="mod">
          <ac:chgData name="Ezra Weible" userId="67bcaf2f89c4552e" providerId="LiveId" clId="{E4E19776-AA89-4579-B0CB-50FEF10C4E93}" dt="2026-02-04T17:51:52.683" v="804" actId="20577"/>
          <ac:spMkLst>
            <pc:docMk/>
            <pc:sldMk cId="441426594" sldId="257"/>
            <ac:spMk id="3" creationId="{7B0ED94B-8BFA-9A98-3F9D-86FA4160A50B}"/>
          </ac:spMkLst>
        </pc:spChg>
      </pc:sldChg>
      <pc:sldChg chg="addSp delSp modSp mod modNotesTx">
        <pc:chgData name="Ezra Weible" userId="67bcaf2f89c4552e" providerId="LiveId" clId="{E4E19776-AA89-4579-B0CB-50FEF10C4E93}" dt="2026-02-04T17:52:26.735" v="904" actId="20577"/>
        <pc:sldMkLst>
          <pc:docMk/>
          <pc:sldMk cId="1730044618" sldId="258"/>
        </pc:sldMkLst>
        <pc:spChg chg="del mod">
          <ac:chgData name="Ezra Weible" userId="67bcaf2f89c4552e" providerId="LiveId" clId="{E4E19776-AA89-4579-B0CB-50FEF10C4E93}" dt="2026-02-04T07:22:42.782" v="53" actId="478"/>
          <ac:spMkLst>
            <pc:docMk/>
            <pc:sldMk cId="1730044618" sldId="258"/>
            <ac:spMk id="3" creationId="{FAFA35C1-F2C2-D64A-2CD8-A011B864D209}"/>
          </ac:spMkLst>
        </pc:spChg>
        <pc:picChg chg="add mod">
          <ac:chgData name="Ezra Weible" userId="67bcaf2f89c4552e" providerId="LiveId" clId="{E4E19776-AA89-4579-B0CB-50FEF10C4E93}" dt="2026-02-04T07:22:47.456" v="56" actId="1076"/>
          <ac:picMkLst>
            <pc:docMk/>
            <pc:sldMk cId="1730044618" sldId="258"/>
            <ac:picMk id="5" creationId="{B290F37E-41C6-B65E-54A3-38BFA37970FF}"/>
          </ac:picMkLst>
        </pc:picChg>
      </pc:sldChg>
      <pc:sldChg chg="modSp mod modNotesTx">
        <pc:chgData name="Ezra Weible" userId="67bcaf2f89c4552e" providerId="LiveId" clId="{E4E19776-AA89-4579-B0CB-50FEF10C4E93}" dt="2026-02-04T18:04:00.146" v="1492" actId="20577"/>
        <pc:sldMkLst>
          <pc:docMk/>
          <pc:sldMk cId="4062194938" sldId="259"/>
        </pc:sldMkLst>
        <pc:spChg chg="mod">
          <ac:chgData name="Ezra Weible" userId="67bcaf2f89c4552e" providerId="LiveId" clId="{E4E19776-AA89-4579-B0CB-50FEF10C4E93}" dt="2026-02-04T07:35:18.585" v="333" actId="20577"/>
          <ac:spMkLst>
            <pc:docMk/>
            <pc:sldMk cId="4062194938" sldId="259"/>
            <ac:spMk id="3" creationId="{2F642855-0B4B-2C12-1D6A-29B6870308FA}"/>
          </ac:spMkLst>
        </pc:spChg>
      </pc:sldChg>
      <pc:sldChg chg="addSp delSp modSp mod addAnim delAnim modAnim modNotesTx">
        <pc:chgData name="Ezra Weible" userId="67bcaf2f89c4552e" providerId="LiveId" clId="{E4E19776-AA89-4579-B0CB-50FEF10C4E93}" dt="2026-02-04T18:12:22.126" v="1500"/>
        <pc:sldMkLst>
          <pc:docMk/>
          <pc:sldMk cId="2000768302" sldId="260"/>
        </pc:sldMkLst>
        <pc:spChg chg="mod">
          <ac:chgData name="Ezra Weible" userId="67bcaf2f89c4552e" providerId="LiveId" clId="{E4E19776-AA89-4579-B0CB-50FEF10C4E93}" dt="2026-02-04T07:43:26.230" v="770" actId="20577"/>
          <ac:spMkLst>
            <pc:docMk/>
            <pc:sldMk cId="2000768302" sldId="260"/>
            <ac:spMk id="2" creationId="{3C32E293-491C-3824-19BB-FB7D5148EE42}"/>
          </ac:spMkLst>
        </pc:spChg>
        <pc:spChg chg="del">
          <ac:chgData name="Ezra Weible" userId="67bcaf2f89c4552e" providerId="LiveId" clId="{E4E19776-AA89-4579-B0CB-50FEF10C4E93}" dt="2026-02-04T17:51:40.697" v="801" actId="478"/>
          <ac:spMkLst>
            <pc:docMk/>
            <pc:sldMk cId="2000768302" sldId="260"/>
            <ac:spMk id="3" creationId="{E612B2C8-E988-279C-A0A3-DD16235DDBFE}"/>
          </ac:spMkLst>
        </pc:spChg>
        <pc:picChg chg="del mod">
          <ac:chgData name="Ezra Weible" userId="67bcaf2f89c4552e" providerId="LiveId" clId="{E4E19776-AA89-4579-B0CB-50FEF10C4E93}" dt="2026-02-04T17:51:07.575" v="792" actId="478"/>
          <ac:picMkLst>
            <pc:docMk/>
            <pc:sldMk cId="2000768302" sldId="260"/>
            <ac:picMk id="5" creationId="{9C89206C-813E-E0DC-8CC8-A2C5D8482A08}"/>
          </ac:picMkLst>
        </pc:picChg>
        <pc:picChg chg="add del mod">
          <ac:chgData name="Ezra Weible" userId="67bcaf2f89c4552e" providerId="LiveId" clId="{E4E19776-AA89-4579-B0CB-50FEF10C4E93}" dt="2026-02-04T17:55:45.905" v="1142" actId="478"/>
          <ac:picMkLst>
            <pc:docMk/>
            <pc:sldMk cId="2000768302" sldId="260"/>
            <ac:picMk id="6" creationId="{4AD7750C-D9DE-2FCC-9501-EEF39A16D4FF}"/>
          </ac:picMkLst>
        </pc:picChg>
        <pc:picChg chg="del mod">
          <ac:chgData name="Ezra Weible" userId="67bcaf2f89c4552e" providerId="LiveId" clId="{E4E19776-AA89-4579-B0CB-50FEF10C4E93}" dt="2026-02-04T17:50:50.096" v="788" actId="478"/>
          <ac:picMkLst>
            <pc:docMk/>
            <pc:sldMk cId="2000768302" sldId="260"/>
            <ac:picMk id="7" creationId="{823BD01F-B2EA-0F16-E73A-7FB41A877705}"/>
          </ac:picMkLst>
        </pc:picChg>
        <pc:picChg chg="add mod ord">
          <ac:chgData name="Ezra Weible" userId="67bcaf2f89c4552e" providerId="LiveId" clId="{E4E19776-AA89-4579-B0CB-50FEF10C4E93}" dt="2026-02-04T17:51:16.637" v="796" actId="167"/>
          <ac:picMkLst>
            <pc:docMk/>
            <pc:sldMk cId="2000768302" sldId="260"/>
            <ac:picMk id="9" creationId="{073B0B94-9BA8-C9D3-35F1-C83EEFAE5E86}"/>
          </ac:picMkLst>
        </pc:picChg>
        <pc:picChg chg="add mod">
          <ac:chgData name="Ezra Weible" userId="67bcaf2f89c4552e" providerId="LiveId" clId="{E4E19776-AA89-4579-B0CB-50FEF10C4E93}" dt="2026-02-04T17:55:53.902" v="1145" actId="14100"/>
          <ac:picMkLst>
            <pc:docMk/>
            <pc:sldMk cId="2000768302" sldId="260"/>
            <ac:picMk id="11" creationId="{16722E18-3E1C-9E78-C383-DB8DBF4DD05D}"/>
          </ac:picMkLst>
        </pc:picChg>
      </pc:sldChg>
      <pc:sldChg chg="addSp delSp modSp mod addAnim delAnim modAnim modNotesTx">
        <pc:chgData name="Ezra Weible" userId="67bcaf2f89c4552e" providerId="LiveId" clId="{E4E19776-AA89-4579-B0CB-50FEF10C4E93}" dt="2026-02-04T18:12:53.971" v="1503"/>
        <pc:sldMkLst>
          <pc:docMk/>
          <pc:sldMk cId="2262919821" sldId="261"/>
        </pc:sldMkLst>
        <pc:spChg chg="del">
          <ac:chgData name="Ezra Weible" userId="67bcaf2f89c4552e" providerId="LiveId" clId="{E4E19776-AA89-4579-B0CB-50FEF10C4E93}" dt="2026-02-04T07:25:19.621" v="105" actId="478"/>
          <ac:spMkLst>
            <pc:docMk/>
            <pc:sldMk cId="2262919821" sldId="261"/>
            <ac:spMk id="2" creationId="{2A1B6C7D-E0EE-8D12-D0CC-F7E8C8E796E0}"/>
          </ac:spMkLst>
        </pc:spChg>
        <pc:spChg chg="add mod">
          <ac:chgData name="Ezra Weible" userId="67bcaf2f89c4552e" providerId="LiveId" clId="{E4E19776-AA89-4579-B0CB-50FEF10C4E93}" dt="2026-02-04T07:25:17.901" v="104"/>
          <ac:spMkLst>
            <pc:docMk/>
            <pc:sldMk cId="2262919821" sldId="261"/>
            <ac:spMk id="4" creationId="{CBBA4B84-1F4D-26DD-0426-608359E37931}"/>
          </ac:spMkLst>
        </pc:spChg>
        <pc:spChg chg="add del mod">
          <ac:chgData name="Ezra Weible" userId="67bcaf2f89c4552e" providerId="LiveId" clId="{E4E19776-AA89-4579-B0CB-50FEF10C4E93}" dt="2026-02-04T07:25:22.216" v="106" actId="478"/>
          <ac:spMkLst>
            <pc:docMk/>
            <pc:sldMk cId="2262919821" sldId="261"/>
            <ac:spMk id="8" creationId="{CA5D7CDE-D597-B9E3-9196-5C3247865658}"/>
          </ac:spMkLst>
        </pc:spChg>
        <pc:spChg chg="add mod">
          <ac:chgData name="Ezra Weible" userId="67bcaf2f89c4552e" providerId="LiveId" clId="{E4E19776-AA89-4579-B0CB-50FEF10C4E93}" dt="2026-02-04T07:43:32.055" v="781" actId="20577"/>
          <ac:spMkLst>
            <pc:docMk/>
            <pc:sldMk cId="2262919821" sldId="261"/>
            <ac:spMk id="9" creationId="{B56850CE-A908-F6A5-B025-26C864342C30}"/>
          </ac:spMkLst>
        </pc:spChg>
        <pc:picChg chg="add mod">
          <ac:chgData name="Ezra Weible" userId="67bcaf2f89c4552e" providerId="LiveId" clId="{E4E19776-AA89-4579-B0CB-50FEF10C4E93}" dt="2026-02-04T17:56:31.861" v="1151" actId="14100"/>
          <ac:picMkLst>
            <pc:docMk/>
            <pc:sldMk cId="2262919821" sldId="261"/>
            <ac:picMk id="4" creationId="{2203EFA5-9DB8-39CC-9725-AF6F02321EB2}"/>
          </ac:picMkLst>
        </pc:picChg>
        <pc:picChg chg="del mod">
          <ac:chgData name="Ezra Weible" userId="67bcaf2f89c4552e" providerId="LiveId" clId="{E4E19776-AA89-4579-B0CB-50FEF10C4E93}" dt="2026-02-04T17:56:24.567" v="1148" actId="478"/>
          <ac:picMkLst>
            <pc:docMk/>
            <pc:sldMk cId="2262919821" sldId="261"/>
            <ac:picMk id="5" creationId="{CAAAF50B-0476-6BF4-C727-6F9FC8380B2D}"/>
          </ac:picMkLst>
        </pc:picChg>
        <pc:picChg chg="del mod">
          <ac:chgData name="Ezra Weible" userId="67bcaf2f89c4552e" providerId="LiveId" clId="{E4E19776-AA89-4579-B0CB-50FEF10C4E93}" dt="2026-02-04T17:56:33.234" v="1152" actId="478"/>
          <ac:picMkLst>
            <pc:docMk/>
            <pc:sldMk cId="2262919821" sldId="261"/>
            <ac:picMk id="7" creationId="{ACB4619F-0CAC-029A-C14B-D280A67E37B5}"/>
          </ac:picMkLst>
        </pc:picChg>
        <pc:picChg chg="add mod">
          <ac:chgData name="Ezra Weible" userId="67bcaf2f89c4552e" providerId="LiveId" clId="{E4E19776-AA89-4579-B0CB-50FEF10C4E93}" dt="2026-02-04T17:56:47.895" v="1155" actId="14100"/>
          <ac:picMkLst>
            <pc:docMk/>
            <pc:sldMk cId="2262919821" sldId="261"/>
            <ac:picMk id="8" creationId="{64EB126D-BDEF-33E2-41C6-0E875102E600}"/>
          </ac:picMkLst>
        </pc:picChg>
      </pc:sldChg>
      <pc:sldChg chg="modSp mod modNotesTx">
        <pc:chgData name="Ezra Weible" userId="67bcaf2f89c4552e" providerId="LiveId" clId="{E4E19776-AA89-4579-B0CB-50FEF10C4E93}" dt="2026-02-04T18:15:30.243" v="1573" actId="6549"/>
        <pc:sldMkLst>
          <pc:docMk/>
          <pc:sldMk cId="303442114" sldId="262"/>
        </pc:sldMkLst>
        <pc:spChg chg="mod">
          <ac:chgData name="Ezra Weible" userId="67bcaf2f89c4552e" providerId="LiveId" clId="{E4E19776-AA89-4579-B0CB-50FEF10C4E93}" dt="2026-02-04T07:37:30.165" v="379" actId="20577"/>
          <ac:spMkLst>
            <pc:docMk/>
            <pc:sldMk cId="303442114" sldId="262"/>
            <ac:spMk id="2" creationId="{59865357-1D85-C3DF-63C3-85E0D823F1CA}"/>
          </ac:spMkLst>
        </pc:spChg>
        <pc:spChg chg="mod">
          <ac:chgData name="Ezra Weible" userId="67bcaf2f89c4552e" providerId="LiveId" clId="{E4E19776-AA89-4579-B0CB-50FEF10C4E93}" dt="2026-02-04T18:14:28.980" v="1572" actId="20577"/>
          <ac:spMkLst>
            <pc:docMk/>
            <pc:sldMk cId="303442114" sldId="262"/>
            <ac:spMk id="3" creationId="{2DFE7377-DED7-C939-152E-FC777693251E}"/>
          </ac:spMkLst>
        </pc:spChg>
      </pc:sldChg>
      <pc:sldChg chg="del">
        <pc:chgData name="Ezra Weible" userId="67bcaf2f89c4552e" providerId="LiveId" clId="{E4E19776-AA89-4579-B0CB-50FEF10C4E93}" dt="2026-02-04T07:19:37.527" v="2" actId="47"/>
        <pc:sldMkLst>
          <pc:docMk/>
          <pc:sldMk cId="871395411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B7D2DC-A857-44B8-BAB7-E101C9C826F2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1DE26A-896E-45F7-948C-10910CCE1B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88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Translated investigator questions into the following scientific research questions.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1DE26A-896E-45F7-948C-10910CCE1B25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56276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31 healthy adults, one was excluded from RQ3 for 4x high DHEA over assay detection limit</a:t>
            </a:r>
          </a:p>
          <a:p>
            <a:pPr marL="171450" indent="-171450">
              <a:buFontTx/>
              <a:buChar char="-"/>
            </a:pPr>
            <a:r>
              <a:rPr lang="en-US" dirty="0"/>
              <a:t>Created new variables for time relating to differences between values</a:t>
            </a:r>
          </a:p>
          <a:p>
            <a:pPr marL="628650" marR="0" lvl="1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dirty="0"/>
              <a:t>Cap times had more missingness than booklet times</a:t>
            </a:r>
          </a:p>
          <a:p>
            <a:pPr marL="171450" indent="-171450">
              <a:buFontTx/>
              <a:buChar char="-"/>
            </a:pPr>
            <a:r>
              <a:rPr lang="en-US" dirty="0"/>
              <a:t>Cortisol and DHEA had higher values at start than end of day as expected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1DE26A-896E-45F7-948C-10910CCE1B2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375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test the scientific research questions, I had the following three approaches. </a:t>
            </a:r>
          </a:p>
          <a:p>
            <a:pPr marL="171450" indent="-171450">
              <a:buFontTx/>
              <a:buChar char="-"/>
            </a:pPr>
            <a:r>
              <a:rPr lang="en-US" dirty="0"/>
              <a:t>LMMs were used to allow for subject-level intercepts accounting for repeated measures. </a:t>
            </a:r>
          </a:p>
          <a:p>
            <a:pPr marL="171450" indent="-171450">
              <a:buFontTx/>
              <a:buChar char="-"/>
            </a:pPr>
            <a:r>
              <a:rPr lang="en-US" dirty="0"/>
              <a:t>Only descriptive statistics for RQ2, looked at collection samples 2 and 4</a:t>
            </a:r>
          </a:p>
          <a:p>
            <a:pPr marL="171450" indent="-171450">
              <a:buFontTx/>
              <a:buChar char="-"/>
            </a:pPr>
            <a:r>
              <a:rPr lang="en-US" dirty="0"/>
              <a:t>Log transformation due to right skew, knot at 30 minutes to account for diurnal nature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1DE26A-896E-45F7-948C-10910CCE1B2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841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Booklet and cap times showed a near one‑to‑one relationship (slope = 1 (CI = 0.98 to 1.01))</a:t>
            </a:r>
          </a:p>
          <a:p>
            <a:pPr marL="171450" indent="-171450">
              <a:buFontTx/>
              <a:buChar char="-"/>
            </a:pPr>
            <a:r>
              <a:rPr lang="en-US" dirty="0"/>
              <a:t>Booklet times were recorded 6.7 minutes earlier on average (intercept != 0 with a p-value of 0.028)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171450" indent="-171450">
              <a:buFontTx/>
              <a:buChar char="-"/>
            </a:pPr>
            <a:r>
              <a:rPr lang="en-US" dirty="0"/>
              <a:t>Booklet times were consistently closer to the intended sampling windows than cap times</a:t>
            </a:r>
          </a:p>
          <a:p>
            <a:pPr marL="171450" indent="-171450">
              <a:buFontTx/>
              <a:buChar char="-"/>
            </a:pPr>
            <a:r>
              <a:rPr lang="en-US" dirty="0"/>
              <a:t>Adherence was lower at the 10‑hour mark, especially for cap times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1DE26A-896E-45F7-948C-10910CCE1B2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207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Cortisol showed the expected decline after 30 minutes, but the slight rise from wake to 30 minutes wasn’t statistically significant (p = 0.094)</a:t>
            </a:r>
          </a:p>
          <a:p>
            <a:pPr marL="171450" indent="-171450">
              <a:buFontTx/>
              <a:buChar char="-"/>
            </a:pPr>
            <a:r>
              <a:rPr lang="en-US" dirty="0"/>
              <a:t>DHEA declined sharply in the first 30 minutes and continued to decline more gradually afterward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1DE26A-896E-45F7-948C-10910CCE1B2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2332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No gold‑standard sampling time, making it hard to determine whether discrepancies reflect reporting error, device issues, or participant behavior.</a:t>
            </a:r>
          </a:p>
          <a:p>
            <a:pPr marL="171450" indent="-171450">
              <a:buFontTx/>
              <a:buChar char="-"/>
            </a:pPr>
            <a:r>
              <a:rPr lang="en-US" dirty="0"/>
              <a:t>Missing and inconsistent cap data, plus small sample size, limit precision and generalizability.</a:t>
            </a:r>
          </a:p>
          <a:p>
            <a:pPr marL="171450" indent="-171450">
              <a:buFontTx/>
              <a:buChar char="-"/>
            </a:pPr>
            <a:r>
              <a:rPr lang="en-US" dirty="0"/>
              <a:t>Assay and data constraints (DHEA censoring, excluded participant) may affect hormone trajectory estimates.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1DE26A-896E-45F7-948C-10910CCE1B25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037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DF166-4A2F-8088-C3B1-353FCE5AE5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BF386BB-1536-8B52-7BE6-8799D0F425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7BB72-AA1C-5C0E-6FBA-9DF1EBAC2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CAE35D-EB80-F0ED-3C27-C43C2B0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2055A4-C9DC-626C-E6EB-F462156C4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593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9416D-5158-9DCF-9E9E-36EC1DDB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F97A0-77C3-3C6E-0631-00C36707F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17F47-F191-C112-DFE8-320037949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A1ACFF-394F-3DB6-4B08-DC6A00757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F248F-E71C-018D-F3F4-D958280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269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F232E-4866-2CD9-01E1-93144ECA2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68BF5D-FD93-7D05-FF36-26DFFCDB1F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9DA190-84C9-ADC6-1E39-327482AAF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AF9190-41BB-E0D8-EECE-5A4C4B0FD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A1FC62-8786-C137-880B-496E90F61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621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3EF20-0FC2-9EBA-6D7C-0E2101066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2D687-EECF-7BAC-3E1D-3FA0B9A241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90EA2A-64F2-AD3A-1EE7-949B61A063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4B799D-8A1B-6F1E-B21B-E20B1BDBB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DC0653-4081-3ECE-FB9E-E03BB6C4D2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9CBFD1-2B98-4A9D-C264-E8B26077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264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EEADB-BC0A-4ED0-4CBB-E3357BE7D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6C1CE4-19BA-E90B-4066-14577CB05F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3A98B4-4A90-ADB8-CBB3-57356695DF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42634F-7192-808C-0546-A578D1975B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EB0522-D101-B615-F778-7E5AF3EB0E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EB4DF6-95DC-D2FF-55E6-98C77717F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9BE09F-1431-733D-E9E7-B14197E9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8C8BD00-B899-ADF2-9BBE-9D58F30ED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1852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557D5-987C-A123-A259-509554A8D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2CA5E4-1F96-3391-E065-C1BFBBDE9B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9569C9-292C-469B-415E-05911E129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B1E814-D19D-E28E-171B-255615A55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760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556FD2-8FFC-883D-C5F9-6B10B8784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69B4C8-5874-E8E5-DA53-C553E9B120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116DD-5622-FB3B-20A3-8C11244914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802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693F3-F993-223A-2390-198597EA2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D7161-D7F0-1F71-86CF-FE824759B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1BCEB-CD6D-6A9B-E255-368F3B2B8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C2F368-8032-326E-45CE-5D0BDAED2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09D02B-6572-E421-7020-99DE03379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EFAE82-5050-1B96-96AF-5B9069EB0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713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82116-A7A8-8C54-8266-2DD27867C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BF875B-98A9-2433-FAEC-2E44DA20478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2487E-4B53-31B2-583E-A422CEB92D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39BAB8-7EC9-FFB0-0341-48585A8C0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EF7EF3-7205-04D9-969E-A0B7C36CC0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0CF88F-E373-E223-2CD1-A44222B2E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906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DE3C2-AB6C-B2FA-19C1-A76B813986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7364A0-90BD-E81E-177B-8921A89197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D1D4410-893C-6323-13F1-2FA9C5988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8CE06-3FBF-0045-62C9-4944135BA3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6E3FE-2528-1C18-47BD-D8DE6588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0110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C4F04F-FD94-CABE-EEF1-7D6DA31FA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2F6230-F464-2BEB-6F4C-5521D063A5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1C740-C420-5A53-3A58-F4A8FD092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D23528-EBC7-E944-9517-FF63F894C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176BFD-1BB8-63EE-B6E6-A3921C5A8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461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FECDD3-71BB-BD41-43A9-A41550C522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A2DA2A-D713-BA3D-1282-77C8E2610C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FF6668-520D-B2C2-092C-A549F32DEF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0DA017-A847-42AB-9875-E393B779F40F}" type="datetimeFigureOut">
              <a:rPr lang="en-US" smtClean="0"/>
              <a:t>2/4/2026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CBC15B-451B-27C3-665B-98871F44E8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8DE7C-DAF3-22AE-82F7-7AA4EFA08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99F479A-4A60-449A-9661-1F4E32A25E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036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56CB9-0C0D-8ED2-2C55-0D9ED6720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Timing, Adherence, and Hormone Profiles in a Novel, At-Home Saliva Collection Device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76103-CEFF-EEF2-9BFF-93AD8B08582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Project 0</a:t>
            </a:r>
          </a:p>
          <a:p>
            <a:r>
              <a:rPr lang="en-US" dirty="0"/>
              <a:t>Ezra Weible</a:t>
            </a:r>
          </a:p>
          <a:p>
            <a:r>
              <a:rPr lang="en-US" dirty="0"/>
              <a:t>4 February 2026</a:t>
            </a:r>
          </a:p>
        </p:txBody>
      </p:sp>
    </p:spTree>
    <p:extLst>
      <p:ext uri="{BB962C8B-B14F-4D97-AF65-F5344CB8AC3E}">
        <p14:creationId xmlns:p14="http://schemas.microsoft.com/office/powerpoint/2010/main" val="7986660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687EE-62FE-DC97-71A3-07EA94F14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0ED94B-8BFA-9A98-3F9D-86FA4160A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en-US" dirty="0"/>
              <a:t>How closely do the booklet reported sampling times agree with electronic cap times?</a:t>
            </a:r>
          </a:p>
          <a:p>
            <a:pPr marL="514350" indent="-514350">
              <a:buAutoNum type="arabicParenR"/>
            </a:pPr>
            <a:r>
              <a:rPr lang="en-US" dirty="0"/>
              <a:t>Do participants adhere to the 30 minute and 10 hour sampling times required by a study protocol?</a:t>
            </a:r>
          </a:p>
          <a:p>
            <a:pPr marL="514350" indent="-514350">
              <a:buAutoNum type="arabicParenR"/>
            </a:pPr>
            <a:r>
              <a:rPr lang="en-US" dirty="0"/>
              <a:t>How do cortisol and DHEA change from wake to 30 minutes and from 30 minutes to 10 hours? </a:t>
            </a:r>
          </a:p>
        </p:txBody>
      </p:sp>
    </p:spTree>
    <p:extLst>
      <p:ext uri="{BB962C8B-B14F-4D97-AF65-F5344CB8AC3E}">
        <p14:creationId xmlns:p14="http://schemas.microsoft.com/office/powerpoint/2010/main" val="441426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0567B-94F1-EF28-273B-5979EF675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90F37E-41C6-B65E-54A3-38BFA3797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628" y="1690688"/>
            <a:ext cx="10498172" cy="436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00446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431DD4-E478-85B1-A86E-483D04A9A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42855-0B4B-2C12-1D6A-29B687030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en-US" dirty="0"/>
              <a:t>LMM testing perfect agreement between booklet and cap times</a:t>
            </a:r>
          </a:p>
          <a:p>
            <a:pPr marL="514350" indent="-514350">
              <a:buAutoNum type="arabicParenR"/>
            </a:pPr>
            <a:r>
              <a:rPr lang="en-US" dirty="0"/>
              <a:t>Adherence summaries (±7.5 min, ±15 min) at 30 min and 10 </a:t>
            </a:r>
            <a:r>
              <a:rPr lang="en-US" dirty="0" err="1"/>
              <a:t>hr</a:t>
            </a:r>
            <a:r>
              <a:rPr lang="en-US" dirty="0"/>
              <a:t> targets</a:t>
            </a:r>
          </a:p>
          <a:p>
            <a:pPr marL="514350" indent="-514350">
              <a:buAutoNum type="arabicParenR"/>
            </a:pPr>
            <a:r>
              <a:rPr lang="en-US" dirty="0"/>
              <a:t>Piecewise LMM for log-transformed cortisol and DHEA (knot at 30 min)</a:t>
            </a:r>
          </a:p>
        </p:txBody>
      </p:sp>
    </p:spTree>
    <p:extLst>
      <p:ext uri="{BB962C8B-B14F-4D97-AF65-F5344CB8AC3E}">
        <p14:creationId xmlns:p14="http://schemas.microsoft.com/office/powerpoint/2010/main" val="406219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073B0B94-9BA8-C9D3-35F1-C83EEFAE5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44589"/>
            <a:ext cx="9249779" cy="571341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C32E293-491C-3824-19BB-FB7D5148EE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578"/>
            <a:ext cx="10515600" cy="1325563"/>
          </a:xfrm>
        </p:spPr>
        <p:txBody>
          <a:bodyPr/>
          <a:lstStyle/>
          <a:p>
            <a:r>
              <a:rPr lang="en-US" dirty="0"/>
              <a:t>Results – RQ1 and RQ2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722E18-3E1C-9E78-C383-DB8DBF4DD0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221" y="1155209"/>
            <a:ext cx="9249779" cy="5702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68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472D4-648A-373A-06CC-7D2C2D3BFD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56850CE-A908-F6A5-B025-26C864342C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578"/>
            <a:ext cx="10515600" cy="1325563"/>
          </a:xfrm>
        </p:spPr>
        <p:txBody>
          <a:bodyPr/>
          <a:lstStyle/>
          <a:p>
            <a:r>
              <a:rPr lang="en-US" dirty="0"/>
              <a:t>Results – RQ3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03EFA5-9DB8-39CC-9725-AF6F02321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59609"/>
            <a:ext cx="8891451" cy="549839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4EB126D-BDEF-33E2-41C6-0E875102E6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549" y="1363513"/>
            <a:ext cx="8891451" cy="5494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919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65357-1D85-C3DF-63C3-85E0D823F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-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FE7377-DED7-C939-152E-FC77769325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gold‑standard/“ground truth” sampling time</a:t>
            </a:r>
          </a:p>
          <a:p>
            <a:pPr lvl="1"/>
            <a:r>
              <a:rPr lang="en-US" dirty="0"/>
              <a:t>Missing and inconsistent cap data</a:t>
            </a:r>
          </a:p>
          <a:p>
            <a:r>
              <a:rPr lang="en-US" dirty="0"/>
              <a:t>Modest sample size</a:t>
            </a:r>
          </a:p>
          <a:p>
            <a:r>
              <a:rPr lang="en-US" dirty="0"/>
              <a:t>Assay constraints</a:t>
            </a:r>
          </a:p>
        </p:txBody>
      </p:sp>
    </p:spTree>
    <p:extLst>
      <p:ext uri="{BB962C8B-B14F-4D97-AF65-F5344CB8AC3E}">
        <p14:creationId xmlns:p14="http://schemas.microsoft.com/office/powerpoint/2010/main" val="303442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438</Words>
  <Application>Microsoft Office PowerPoint</Application>
  <PresentationFormat>Widescreen</PresentationFormat>
  <Paragraphs>45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Timing, Adherence, and Hormone Profiles in a Novel, At-Home Saliva Collection Device</vt:lpstr>
      <vt:lpstr>Research Questions</vt:lpstr>
      <vt:lpstr>Data Overview</vt:lpstr>
      <vt:lpstr>Analysis</vt:lpstr>
      <vt:lpstr>Results – RQ1 and RQ2</vt:lpstr>
      <vt:lpstr>Results – RQ3</vt:lpstr>
      <vt:lpstr>Discussion - Limitations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Weible, Ezra</dc:creator>
  <cp:lastModifiedBy>Weible, Ezra</cp:lastModifiedBy>
  <cp:revision>1</cp:revision>
  <dcterms:created xsi:type="dcterms:W3CDTF">2026-02-03T20:55:45Z</dcterms:created>
  <dcterms:modified xsi:type="dcterms:W3CDTF">2026-02-04T18:15:38Z</dcterms:modified>
</cp:coreProperties>
</file>