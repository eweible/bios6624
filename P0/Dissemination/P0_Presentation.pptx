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51E5A6-39C2-4CA6-8E0B-2F98A1D41BD3}" v="56" dt="2026-02-04T07:44:22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6623" autoAdjust="0"/>
  </p:normalViewPr>
  <p:slideViewPr>
    <p:cSldViewPr snapToGrid="0">
      <p:cViewPr varScale="1">
        <p:scale>
          <a:sx n="55" d="100"/>
          <a:sy n="55" d="100"/>
        </p:scale>
        <p:origin x="35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zra Weible" userId="67bcaf2f89c4552e" providerId="LiveId" clId="{E4E19776-AA89-4579-B0CB-50FEF10C4E93}"/>
    <pc:docChg chg="undo custSel delSld modSld">
      <pc:chgData name="Ezra Weible" userId="67bcaf2f89c4552e" providerId="LiveId" clId="{E4E19776-AA89-4579-B0CB-50FEF10C4E93}" dt="2026-02-04T07:44:27.332" v="787"/>
      <pc:docMkLst>
        <pc:docMk/>
      </pc:docMkLst>
      <pc:sldChg chg="modSp mod">
        <pc:chgData name="Ezra Weible" userId="67bcaf2f89c4552e" providerId="LiveId" clId="{E4E19776-AA89-4579-B0CB-50FEF10C4E93}" dt="2026-02-04T07:20:15.341" v="42" actId="20577"/>
        <pc:sldMkLst>
          <pc:docMk/>
          <pc:sldMk cId="798666000" sldId="256"/>
        </pc:sldMkLst>
        <pc:spChg chg="mod">
          <ac:chgData name="Ezra Weible" userId="67bcaf2f89c4552e" providerId="LiveId" clId="{E4E19776-AA89-4579-B0CB-50FEF10C4E93}" dt="2026-02-04T07:19:58.703" v="4" actId="27636"/>
          <ac:spMkLst>
            <pc:docMk/>
            <pc:sldMk cId="798666000" sldId="256"/>
            <ac:spMk id="2" creationId="{6EC56CB9-0C0D-8ED2-2C55-0D9ED6720E2C}"/>
          </ac:spMkLst>
        </pc:spChg>
        <pc:spChg chg="mod">
          <ac:chgData name="Ezra Weible" userId="67bcaf2f89c4552e" providerId="LiveId" clId="{E4E19776-AA89-4579-B0CB-50FEF10C4E93}" dt="2026-02-04T07:20:15.341" v="42" actId="20577"/>
          <ac:spMkLst>
            <pc:docMk/>
            <pc:sldMk cId="798666000" sldId="256"/>
            <ac:spMk id="3" creationId="{40676103-CEFF-EEF2-9BFF-93AD8B085821}"/>
          </ac:spMkLst>
        </pc:spChg>
      </pc:sldChg>
      <pc:sldChg chg="modSp mod">
        <pc:chgData name="Ezra Weible" userId="67bcaf2f89c4552e" providerId="LiveId" clId="{E4E19776-AA89-4579-B0CB-50FEF10C4E93}" dt="2026-02-04T07:23:15.438" v="71" actId="20577"/>
        <pc:sldMkLst>
          <pc:docMk/>
          <pc:sldMk cId="441426594" sldId="257"/>
        </pc:sldMkLst>
        <pc:spChg chg="mod">
          <ac:chgData name="Ezra Weible" userId="67bcaf2f89c4552e" providerId="LiveId" clId="{E4E19776-AA89-4579-B0CB-50FEF10C4E93}" dt="2026-02-04T07:20:31.255" v="50" actId="20577"/>
          <ac:spMkLst>
            <pc:docMk/>
            <pc:sldMk cId="441426594" sldId="257"/>
            <ac:spMk id="2" creationId="{757687EE-62FE-DC97-71A3-07EA94F14F70}"/>
          </ac:spMkLst>
        </pc:spChg>
        <pc:spChg chg="mod">
          <ac:chgData name="Ezra Weible" userId="67bcaf2f89c4552e" providerId="LiveId" clId="{E4E19776-AA89-4579-B0CB-50FEF10C4E93}" dt="2026-02-04T07:23:15.438" v="71" actId="20577"/>
          <ac:spMkLst>
            <pc:docMk/>
            <pc:sldMk cId="441426594" sldId="257"/>
            <ac:spMk id="3" creationId="{7B0ED94B-8BFA-9A98-3F9D-86FA4160A50B}"/>
          </ac:spMkLst>
        </pc:spChg>
      </pc:sldChg>
      <pc:sldChg chg="addSp delSp modSp mod modNotesTx">
        <pc:chgData name="Ezra Weible" userId="67bcaf2f89c4552e" providerId="LiveId" clId="{E4E19776-AA89-4579-B0CB-50FEF10C4E93}" dt="2026-02-04T07:40:02.280" v="638" actId="20577"/>
        <pc:sldMkLst>
          <pc:docMk/>
          <pc:sldMk cId="1730044618" sldId="258"/>
        </pc:sldMkLst>
        <pc:spChg chg="del mod">
          <ac:chgData name="Ezra Weible" userId="67bcaf2f89c4552e" providerId="LiveId" clId="{E4E19776-AA89-4579-B0CB-50FEF10C4E93}" dt="2026-02-04T07:22:42.782" v="53" actId="478"/>
          <ac:spMkLst>
            <pc:docMk/>
            <pc:sldMk cId="1730044618" sldId="258"/>
            <ac:spMk id="3" creationId="{FAFA35C1-F2C2-D64A-2CD8-A011B864D209}"/>
          </ac:spMkLst>
        </pc:spChg>
        <pc:picChg chg="add mod">
          <ac:chgData name="Ezra Weible" userId="67bcaf2f89c4552e" providerId="LiveId" clId="{E4E19776-AA89-4579-B0CB-50FEF10C4E93}" dt="2026-02-04T07:22:47.456" v="56" actId="1076"/>
          <ac:picMkLst>
            <pc:docMk/>
            <pc:sldMk cId="1730044618" sldId="258"/>
            <ac:picMk id="5" creationId="{B290F37E-41C6-B65E-54A3-38BFA37970FF}"/>
          </ac:picMkLst>
        </pc:picChg>
      </pc:sldChg>
      <pc:sldChg chg="modSp mod">
        <pc:chgData name="Ezra Weible" userId="67bcaf2f89c4552e" providerId="LiveId" clId="{E4E19776-AA89-4579-B0CB-50FEF10C4E93}" dt="2026-02-04T07:35:18.585" v="333" actId="20577"/>
        <pc:sldMkLst>
          <pc:docMk/>
          <pc:sldMk cId="4062194938" sldId="259"/>
        </pc:sldMkLst>
        <pc:spChg chg="mod">
          <ac:chgData name="Ezra Weible" userId="67bcaf2f89c4552e" providerId="LiveId" clId="{E4E19776-AA89-4579-B0CB-50FEF10C4E93}" dt="2026-02-04T07:35:18.585" v="333" actId="20577"/>
          <ac:spMkLst>
            <pc:docMk/>
            <pc:sldMk cId="4062194938" sldId="259"/>
            <ac:spMk id="3" creationId="{2F642855-0B4B-2C12-1D6A-29B6870308FA}"/>
          </ac:spMkLst>
        </pc:spChg>
      </pc:sldChg>
      <pc:sldChg chg="modSp mod addAnim delAnim modAnim modNotesTx">
        <pc:chgData name="Ezra Weible" userId="67bcaf2f89c4552e" providerId="LiveId" clId="{E4E19776-AA89-4579-B0CB-50FEF10C4E93}" dt="2026-02-04T07:44:17.229" v="785"/>
        <pc:sldMkLst>
          <pc:docMk/>
          <pc:sldMk cId="2000768302" sldId="260"/>
        </pc:sldMkLst>
        <pc:spChg chg="mod">
          <ac:chgData name="Ezra Weible" userId="67bcaf2f89c4552e" providerId="LiveId" clId="{E4E19776-AA89-4579-B0CB-50FEF10C4E93}" dt="2026-02-04T07:43:26.230" v="770" actId="20577"/>
          <ac:spMkLst>
            <pc:docMk/>
            <pc:sldMk cId="2000768302" sldId="260"/>
            <ac:spMk id="2" creationId="{3C32E293-491C-3824-19BB-FB7D5148EE42}"/>
          </ac:spMkLst>
        </pc:spChg>
        <pc:picChg chg="mod">
          <ac:chgData name="Ezra Weible" userId="67bcaf2f89c4552e" providerId="LiveId" clId="{E4E19776-AA89-4579-B0CB-50FEF10C4E93}" dt="2026-02-04T07:24:58.595" v="101" actId="14100"/>
          <ac:picMkLst>
            <pc:docMk/>
            <pc:sldMk cId="2000768302" sldId="260"/>
            <ac:picMk id="5" creationId="{9C89206C-813E-E0DC-8CC8-A2C5D8482A08}"/>
          </ac:picMkLst>
        </pc:picChg>
        <pc:picChg chg="mod">
          <ac:chgData name="Ezra Weible" userId="67bcaf2f89c4552e" providerId="LiveId" clId="{E4E19776-AA89-4579-B0CB-50FEF10C4E93}" dt="2026-02-04T07:24:53.336" v="99" actId="14100"/>
          <ac:picMkLst>
            <pc:docMk/>
            <pc:sldMk cId="2000768302" sldId="260"/>
            <ac:picMk id="7" creationId="{823BD01F-B2EA-0F16-E73A-7FB41A877705}"/>
          </ac:picMkLst>
        </pc:picChg>
      </pc:sldChg>
      <pc:sldChg chg="addSp delSp modSp mod addAnim delAnim modAnim modNotesTx">
        <pc:chgData name="Ezra Weible" userId="67bcaf2f89c4552e" providerId="LiveId" clId="{E4E19776-AA89-4579-B0CB-50FEF10C4E93}" dt="2026-02-04T07:44:27.332" v="787"/>
        <pc:sldMkLst>
          <pc:docMk/>
          <pc:sldMk cId="2262919821" sldId="261"/>
        </pc:sldMkLst>
        <pc:spChg chg="del">
          <ac:chgData name="Ezra Weible" userId="67bcaf2f89c4552e" providerId="LiveId" clId="{E4E19776-AA89-4579-B0CB-50FEF10C4E93}" dt="2026-02-04T07:25:19.621" v="105" actId="478"/>
          <ac:spMkLst>
            <pc:docMk/>
            <pc:sldMk cId="2262919821" sldId="261"/>
            <ac:spMk id="2" creationId="{2A1B6C7D-E0EE-8D12-D0CC-F7E8C8E796E0}"/>
          </ac:spMkLst>
        </pc:spChg>
        <pc:spChg chg="add mod">
          <ac:chgData name="Ezra Weible" userId="67bcaf2f89c4552e" providerId="LiveId" clId="{E4E19776-AA89-4579-B0CB-50FEF10C4E93}" dt="2026-02-04T07:25:17.901" v="104"/>
          <ac:spMkLst>
            <pc:docMk/>
            <pc:sldMk cId="2262919821" sldId="261"/>
            <ac:spMk id="4" creationId="{CBBA4B84-1F4D-26DD-0426-608359E37931}"/>
          </ac:spMkLst>
        </pc:spChg>
        <pc:spChg chg="add del mod">
          <ac:chgData name="Ezra Weible" userId="67bcaf2f89c4552e" providerId="LiveId" clId="{E4E19776-AA89-4579-B0CB-50FEF10C4E93}" dt="2026-02-04T07:25:22.216" v="106" actId="478"/>
          <ac:spMkLst>
            <pc:docMk/>
            <pc:sldMk cId="2262919821" sldId="261"/>
            <ac:spMk id="8" creationId="{CA5D7CDE-D597-B9E3-9196-5C3247865658}"/>
          </ac:spMkLst>
        </pc:spChg>
        <pc:spChg chg="add mod">
          <ac:chgData name="Ezra Weible" userId="67bcaf2f89c4552e" providerId="LiveId" clId="{E4E19776-AA89-4579-B0CB-50FEF10C4E93}" dt="2026-02-04T07:43:32.055" v="781" actId="20577"/>
          <ac:spMkLst>
            <pc:docMk/>
            <pc:sldMk cId="2262919821" sldId="261"/>
            <ac:spMk id="9" creationId="{B56850CE-A908-F6A5-B025-26C864342C30}"/>
          </ac:spMkLst>
        </pc:spChg>
        <pc:picChg chg="mod">
          <ac:chgData name="Ezra Weible" userId="67bcaf2f89c4552e" providerId="LiveId" clId="{E4E19776-AA89-4579-B0CB-50FEF10C4E93}" dt="2026-02-04T07:25:28.303" v="109" actId="14100"/>
          <ac:picMkLst>
            <pc:docMk/>
            <pc:sldMk cId="2262919821" sldId="261"/>
            <ac:picMk id="5" creationId="{CAAAF50B-0476-6BF4-C727-6F9FC8380B2D}"/>
          </ac:picMkLst>
        </pc:picChg>
        <pc:picChg chg="mod">
          <ac:chgData name="Ezra Weible" userId="67bcaf2f89c4552e" providerId="LiveId" clId="{E4E19776-AA89-4579-B0CB-50FEF10C4E93}" dt="2026-02-04T07:25:32.802" v="111" actId="14100"/>
          <ac:picMkLst>
            <pc:docMk/>
            <pc:sldMk cId="2262919821" sldId="261"/>
            <ac:picMk id="7" creationId="{ACB4619F-0CAC-029A-C14B-D280A67E37B5}"/>
          </ac:picMkLst>
        </pc:picChg>
      </pc:sldChg>
      <pc:sldChg chg="modSp mod modNotesTx">
        <pc:chgData name="Ezra Weible" userId="67bcaf2f89c4552e" providerId="LiveId" clId="{E4E19776-AA89-4579-B0CB-50FEF10C4E93}" dt="2026-02-04T07:37:30.165" v="379" actId="20577"/>
        <pc:sldMkLst>
          <pc:docMk/>
          <pc:sldMk cId="303442114" sldId="262"/>
        </pc:sldMkLst>
        <pc:spChg chg="mod">
          <ac:chgData name="Ezra Weible" userId="67bcaf2f89c4552e" providerId="LiveId" clId="{E4E19776-AA89-4579-B0CB-50FEF10C4E93}" dt="2026-02-04T07:37:30.165" v="379" actId="20577"/>
          <ac:spMkLst>
            <pc:docMk/>
            <pc:sldMk cId="303442114" sldId="262"/>
            <ac:spMk id="2" creationId="{59865357-1D85-C3DF-63C3-85E0D823F1CA}"/>
          </ac:spMkLst>
        </pc:spChg>
        <pc:spChg chg="mod">
          <ac:chgData name="Ezra Weible" userId="67bcaf2f89c4552e" providerId="LiveId" clId="{E4E19776-AA89-4579-B0CB-50FEF10C4E93}" dt="2026-02-04T07:37:27.170" v="365" actId="20577"/>
          <ac:spMkLst>
            <pc:docMk/>
            <pc:sldMk cId="303442114" sldId="262"/>
            <ac:spMk id="3" creationId="{2DFE7377-DED7-C939-152E-FC777693251E}"/>
          </ac:spMkLst>
        </pc:spChg>
      </pc:sldChg>
      <pc:sldChg chg="del">
        <pc:chgData name="Ezra Weible" userId="67bcaf2f89c4552e" providerId="LiveId" clId="{E4E19776-AA89-4579-B0CB-50FEF10C4E93}" dt="2026-02-04T07:19:37.527" v="2" actId="47"/>
        <pc:sldMkLst>
          <pc:docMk/>
          <pc:sldMk cId="871395411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B7D2DC-A857-44B8-BAB7-E101C9C826F2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1DE26A-896E-45F7-948C-10910CCE1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88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31 healthy adults, one was excluded from RQ3 for 4x high DHEA over assay limit</a:t>
            </a:r>
          </a:p>
          <a:p>
            <a:pPr marL="171450" indent="-171450">
              <a:buFontTx/>
              <a:buChar char="-"/>
            </a:pPr>
            <a:r>
              <a:rPr lang="en-US" dirty="0"/>
              <a:t>Created new variables for time relating to differences between values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Cap times had more missingness than booklet times</a:t>
            </a:r>
          </a:p>
          <a:p>
            <a:pPr marL="171450" indent="-171450">
              <a:buFontTx/>
              <a:buChar char="-"/>
            </a:pPr>
            <a:r>
              <a:rPr lang="en-US" dirty="0"/>
              <a:t>Cortisol and DHEA had higher values at start than end of day as expected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DE26A-896E-45F7-948C-10910CCE1B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75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Booklet and cap times showed a near one‑to‑one relationship (slope = 1)</a:t>
            </a:r>
          </a:p>
          <a:p>
            <a:pPr marL="171450" indent="-171450">
              <a:buFontTx/>
              <a:buChar char="-"/>
            </a:pPr>
            <a:r>
              <a:rPr lang="en-US" dirty="0"/>
              <a:t>Booklet times were recorded 6.7 minutes earlier on average (intercept != 0)</a:t>
            </a:r>
          </a:p>
          <a:p>
            <a:pPr marL="171450" indent="-171450">
              <a:buFontTx/>
              <a:buChar char="-"/>
            </a:pPr>
            <a:r>
              <a:rPr lang="en-US" dirty="0"/>
              <a:t>Booklet times were consistently closer to the intended sampling windows than cap times</a:t>
            </a:r>
          </a:p>
          <a:p>
            <a:pPr marL="171450" indent="-171450">
              <a:buFontTx/>
              <a:buChar char="-"/>
            </a:pPr>
            <a:r>
              <a:rPr lang="en-US" dirty="0"/>
              <a:t>Adherence was lower at the 10‑hour mark, especially for cap times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DE26A-896E-45F7-948C-10910CCE1B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Cortisol showed the expected decline after 30 minutes, but the slight rise from wake to 30 minutes wasn’t statistically significant</a:t>
            </a:r>
          </a:p>
          <a:p>
            <a:pPr marL="171450" indent="-171450">
              <a:buFontTx/>
              <a:buChar char="-"/>
            </a:pPr>
            <a:r>
              <a:rPr lang="en-US" dirty="0"/>
              <a:t>DHEA declined sharply in the first 30 minutes and continued to decline more gradually afterward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DE26A-896E-45F7-948C-10910CCE1B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33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No gold‑standard sampling time, making it hard to determine whether discrepancies reflect reporting error, device issues, or participant behavior.</a:t>
            </a:r>
          </a:p>
          <a:p>
            <a:pPr marL="171450" indent="-171450">
              <a:buFontTx/>
              <a:buChar char="-"/>
            </a:pPr>
            <a:r>
              <a:rPr lang="en-US" dirty="0"/>
              <a:t>Missing and inconsistent cap data, plus small sample size, limit precision and generalizability.</a:t>
            </a:r>
          </a:p>
          <a:p>
            <a:pPr marL="171450" indent="-171450">
              <a:buFontTx/>
              <a:buChar char="-"/>
            </a:pPr>
            <a:r>
              <a:rPr lang="en-US" dirty="0"/>
              <a:t>Assay and data constraints (e.g., DHEA censoring, excluded participant) may affect hormone trajectory estimates.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1DE26A-896E-45F7-948C-10910CCE1B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37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F166-4A2F-8088-C3B1-353FCE5AE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F386BB-1536-8B52-7BE6-8799D0F4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7BB72-AA1C-5C0E-6FBA-9DF1EBAC2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A017-A847-42AB-9875-E393B779F40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AE35D-EB80-F0ED-3C27-C43C2B0E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055A4-C9DC-626C-E6EB-F462156C4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479A-4A60-449A-9661-1F4E32A2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93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9416D-5158-9DCF-9E9E-36EC1DDB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F97A0-77C3-3C6E-0631-00C36707F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17F47-F191-C112-DFE8-320037949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A017-A847-42AB-9875-E393B779F40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1ACFF-394F-3DB6-4B08-DC6A00757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F248F-E71C-018D-F3F4-D958280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479A-4A60-449A-9661-1F4E32A2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69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F232E-4866-2CD9-01E1-93144ECA2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8BF5D-FD93-7D05-FF36-26DFFCDB1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DA190-84C9-ADC6-1E39-327482AAF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A017-A847-42AB-9875-E393B779F40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F9190-41BB-E0D8-EECE-5A4C4B0F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1FC62-8786-C137-880B-496E90F61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479A-4A60-449A-9661-1F4E32A2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2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3EF20-0FC2-9EBA-6D7C-0E2101066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D687-EECF-7BAC-3E1D-3FA0B9A24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0EA2A-64F2-AD3A-1EE7-949B61A06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B799D-8A1B-6F1E-B21B-E20B1BDBB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A017-A847-42AB-9875-E393B779F40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C0653-4081-3ECE-FB9E-E03BB6C4D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CBFD1-2B98-4A9D-C264-E8B26077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479A-4A60-449A-9661-1F4E32A2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6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EEADB-BC0A-4ED0-4CBB-E3357BE7D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C1CE4-19BA-E90B-4066-14577CB05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A98B4-4A90-ADB8-CBB3-57356695D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42634F-7192-808C-0546-A578D1975B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B0522-D101-B615-F778-7E5AF3EB0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EB4DF6-95DC-D2FF-55E6-98C77717F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A017-A847-42AB-9875-E393B779F40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9BE09F-1431-733D-E9E7-B14197E9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C8BD00-B899-ADF2-9BBE-9D58F30E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479A-4A60-449A-9661-1F4E32A2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8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557D5-987C-A123-A259-509554A8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2CA5E4-1F96-3391-E065-C1BFBBDE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A017-A847-42AB-9875-E393B779F40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9569C9-292C-469B-415E-05911E129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1E814-D19D-E28E-171B-255615A55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479A-4A60-449A-9661-1F4E32A2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760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56FD2-8FFC-883D-C5F9-6B10B8784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A017-A847-42AB-9875-E393B779F40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9B4C8-5874-E8E5-DA53-C553E9B12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116DD-5622-FB3B-20A3-8C1124491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479A-4A60-449A-9661-1F4E32A2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02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693F3-F993-223A-2390-198597EA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D7161-D7F0-1F71-86CF-FE824759B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1BCEB-CD6D-6A9B-E255-368F3B2B8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2F368-8032-326E-45CE-5D0BDAED2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A017-A847-42AB-9875-E393B779F40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9D02B-6572-E421-7020-99DE03379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FAE82-5050-1B96-96AF-5B9069EB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479A-4A60-449A-9661-1F4E32A2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1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2116-A7A8-8C54-8266-2DD27867C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BF875B-98A9-2433-FAEC-2E44DA204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A2487E-4B53-31B2-583E-A422CEB92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9BAB8-7EC9-FFB0-0341-48585A8C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A017-A847-42AB-9875-E393B779F40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F7EF3-7205-04D9-969E-A0B7C36C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CF88F-E373-E223-2CD1-A44222B2E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479A-4A60-449A-9661-1F4E32A2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06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E3C2-AB6C-B2FA-19C1-A76B8139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364A0-90BD-E81E-177B-8921A8919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D4410-893C-6323-13F1-2FA9C5988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A017-A847-42AB-9875-E393B779F40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8CE06-3FBF-0045-62C9-4944135BA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6E3FE-2528-1C18-47BD-D8DE65882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479A-4A60-449A-9661-1F4E32A2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11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C4F04F-FD94-CABE-EEF1-7D6DA31FA2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F6230-F464-2BEB-6F4C-5521D063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1C740-C420-5A53-3A58-F4A8FD09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A017-A847-42AB-9875-E393B779F40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23528-EBC7-E944-9517-FF63F894C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76BFD-1BB8-63EE-B6E6-A3921C5A8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9F479A-4A60-449A-9661-1F4E32A2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46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FECDD3-71BB-BD41-43A9-A41550C52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2DA2A-D713-BA3D-1282-77C8E2610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F6668-520D-B2C2-092C-A549F32DE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0DA017-A847-42AB-9875-E393B779F40F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BC15B-451B-27C3-665B-98871F44E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8DE7C-DAF3-22AE-82F7-7AA4EFA08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F479A-4A60-449A-9661-1F4E32A2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03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56CB9-0C0D-8ED2-2C55-0D9ED6720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Timing, Adherence, and Hormone Profiles in a Novel Saliva Device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76103-CEFF-EEF2-9BFF-93AD8B0858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0</a:t>
            </a:r>
          </a:p>
          <a:p>
            <a:r>
              <a:rPr lang="en-US" dirty="0"/>
              <a:t>Ezra Weible</a:t>
            </a:r>
          </a:p>
          <a:p>
            <a:r>
              <a:rPr lang="en-US" dirty="0"/>
              <a:t>4 February 2026</a:t>
            </a:r>
          </a:p>
        </p:txBody>
      </p:sp>
    </p:spTree>
    <p:extLst>
      <p:ext uri="{BB962C8B-B14F-4D97-AF65-F5344CB8AC3E}">
        <p14:creationId xmlns:p14="http://schemas.microsoft.com/office/powerpoint/2010/main" val="798666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87EE-62FE-DC97-71A3-07EA94F1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ED94B-8BFA-9A98-3F9D-86FA4160A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/>
              <a:t>How closely do the booklet reported sampling times agree with electronic cap times?</a:t>
            </a:r>
          </a:p>
          <a:p>
            <a:pPr marL="514350" indent="-514350">
              <a:buAutoNum type="arabicParenR"/>
            </a:pPr>
            <a:r>
              <a:rPr lang="en-US" dirty="0"/>
              <a:t>Do participants adhere to the 30 minute and 10 hour sampling times required by a study protocol?</a:t>
            </a:r>
          </a:p>
          <a:p>
            <a:pPr marL="514350" indent="-514350">
              <a:buAutoNum type="arabicParenR"/>
            </a:pPr>
            <a:r>
              <a:rPr lang="en-US" dirty="0"/>
              <a:t>How cortisol and DHEA change from wake to 30 minutes and from 30 minutes to 10 hours? </a:t>
            </a:r>
          </a:p>
        </p:txBody>
      </p:sp>
    </p:spTree>
    <p:extLst>
      <p:ext uri="{BB962C8B-B14F-4D97-AF65-F5344CB8AC3E}">
        <p14:creationId xmlns:p14="http://schemas.microsoft.com/office/powerpoint/2010/main" val="441426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567B-94F1-EF28-273B-5979EF67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90F37E-41C6-B65E-54A3-38BFA3797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28" y="1690688"/>
            <a:ext cx="10498172" cy="436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4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1DD4-E478-85B1-A86E-483D04A9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42855-0B4B-2C12-1D6A-29B687030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/>
              <a:t>LMM testing perfect agreement between booklet and cap times</a:t>
            </a:r>
          </a:p>
          <a:p>
            <a:pPr marL="514350" indent="-514350">
              <a:buAutoNum type="arabicParenR"/>
            </a:pPr>
            <a:r>
              <a:rPr lang="en-US" dirty="0"/>
              <a:t>Adherence summaries (±7.5 min, ±15 min) at 30 min and 10 </a:t>
            </a:r>
            <a:r>
              <a:rPr lang="en-US" dirty="0" err="1"/>
              <a:t>hr</a:t>
            </a:r>
            <a:r>
              <a:rPr lang="en-US" dirty="0"/>
              <a:t> targets</a:t>
            </a:r>
          </a:p>
          <a:p>
            <a:pPr marL="514350" indent="-514350">
              <a:buAutoNum type="arabicParenR"/>
            </a:pPr>
            <a:r>
              <a:rPr lang="en-US" dirty="0"/>
              <a:t>Piecewise LMM for log-transformed cortisol and DHEA (knot at 30 min)</a:t>
            </a:r>
          </a:p>
        </p:txBody>
      </p:sp>
    </p:spTree>
    <p:extLst>
      <p:ext uri="{BB962C8B-B14F-4D97-AF65-F5344CB8AC3E}">
        <p14:creationId xmlns:p14="http://schemas.microsoft.com/office/powerpoint/2010/main" val="406219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E293-491C-3824-19BB-FB7D5148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8"/>
            <a:ext cx="10515600" cy="1325563"/>
          </a:xfrm>
        </p:spPr>
        <p:txBody>
          <a:bodyPr/>
          <a:lstStyle/>
          <a:p>
            <a:r>
              <a:rPr lang="en-US" dirty="0"/>
              <a:t>Results – RQ1 and RQ2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2B2C8-E988-279C-A0A3-DD16235DD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89206C-813E-E0DC-8CC8-A2C5D8482A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9" t="1257" r="1063" b="2331"/>
          <a:stretch>
            <a:fillRect/>
          </a:stretch>
        </p:blipFill>
        <p:spPr>
          <a:xfrm>
            <a:off x="-1" y="1144589"/>
            <a:ext cx="9319645" cy="5713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BD01F-B2EA-0F16-E73A-7FB41A877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5701" y="1144589"/>
            <a:ext cx="9226299" cy="571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6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472D4-648A-373A-06CC-7D2C2D3BF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AF50B-0476-6BF4-C727-6F9FC8380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2141"/>
            <a:ext cx="8749934" cy="53758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B4619F-0CAC-029A-C14B-D280A67E37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5069" y="1482141"/>
            <a:ext cx="8716931" cy="537585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56850CE-A908-F6A5-B025-26C864342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578"/>
            <a:ext cx="10515600" cy="1325563"/>
          </a:xfrm>
        </p:spPr>
        <p:txBody>
          <a:bodyPr/>
          <a:lstStyle/>
          <a:p>
            <a:r>
              <a:rPr lang="en-US" dirty="0"/>
              <a:t>Results – RQ3</a:t>
            </a:r>
          </a:p>
        </p:txBody>
      </p:sp>
    </p:spTree>
    <p:extLst>
      <p:ext uri="{BB962C8B-B14F-4D97-AF65-F5344CB8AC3E}">
        <p14:creationId xmlns:p14="http://schemas.microsoft.com/office/powerpoint/2010/main" val="2262919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5357-1D85-C3DF-63C3-85E0D823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-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E7377-DED7-C939-152E-FC7776932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gold‑standard sampling time</a:t>
            </a:r>
          </a:p>
          <a:p>
            <a:r>
              <a:rPr lang="en-US" dirty="0"/>
              <a:t>Missing and inconsistent cap data</a:t>
            </a:r>
          </a:p>
          <a:p>
            <a:r>
              <a:rPr lang="en-US" dirty="0"/>
              <a:t>Assay and data constraints</a:t>
            </a:r>
          </a:p>
        </p:txBody>
      </p:sp>
    </p:spTree>
    <p:extLst>
      <p:ext uri="{BB962C8B-B14F-4D97-AF65-F5344CB8AC3E}">
        <p14:creationId xmlns:p14="http://schemas.microsoft.com/office/powerpoint/2010/main" val="303442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348</Words>
  <Application>Microsoft Office PowerPoint</Application>
  <PresentationFormat>Widescreen</PresentationFormat>
  <Paragraphs>36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Timing, Adherence, and Hormone Profiles in a Novel Saliva Device</vt:lpstr>
      <vt:lpstr>Research Questions</vt:lpstr>
      <vt:lpstr>Data Overview</vt:lpstr>
      <vt:lpstr>Analysis</vt:lpstr>
      <vt:lpstr>Results – RQ1 and RQ2</vt:lpstr>
      <vt:lpstr>Results – RQ3</vt:lpstr>
      <vt:lpstr>Discussion -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Weible, Ezra</dc:creator>
  <cp:lastModifiedBy>Weible, Ezra</cp:lastModifiedBy>
  <cp:revision>1</cp:revision>
  <dcterms:created xsi:type="dcterms:W3CDTF">2026-02-03T20:55:45Z</dcterms:created>
  <dcterms:modified xsi:type="dcterms:W3CDTF">2026-02-04T07:44:34Z</dcterms:modified>
</cp:coreProperties>
</file>