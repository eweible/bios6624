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8" r:id="rId4"/>
    <p:sldId id="265" r:id="rId5"/>
    <p:sldId id="261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C90CA0-1127-4F50-8FD8-9723BDB6A9C7}" v="170" dt="2026-03-30T15:24:56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072" autoAdjust="0"/>
  </p:normalViewPr>
  <p:slideViewPr>
    <p:cSldViewPr snapToGrid="0">
      <p:cViewPr varScale="1">
        <p:scale>
          <a:sx n="60" d="100"/>
          <a:sy n="60" d="100"/>
        </p:scale>
        <p:origin x="15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ra Weible" userId="67bcaf2f89c4552e" providerId="LiveId" clId="{E4E19776-AA89-4579-B0CB-50FEF10C4E93}"/>
    <pc:docChg chg="undo custSel addSld delSld modSld">
      <pc:chgData name="Ezra Weible" userId="67bcaf2f89c4552e" providerId="LiveId" clId="{E4E19776-AA89-4579-B0CB-50FEF10C4E93}" dt="2026-03-30T15:33:46.774" v="866" actId="20577"/>
      <pc:docMkLst>
        <pc:docMk/>
      </pc:docMkLst>
      <pc:sldChg chg="del">
        <pc:chgData name="Ezra Weible" userId="67bcaf2f89c4552e" providerId="LiveId" clId="{E4E19776-AA89-4579-B0CB-50FEF10C4E93}" dt="2026-03-30T15:00:19.810" v="1" actId="47"/>
        <pc:sldMkLst>
          <pc:docMk/>
          <pc:sldMk cId="0" sldId="259"/>
        </pc:sldMkLst>
      </pc:sldChg>
      <pc:sldChg chg="modSp mod">
        <pc:chgData name="Ezra Weible" userId="67bcaf2f89c4552e" providerId="LiveId" clId="{E4E19776-AA89-4579-B0CB-50FEF10C4E93}" dt="2026-03-30T15:12:38.830" v="747" actId="313"/>
        <pc:sldMkLst>
          <pc:docMk/>
          <pc:sldMk cId="2031114758" sldId="264"/>
        </pc:sldMkLst>
        <pc:spChg chg="mod">
          <ac:chgData name="Ezra Weible" userId="67bcaf2f89c4552e" providerId="LiveId" clId="{E4E19776-AA89-4579-B0CB-50FEF10C4E93}" dt="2026-03-30T15:12:38.830" v="747" actId="313"/>
          <ac:spMkLst>
            <pc:docMk/>
            <pc:sldMk cId="2031114758" sldId="264"/>
            <ac:spMk id="3" creationId="{395CE210-4720-AB4F-CD87-F7A2064C49EC}"/>
          </ac:spMkLst>
        </pc:spChg>
      </pc:sldChg>
      <pc:sldChg chg="addSp modSp new mod">
        <pc:chgData name="Ezra Weible" userId="67bcaf2f89c4552e" providerId="LiveId" clId="{E4E19776-AA89-4579-B0CB-50FEF10C4E93}" dt="2026-03-30T15:33:46.774" v="866" actId="20577"/>
        <pc:sldMkLst>
          <pc:docMk/>
          <pc:sldMk cId="888993954" sldId="268"/>
        </pc:sldMkLst>
        <pc:spChg chg="mod">
          <ac:chgData name="Ezra Weible" userId="67bcaf2f89c4552e" providerId="LiveId" clId="{E4E19776-AA89-4579-B0CB-50FEF10C4E93}" dt="2026-03-30T15:00:31.461" v="21" actId="20577"/>
          <ac:spMkLst>
            <pc:docMk/>
            <pc:sldMk cId="888993954" sldId="268"/>
            <ac:spMk id="2" creationId="{BBFE902E-0D67-2CB6-914E-B00F14B31A47}"/>
          </ac:spMkLst>
        </pc:spChg>
        <pc:spChg chg="mod">
          <ac:chgData name="Ezra Weible" userId="67bcaf2f89c4552e" providerId="LiveId" clId="{E4E19776-AA89-4579-B0CB-50FEF10C4E93}" dt="2026-03-30T15:08:02.473" v="376" actId="12"/>
          <ac:spMkLst>
            <pc:docMk/>
            <pc:sldMk cId="888993954" sldId="268"/>
            <ac:spMk id="3" creationId="{7CDF675F-404B-0F09-70EB-F798CE3CEC55}"/>
          </ac:spMkLst>
        </pc:spChg>
        <pc:spChg chg="add mod">
          <ac:chgData name="Ezra Weible" userId="67bcaf2f89c4552e" providerId="LiveId" clId="{E4E19776-AA89-4579-B0CB-50FEF10C4E93}" dt="2026-03-30T15:08:37.976" v="391" actId="20577"/>
          <ac:spMkLst>
            <pc:docMk/>
            <pc:sldMk cId="888993954" sldId="268"/>
            <ac:spMk id="4" creationId="{1AC1B729-0183-05D0-28CD-089B160F76B1}"/>
          </ac:spMkLst>
        </pc:spChg>
        <pc:spChg chg="add mod">
          <ac:chgData name="Ezra Weible" userId="67bcaf2f89c4552e" providerId="LiveId" clId="{E4E19776-AA89-4579-B0CB-50FEF10C4E93}" dt="2026-03-30T15:33:46.774" v="866" actId="20577"/>
          <ac:spMkLst>
            <pc:docMk/>
            <pc:sldMk cId="888993954" sldId="268"/>
            <ac:spMk id="5" creationId="{C9C8DACF-29B2-06A6-F49C-071FE633DE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0EFA4-960B-4904-885A-CF0C95618E0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332F0-876C-42EC-A93C-C92102BDE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97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8332F0-876C-42EC-A93C-C92102BDEA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04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8332F0-876C-42EC-A93C-C92102BDEA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01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FFA8A-8C9F-673C-DFAC-76FCF0EC7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4B92C-463B-BFBC-6F3A-6402988AF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330550-A6DA-3956-D42E-5F4E807D2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Power to detect differences in marker-outcome correlations between amyloid+ and amyloid- groups across interaction sizes, amyloid prevalence ratios, and $\alpha$ levels. Lines show the power achieved for a given amyloid+ correlation, with separate panels for each interaction size (difference in correlations) and each amyloid+:amyloid- group ratio (30/70, 40/60, 50/50, 60/40). Power was calculated using two-sample correlation difference tests with N = 175 and adjusted Type I error thresholds ($\alpha$ = 0.05/4, 0.05/6, 0.05/24). The dashed horizontal line marks 80% power. Larger interaction effects and more balanced group ratios yield higher power, while stricter $\alpha$ thresholds require stronger underlying correlations in the amyloid+ group to achieve comparable power. Some differences in correlations never reach 80% power for any measured amyloid+ correlation.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76463-154D-7042-71FF-C0012F815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8332F0-876C-42EC-A93C-C92102BDEA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47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E284-64B5-C5D0-B3E8-564B73702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E5E8C-B0F2-6FFF-B663-5CD4BFCB6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A83D9-3923-6FBF-2132-DF3B625B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AEBB-EB7F-487C-A8ED-8DBAC0E887F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C66B7-5DCF-F354-99F5-75EA9726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5F299-A6EC-872F-DF77-F4CBF6B2D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896A-E317-44C8-9554-53D247653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90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B6D16-20B0-7319-6F13-8ABC50A7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911CC-EF93-806C-60D4-1044A7C97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69CA3-BC5E-8CFF-5BB1-352569EA2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AEBB-EB7F-487C-A8ED-8DBAC0E887F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F8AAD-C092-8241-FCAC-A257BC84D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F29A6-EF3C-B25F-DDF5-10998823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896A-E317-44C8-9554-53D247653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640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4846E-9883-C29B-92B5-5252065B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1D6CD-7DC6-6EFE-70DC-4FBD85180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976F6-7626-FF16-8FAE-5F493D0DC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AEBB-EB7F-487C-A8ED-8DBAC0E887F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003DA-F8FF-10B8-5230-9F43CD8BF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178A4-9DDB-6A2B-2C2C-33E29AB3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896A-E317-44C8-9554-53D247653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8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C06E0-AC4F-2D00-F35A-1D7E1F0E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46523-327E-67A2-7032-1ECB97AFF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BDCC8-6EF1-3C7A-4964-86B33378F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8C719-8DEC-D9F6-961B-25D3A980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AEBB-EB7F-487C-A8ED-8DBAC0E887F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5B53F-FF12-D94D-89AE-D2355F96B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BA882-A2DD-197D-0E2D-2FFAC612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896A-E317-44C8-9554-53D247653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0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1F11-0ADF-C696-603F-FC53DF2E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BC530-81D9-555E-BC6C-443C2E64E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3B3BD-6DB5-A52C-D86A-E9CA6B210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F80B23-6581-F8F8-8680-F99B88D87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A9478-C477-3BD6-61C6-7CB945236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24A826-53E0-91EF-1534-68169DD42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AEBB-EB7F-487C-A8ED-8DBAC0E887F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80B5AC-8FEE-5D43-79EC-0F53CF4E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F3D00E-B4E1-C52C-2309-236330306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896A-E317-44C8-9554-53D247653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83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2AFB-FA74-68B4-1558-2A6920376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5D354-5C3B-5A5D-D408-2DE6E7BD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AEBB-EB7F-487C-A8ED-8DBAC0E887F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B3425-CDA8-45DE-77B7-C609D89E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6C970A-6B22-1C61-C8A0-DA82373E4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896A-E317-44C8-9554-53D247653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0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7C6FF0-32B9-9670-A3DE-4E7110CF2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AEBB-EB7F-487C-A8ED-8DBAC0E887F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F49CF-FE7A-762D-2FA1-2011677C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5CA7A-D98D-427E-F6B4-C8B6F72E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896A-E317-44C8-9554-53D247653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9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34D2-3E61-A062-D0D6-3E4BCF995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1394D-6F94-9FD3-FE5B-607D94A41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AA088-804B-7E89-3D19-11693890C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A1C07-3CA2-EBAC-E839-63E52771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AEBB-EB7F-487C-A8ED-8DBAC0E887F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A2230-91E0-891F-AD24-5C2321A2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9D8A3-04C0-B1E9-CA62-E71B64B4F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896A-E317-44C8-9554-53D247653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41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0F111-FDAD-319E-E960-FD60927F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D7592-443C-9CF6-D6B2-D867FF27D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E907-A511-B6A5-3E12-50584FAF0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F5EC8-DD5D-0A95-83A7-EA790E569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AEBB-EB7F-487C-A8ED-8DBAC0E887F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2D766-52D1-D8A3-EB93-DA0E04E8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A520C-A548-6FF1-8EFD-D111D91C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896A-E317-44C8-9554-53D247653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27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A4C7-4F50-9423-8EA2-A43D5F534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C6F77-B750-8B23-A67E-174249E76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42D16-4826-031B-04A2-0E154D998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AEBB-EB7F-487C-A8ED-8DBAC0E887F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A1258-7FC9-DA63-6F7D-6A053BD1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99362-B7BA-6A6C-9ABD-2DB8686B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896A-E317-44C8-9554-53D247653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46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3B060C-C061-E9CF-1A20-889C2DC5C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11011-8FEA-2AFF-C95C-9B0091DC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A19C9-4B35-D17D-D748-D7368AD6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AEBB-EB7F-487C-A8ED-8DBAC0E887F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3F49-C5CD-E519-C0B0-6BACBDED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8C32-F9B8-AFC4-7F12-CEF8C548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0896A-E317-44C8-9554-53D247653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4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BAF288-A17E-144A-D40C-D80E47E5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BE835-34B0-9AA4-0636-29BD19862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E5F96-C992-004B-B99B-33B633D9E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4AEBB-EB7F-487C-A8ED-8DBAC0E887F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7DB2-676F-AA7A-CF45-9C780740B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D508A-9F91-0102-E875-45ED9A8F7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0896A-E317-44C8-9554-53D247653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43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05CB-D135-24A4-70E2-C769C9D4E3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Alzheimer’s Disease and Aging: </a:t>
            </a:r>
            <a:br>
              <a:rPr lang="en-US" sz="4400" dirty="0"/>
            </a:br>
            <a:r>
              <a:rPr lang="en-US" sz="4400" dirty="0"/>
              <a:t>Aims 1 and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EDFCD-1365-0B50-E2C7-26389D8331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2</a:t>
            </a:r>
          </a:p>
          <a:p>
            <a:r>
              <a:rPr lang="en-US" dirty="0"/>
              <a:t>Ezra Weible</a:t>
            </a:r>
          </a:p>
          <a:p>
            <a:r>
              <a:rPr lang="en-US" dirty="0"/>
              <a:t>30 March 2026</a:t>
            </a:r>
          </a:p>
        </p:txBody>
      </p:sp>
    </p:spTree>
    <p:extLst>
      <p:ext uri="{BB962C8B-B14F-4D97-AF65-F5344CB8AC3E}">
        <p14:creationId xmlns:p14="http://schemas.microsoft.com/office/powerpoint/2010/main" val="172457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E440-A711-DA0A-F27C-3824202A3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1 and Aim 2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CE210-4720-AB4F-CD87-F7A2064C4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Aim 1: Are inflammatory markers (IL-6, TNF-</a:t>
            </a:r>
            <a:r>
              <a:rPr lang="el-GR" dirty="0"/>
              <a:t>α</a:t>
            </a:r>
            <a:r>
              <a:rPr lang="en-US" dirty="0"/>
              <a:t>, MCP-1, Eotaxin-1) associated with 1 year changes in episodic memory and cortical thickness?</a:t>
            </a:r>
          </a:p>
          <a:p>
            <a:pPr lvl="1"/>
            <a:r>
              <a:rPr lang="en-US" dirty="0"/>
              <a:t>Hypothesis 1a: Baseline inflammatory markers</a:t>
            </a:r>
          </a:p>
          <a:p>
            <a:pPr lvl="1"/>
            <a:r>
              <a:rPr lang="en-US" dirty="0"/>
              <a:t>Hypothesis 1b: 1 year change inflammatory markers</a:t>
            </a:r>
          </a:p>
          <a:p>
            <a:pPr lvl="2"/>
            <a:endParaRPr lang="en-US" dirty="0"/>
          </a:p>
          <a:p>
            <a:r>
              <a:rPr lang="en-US" dirty="0"/>
              <a:t>Aim 2: Does amyloid deposition modify these associations?</a:t>
            </a:r>
          </a:p>
          <a:p>
            <a:pPr lvl="1"/>
            <a:r>
              <a:rPr lang="en-US" dirty="0"/>
              <a:t>Primary Hypothesis: Baseline inflammatory markers</a:t>
            </a:r>
          </a:p>
          <a:p>
            <a:pPr lvl="1"/>
            <a:r>
              <a:rPr lang="en-US" dirty="0"/>
              <a:t>Secondary Hypothesis: 1 year change inflammatory markers</a:t>
            </a:r>
          </a:p>
        </p:txBody>
      </p:sp>
    </p:spTree>
    <p:extLst>
      <p:ext uri="{BB962C8B-B14F-4D97-AF65-F5344CB8AC3E}">
        <p14:creationId xmlns:p14="http://schemas.microsoft.com/office/powerpoint/2010/main" val="2031114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902E-0D67-2CB6-914E-B00F14B3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 Plan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F675F-404B-0F09-70EB-F798CE3CEC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4038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Aim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Outcome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Marker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or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1 −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Outcome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Covariates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F675F-404B-0F09-70EB-F798CE3CEC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4038600" cy="4351338"/>
              </a:xfrm>
              <a:blipFill>
                <a:blip r:embed="rId2"/>
                <a:stretch>
                  <a:fillRect l="-3172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AC1B729-0183-05D0-28CD-089B160F76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48141" y="1690688"/>
                <a:ext cx="5505659" cy="274063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Aim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Outcome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Marker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or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1 − </m:t>
                        </m:r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Amyloid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Marker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or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1 − 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Amyloid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Outcome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Covariates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AC1B729-0183-05D0-28CD-089B160F7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141" y="1690688"/>
                <a:ext cx="5505659" cy="2740635"/>
              </a:xfrm>
              <a:prstGeom prst="rect">
                <a:avLst/>
              </a:prstGeom>
              <a:blipFill>
                <a:blip r:embed="rId3"/>
                <a:stretch>
                  <a:fillRect l="-1991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C8DACF-29B2-06A6-F49C-071FE633DEAE}"/>
              </a:ext>
            </a:extLst>
          </p:cNvPr>
          <p:cNvSpPr txBox="1">
            <a:spLocks/>
          </p:cNvSpPr>
          <p:nvPr/>
        </p:nvSpPr>
        <p:spPr>
          <a:xfrm>
            <a:off x="838200" y="4059533"/>
            <a:ext cx="10515600" cy="25824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Covariates will be evaluated as precision variables in an exploratory manner</a:t>
            </a:r>
          </a:p>
          <a:p>
            <a:pPr lvl="1"/>
            <a:r>
              <a:rPr lang="en-US" dirty="0"/>
              <a:t>Age, sex, APOE status added </a:t>
            </a:r>
            <a:r>
              <a:rPr lang="en-US" i="1" dirty="0"/>
              <a:t>a priori</a:t>
            </a:r>
            <a:endParaRPr lang="en-US" dirty="0"/>
          </a:p>
          <a:p>
            <a:r>
              <a:rPr lang="en-US" dirty="0"/>
              <a:t>Missing data will be investigated for bias </a:t>
            </a:r>
          </a:p>
          <a:p>
            <a:r>
              <a:rPr lang="en-US" dirty="0"/>
              <a:t>Type I Error will be controlled as 0.05/4 (markers), 0.05/6 (outcomes), or 0.05/24</a:t>
            </a:r>
          </a:p>
          <a:p>
            <a:pPr lvl="1"/>
            <a:r>
              <a:rPr lang="en-US" dirty="0"/>
              <a:t>More formal adjustments will be explored once empirical correlations are known</a:t>
            </a:r>
          </a:p>
        </p:txBody>
      </p:sp>
    </p:spTree>
    <p:extLst>
      <p:ext uri="{BB962C8B-B14F-4D97-AF65-F5344CB8AC3E}">
        <p14:creationId xmlns:p14="http://schemas.microsoft.com/office/powerpoint/2010/main" val="888993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106DB9-A5FD-9D50-3401-AACA45343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955" y="185128"/>
            <a:ext cx="8493045" cy="64877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113C99-82F6-999D-CD04-7AED19063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94504" cy="1325563"/>
          </a:xfrm>
        </p:spPr>
        <p:txBody>
          <a:bodyPr/>
          <a:lstStyle/>
          <a:p>
            <a:r>
              <a:rPr lang="en-US" dirty="0"/>
              <a:t>Preliminary Data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2DCA6E-B1D1-CC94-CA30-C185F85D16EA}"/>
              </a:ext>
            </a:extLst>
          </p:cNvPr>
          <p:cNvSpPr txBox="1">
            <a:spLocks/>
          </p:cNvSpPr>
          <p:nvPr/>
        </p:nvSpPr>
        <p:spPr>
          <a:xfrm>
            <a:off x="540118" y="1686688"/>
            <a:ext cx="3458857" cy="48021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Preliminary data included two change outcomes and two baseline inflammatory markers</a:t>
            </a:r>
          </a:p>
          <a:p>
            <a:r>
              <a:rPr lang="en-US" dirty="0"/>
              <a:t>Correlations between markers and outcomes ranged from 0.2-0.7</a:t>
            </a:r>
          </a:p>
          <a:p>
            <a:pPr lvl="1"/>
            <a:r>
              <a:rPr lang="en-US" dirty="0"/>
              <a:t>Informed effect size range for power calculations</a:t>
            </a:r>
          </a:p>
        </p:txBody>
      </p:sp>
    </p:spTree>
    <p:extLst>
      <p:ext uri="{BB962C8B-B14F-4D97-AF65-F5344CB8AC3E}">
        <p14:creationId xmlns:p14="http://schemas.microsoft.com/office/powerpoint/2010/main" val="497020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482A7-91E5-F49F-360C-FD7B1E49A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" b="27559"/>
          <a:stretch>
            <a:fillRect/>
          </a:stretch>
        </p:blipFill>
        <p:spPr>
          <a:xfrm>
            <a:off x="1" y="1303145"/>
            <a:ext cx="12192000" cy="55548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467FC7-B7BC-970E-1FA6-9034E8AF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1 Power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0B6ED8A-E67E-B8F5-16BB-5BF975943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936" y="55388"/>
            <a:ext cx="7841064" cy="1557495"/>
          </a:xfrm>
        </p:spPr>
        <p:txBody>
          <a:bodyPr>
            <a:normAutofit/>
          </a:bodyPr>
          <a:lstStyle/>
          <a:p>
            <a:r>
              <a:rPr lang="en-US" dirty="0"/>
              <a:t>Power &gt; 80% for correlations ≥0.30 across all </a:t>
            </a:r>
            <a:r>
              <a:rPr lang="el-GR" dirty="0"/>
              <a:t>α</a:t>
            </a:r>
            <a:r>
              <a:rPr lang="en-US" dirty="0"/>
              <a:t> levels</a:t>
            </a:r>
          </a:p>
          <a:p>
            <a:r>
              <a:rPr lang="en-US" dirty="0"/>
              <a:t>Aim 1 is well-powered for moderate effects</a:t>
            </a:r>
          </a:p>
        </p:txBody>
      </p:sp>
    </p:spTree>
    <p:extLst>
      <p:ext uri="{BB962C8B-B14F-4D97-AF65-F5344CB8AC3E}">
        <p14:creationId xmlns:p14="http://schemas.microsoft.com/office/powerpoint/2010/main" val="3421660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F4236-763C-2615-4ACF-5CA1DC922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A582-4EDA-CAD7-0235-E4DAE2F1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2 Power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515D96-C826-5E85-2960-E79192D77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90"/>
          <a:stretch>
            <a:fillRect/>
          </a:stretch>
        </p:blipFill>
        <p:spPr>
          <a:xfrm>
            <a:off x="6951876" y="753626"/>
            <a:ext cx="5240124" cy="61043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54DB85-F8F9-31F6-50E8-0F253B2B3D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427" y="1617784"/>
            <a:ext cx="3938449" cy="4376056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942B377-B46E-09E1-6419-DD3A3D696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04" y="1428880"/>
            <a:ext cx="2907523" cy="5063995"/>
          </a:xfrm>
        </p:spPr>
        <p:txBody>
          <a:bodyPr>
            <a:normAutofit fontScale="77500" lnSpcReduction="20000"/>
          </a:bodyPr>
          <a:lstStyle/>
          <a:p>
            <a:r>
              <a:rPr lang="en-US" sz="3300" dirty="0"/>
              <a:t>Large interactions (0.50) detectable with moderate amyloid+ correlations</a:t>
            </a:r>
          </a:p>
          <a:p>
            <a:r>
              <a:rPr lang="en-US" sz="3300" dirty="0"/>
              <a:t>Moderate interactions (0.40) require strong correlations</a:t>
            </a:r>
          </a:p>
          <a:p>
            <a:r>
              <a:rPr lang="en-US" sz="3100" dirty="0"/>
              <a:t>Under α = 0.05/24, only very strong effects are detectable</a:t>
            </a:r>
          </a:p>
        </p:txBody>
      </p:sp>
    </p:spTree>
    <p:extLst>
      <p:ext uri="{BB962C8B-B14F-4D97-AF65-F5344CB8AC3E}">
        <p14:creationId xmlns:p14="http://schemas.microsoft.com/office/powerpoint/2010/main" val="2372827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956CC-2C13-4965-99B4-D56696CDF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B33D7-794F-1509-4B5F-030772F08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Interpretation</a:t>
            </a:r>
          </a:p>
          <a:p>
            <a:pPr lvl="1"/>
            <a:r>
              <a:rPr lang="en-US" dirty="0"/>
              <a:t>Aim 1: Powered for moderate associations between inflammatory markers and cognitive decline</a:t>
            </a:r>
          </a:p>
          <a:p>
            <a:pPr lvl="1"/>
            <a:r>
              <a:rPr lang="en-US" dirty="0"/>
              <a:t>Aim 2: Likely detectable only for large interaction effects</a:t>
            </a:r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Known correlations in predictors, covariates, and outcomes</a:t>
            </a:r>
          </a:p>
          <a:p>
            <a:pPr lvl="1"/>
            <a:r>
              <a:rPr lang="en-US" dirty="0"/>
              <a:t>Limited preliminary data</a:t>
            </a:r>
          </a:p>
          <a:p>
            <a:pPr lvl="2"/>
            <a:r>
              <a:rPr lang="en-US" dirty="0"/>
              <a:t>Few known empirical correlations</a:t>
            </a:r>
          </a:p>
          <a:p>
            <a:pPr lvl="2"/>
            <a:r>
              <a:rPr lang="en-US" dirty="0"/>
              <a:t>No preliminary data for amyloid deposition</a:t>
            </a:r>
          </a:p>
          <a:p>
            <a:pPr lvl="1"/>
            <a:r>
              <a:rPr lang="en-US" dirty="0"/>
              <a:t>α thresholds may be too conservative</a:t>
            </a:r>
          </a:p>
          <a:p>
            <a:pPr lvl="2"/>
            <a:r>
              <a:rPr lang="en-US" dirty="0"/>
              <a:t>Formal adjustments will be explored when empirical correlations are known.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210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498</Words>
  <Application>Microsoft Office PowerPoint</Application>
  <PresentationFormat>Widescreen</PresentationFormat>
  <Paragraphs>48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Alzheimer’s Disease and Aging:  Aims 1 and 2</vt:lpstr>
      <vt:lpstr>Aim 1 and Aim 2 Overview</vt:lpstr>
      <vt:lpstr>Data Analysis Plan</vt:lpstr>
      <vt:lpstr>Preliminary Data</vt:lpstr>
      <vt:lpstr>Aim 1 Power</vt:lpstr>
      <vt:lpstr>Aim 2 Power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Weible, Ezra</dc:creator>
  <cp:lastModifiedBy>Weible, Ezra</cp:lastModifiedBy>
  <cp:revision>3</cp:revision>
  <dcterms:created xsi:type="dcterms:W3CDTF">2026-03-02T06:00:18Z</dcterms:created>
  <dcterms:modified xsi:type="dcterms:W3CDTF">2026-03-30T15:33:55Z</dcterms:modified>
</cp:coreProperties>
</file>