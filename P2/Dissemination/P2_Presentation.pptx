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9"/>
  </p:notesMasterIdLst>
  <p:sldIdLst>
    <p:sldId id="256" r:id="rId2"/>
    <p:sldId id="264" r:id="rId3"/>
    <p:sldId id="268" r:id="rId4"/>
    <p:sldId id="265" r:id="rId5"/>
    <p:sldId id="261" r:id="rId6"/>
    <p:sldId id="266" r:id="rId7"/>
    <p:sldId id="267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0C90CA0-1127-4F50-8FD8-9723BDB6A9C7}" v="170" dt="2026-03-30T15:24:56.20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73072" autoAdjust="0"/>
  </p:normalViewPr>
  <p:slideViewPr>
    <p:cSldViewPr snapToGrid="0">
      <p:cViewPr varScale="1">
        <p:scale>
          <a:sx n="60" d="100"/>
          <a:sy n="60" d="100"/>
        </p:scale>
        <p:origin x="1550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microsoft.com/office/2015/10/relationships/revisionInfo" Target="revisionInfo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Ezra Weible" userId="67bcaf2f89c4552e" providerId="LiveId" clId="{E4E19776-AA89-4579-B0CB-50FEF10C4E93}"/>
    <pc:docChg chg="undo custSel addSld delSld modSld">
      <pc:chgData name="Ezra Weible" userId="67bcaf2f89c4552e" providerId="LiveId" clId="{E4E19776-AA89-4579-B0CB-50FEF10C4E93}" dt="2026-03-30T15:13:51.918" v="815" actId="20577"/>
      <pc:docMkLst>
        <pc:docMk/>
      </pc:docMkLst>
      <pc:sldChg chg="del">
        <pc:chgData name="Ezra Weible" userId="67bcaf2f89c4552e" providerId="LiveId" clId="{E4E19776-AA89-4579-B0CB-50FEF10C4E93}" dt="2026-03-30T15:00:19.810" v="1" actId="47"/>
        <pc:sldMkLst>
          <pc:docMk/>
          <pc:sldMk cId="0" sldId="259"/>
        </pc:sldMkLst>
      </pc:sldChg>
      <pc:sldChg chg="modSp mod">
        <pc:chgData name="Ezra Weible" userId="67bcaf2f89c4552e" providerId="LiveId" clId="{E4E19776-AA89-4579-B0CB-50FEF10C4E93}" dt="2026-03-30T15:12:38.830" v="747" actId="313"/>
        <pc:sldMkLst>
          <pc:docMk/>
          <pc:sldMk cId="2031114758" sldId="264"/>
        </pc:sldMkLst>
        <pc:spChg chg="mod">
          <ac:chgData name="Ezra Weible" userId="67bcaf2f89c4552e" providerId="LiveId" clId="{E4E19776-AA89-4579-B0CB-50FEF10C4E93}" dt="2026-03-30T15:12:38.830" v="747" actId="313"/>
          <ac:spMkLst>
            <pc:docMk/>
            <pc:sldMk cId="2031114758" sldId="264"/>
            <ac:spMk id="3" creationId="{395CE210-4720-AB4F-CD87-F7A2064C49EC}"/>
          </ac:spMkLst>
        </pc:spChg>
      </pc:sldChg>
      <pc:sldChg chg="addSp modSp new mod">
        <pc:chgData name="Ezra Weible" userId="67bcaf2f89c4552e" providerId="LiveId" clId="{E4E19776-AA89-4579-B0CB-50FEF10C4E93}" dt="2026-03-30T15:13:51.918" v="815" actId="20577"/>
        <pc:sldMkLst>
          <pc:docMk/>
          <pc:sldMk cId="888993954" sldId="268"/>
        </pc:sldMkLst>
        <pc:spChg chg="mod">
          <ac:chgData name="Ezra Weible" userId="67bcaf2f89c4552e" providerId="LiveId" clId="{E4E19776-AA89-4579-B0CB-50FEF10C4E93}" dt="2026-03-30T15:00:31.461" v="21" actId="20577"/>
          <ac:spMkLst>
            <pc:docMk/>
            <pc:sldMk cId="888993954" sldId="268"/>
            <ac:spMk id="2" creationId="{BBFE902E-0D67-2CB6-914E-B00F14B31A47}"/>
          </ac:spMkLst>
        </pc:spChg>
        <pc:spChg chg="mod">
          <ac:chgData name="Ezra Weible" userId="67bcaf2f89c4552e" providerId="LiveId" clId="{E4E19776-AA89-4579-B0CB-50FEF10C4E93}" dt="2026-03-30T15:08:02.473" v="376" actId="12"/>
          <ac:spMkLst>
            <pc:docMk/>
            <pc:sldMk cId="888993954" sldId="268"/>
            <ac:spMk id="3" creationId="{7CDF675F-404B-0F09-70EB-F798CE3CEC55}"/>
          </ac:spMkLst>
        </pc:spChg>
        <pc:spChg chg="add mod">
          <ac:chgData name="Ezra Weible" userId="67bcaf2f89c4552e" providerId="LiveId" clId="{E4E19776-AA89-4579-B0CB-50FEF10C4E93}" dt="2026-03-30T15:08:37.976" v="391" actId="20577"/>
          <ac:spMkLst>
            <pc:docMk/>
            <pc:sldMk cId="888993954" sldId="268"/>
            <ac:spMk id="4" creationId="{1AC1B729-0183-05D0-28CD-089B160F76B1}"/>
          </ac:spMkLst>
        </pc:spChg>
        <pc:spChg chg="add mod">
          <ac:chgData name="Ezra Weible" userId="67bcaf2f89c4552e" providerId="LiveId" clId="{E4E19776-AA89-4579-B0CB-50FEF10C4E93}" dt="2026-03-30T15:13:51.918" v="815" actId="20577"/>
          <ac:spMkLst>
            <pc:docMk/>
            <pc:sldMk cId="888993954" sldId="268"/>
            <ac:spMk id="5" creationId="{C9C8DACF-29B2-06A6-F49C-071FE633DEAE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3A0EFA4-960B-4904-885A-CF0C95618E09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18332F0-876C-42EC-A93C-C92102BDEA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919745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8332F0-876C-42EC-A93C-C92102BDEA90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110423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8332F0-876C-42EC-A93C-C92102BDEA90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190106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5FFA8A-8C9F-673C-DFAC-76FCF0EC7E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454B92C-463B-BFBC-6F3A-6402988AF46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C330550-A6DA-3956-D42E-5F4E807D2BC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/>
              <a:t>Power to detect differences in marker-outcome correlations between amyloid+ and amyloid- groups across interaction sizes, amyloid prevalence ratios, and $\alpha$ levels. Lines show the power achieved for a given amyloid+ correlation, with separate panels for each interaction size (difference in correlations) and each amyloid+:amyloid- group ratio (30/70, 40/60, 50/50, 60/40). Power was calculated using two-sample correlation difference tests with N = 175 and adjusted Type I error thresholds ($\alpha$ = 0.05/4, 0.05/6, 0.05/24). The dashed horizontal line marks 80% power. Larger interaction effects and more balanced group ratios yield higher power, while stricter $\alpha$ thresholds require stronger underlying correlations in the amyloid+ group to achieve comparable power. Some differences in correlations never reach 80% power for any measured amyloid+ correlation.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776463-154D-7042-71FF-C0012F81575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8332F0-876C-42EC-A93C-C92102BDEA90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374788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AFE284-64B5-C5D0-B3E8-564B73702A9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BCE5E8C-B0F2-6FFF-B663-5CD4BFCB6A8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07A83D9-3923-6FBF-2132-DF3B625BDF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C4AEBB-EB7F-487C-A8ED-8DBAC0E887FE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0CC66B7-5DCF-F354-99F5-75EA972641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975F299-A6EC-872F-DF77-F4CBF6B2D3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80896A-E317-44C8-9554-53D2476537A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87904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CB6D16-20B0-7319-6F13-8ABC50A7C7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6911CC-EF93-806C-60D4-1044A7C970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069CA3-BC5E-8CFF-5BB1-352569EA2C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C4AEBB-EB7F-487C-A8ED-8DBAC0E887FE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6F8AAD-C092-8241-FCAC-A257BC84DD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5F29A6-EF3C-B25F-DDF5-1099882320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80896A-E317-44C8-9554-53D2476537A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86403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64846E-9883-C29B-92B5-5252065B80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D11D6CD-7DC6-6EFE-70DC-4FBD85180FC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10976F6-7626-FF16-8FAE-5F493D0DC9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C4AEBB-EB7F-487C-A8ED-8DBAC0E887FE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C4003DA-F8FF-10B8-5230-9F43CD8BF5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F178A4-9DDB-6A2B-2C2C-33E29AB3DD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80896A-E317-44C8-9554-53D2476537A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028100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2C06E0-AC4F-2D00-F35A-1D7E1F0E82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246523-327E-67A2-7032-1ECB97AFF78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FDBDCC8-6EF1-3C7A-4964-86B33378F45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A48C719-8DEC-D9F6-961B-25D3A98091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C4AEBB-EB7F-487C-A8ED-8DBAC0E887FE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FD5B53F-FF12-D94D-89AE-D2355F96BB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7ABA882-A2DD-197D-0E2D-2FFAC6125B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80896A-E317-44C8-9554-53D2476537A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05028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851F11-0ADF-C696-603F-FC53DF2EB3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FBC530-81D9-555E-BC6C-443C2E64EB1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BD3B3BD-6DB5-A52C-D86A-E9CA6B21063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CF80B23-6581-F8F8-8680-F99B88D8730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9BA9478-C477-3BD6-61C6-7CB94523627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724A826-53E0-91EF-1534-68169DD425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C4AEBB-EB7F-487C-A8ED-8DBAC0E887FE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A80B5AC-8FEE-5D43-79EC-0F53CF4E7C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1F3D00E-B4E1-C52C-2309-2363303061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80896A-E317-44C8-9554-53D2476537A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118314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0E2AFB-FA74-68B4-1558-2A6920376E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1C5D354-5C3B-5A5D-D408-2DE6E7BD1F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C4AEBB-EB7F-487C-A8ED-8DBAC0E887FE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D4B3425-CDA8-45DE-77B7-C609D89E8D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C6C970A-6B22-1C61-C8A0-DA82373E42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80896A-E317-44C8-9554-53D2476537A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90002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07C6FF0-32B9-9670-A3DE-4E7110CF2B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C4AEBB-EB7F-487C-A8ED-8DBAC0E887FE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62F49CF-FE7A-762D-2FA1-2011677CE6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B15CA7A-D98D-427E-F6B4-C8B6F72EB2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80896A-E317-44C8-9554-53D2476537A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04996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5F34D2-3E61-A062-D0D6-3E4BCF9955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71394D-6F94-9FD3-FE5B-607D94A412D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59AA088-804B-7E89-3D19-11693890C03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72A1C07-3CA2-EBAC-E839-63E5277118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C4AEBB-EB7F-487C-A8ED-8DBAC0E887FE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C9A2230-91E0-891F-AD24-5C2321A2D5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CE9D8A3-04C0-B1E9-CA62-E71B64B4FB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80896A-E317-44C8-9554-53D2476537A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274155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40F111-FDAD-319E-E960-FD60927FAB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E1D7592-443C-9CF6-D6B2-D867FF27D56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67DE907-A511-B6A5-3E12-50584FAF06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20F5EC8-DD5D-0A95-83A7-EA790E5694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C4AEBB-EB7F-487C-A8ED-8DBAC0E887FE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732D766-52D1-D8A3-EB93-DA0E04E8F2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FAA520C-A548-6FF1-8EFD-D111D91C99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80896A-E317-44C8-9554-53D2476537A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442704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C5A4C7-4F50-9423-8EA2-A43D5F5345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3DC6F77-B750-8B23-A67E-174249E76B5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642D16-4826-031B-04A2-0E154D9980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C4AEBB-EB7F-487C-A8ED-8DBAC0E887FE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BA1258-7FC9-DA63-6F7D-6A053BD158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F99362-B7BA-6A6C-9ABD-2DB8686B66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80896A-E317-44C8-9554-53D2476537A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974637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A3B060C-C061-E9CF-1A20-889C2DC5CBB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BC11011-8FEA-2AFF-C95C-9B0091DCD20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8A19C9-4B35-D17D-D748-D7368AD66F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C4AEBB-EB7F-487C-A8ED-8DBAC0E887FE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263F49-C5CD-E519-C0B0-6BACBDED1D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F758C32-F9B8-AFC4-7F12-CEF8C54849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80896A-E317-44C8-9554-53D2476537A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45442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4BAF288-A17E-144A-D40C-D80E47E552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67BE835-34B0-9AA4-0636-29BD1986256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43E5F96-C992-004B-B99B-33B633D9EA5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1C4AEBB-EB7F-487C-A8ED-8DBAC0E887FE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077DB2-676F-AA7A-CF45-9C780740BB9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4D508A-9F91-0102-E875-45ED9A8F7DC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F80896A-E317-44C8-9554-53D2476537A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26432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BA05CB-D135-24A4-70E2-C769C9D4E39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Alzheimer’s Disease and Aging: </a:t>
            </a:r>
            <a:br>
              <a:rPr lang="en-US" sz="4400" dirty="0"/>
            </a:br>
            <a:r>
              <a:rPr lang="en-US" sz="4400" dirty="0"/>
              <a:t>Aims 1 and 2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38EDFCD-1365-0B50-E2C7-26389D8331A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Project 2</a:t>
            </a:r>
          </a:p>
          <a:p>
            <a:r>
              <a:rPr lang="en-US" dirty="0"/>
              <a:t>Ezra Weible</a:t>
            </a:r>
          </a:p>
          <a:p>
            <a:r>
              <a:rPr lang="en-US" dirty="0"/>
              <a:t>30 March 2026</a:t>
            </a:r>
          </a:p>
        </p:txBody>
      </p:sp>
    </p:spTree>
    <p:extLst>
      <p:ext uri="{BB962C8B-B14F-4D97-AF65-F5344CB8AC3E}">
        <p14:creationId xmlns:p14="http://schemas.microsoft.com/office/powerpoint/2010/main" val="17245752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8CE440-A711-DA0A-F27C-3824202A30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Aim 1 and Aim 2 Overview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5CE210-4720-AB4F-CD87-F7A2064C49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Aim 1: Are inflammatory markers (IL-6, TNF-</a:t>
            </a:r>
            <a:r>
              <a:rPr lang="el-GR" dirty="0"/>
              <a:t>α</a:t>
            </a:r>
            <a:r>
              <a:rPr lang="en-US" dirty="0"/>
              <a:t>, MCP-1, Eotaxin-1) associated with 1 year changes in episodic memory and cortical thickness?</a:t>
            </a:r>
          </a:p>
          <a:p>
            <a:pPr lvl="1"/>
            <a:r>
              <a:rPr lang="en-US" dirty="0"/>
              <a:t>Hypothesis 1a: Baseline inflammatory markers</a:t>
            </a:r>
          </a:p>
          <a:p>
            <a:pPr lvl="1"/>
            <a:r>
              <a:rPr lang="en-US" dirty="0"/>
              <a:t>Hypothesis 1b: 1 year change inflammatory markers</a:t>
            </a:r>
          </a:p>
          <a:p>
            <a:pPr lvl="2"/>
            <a:endParaRPr lang="en-US" dirty="0"/>
          </a:p>
          <a:p>
            <a:r>
              <a:rPr lang="en-US" dirty="0"/>
              <a:t>Aim 2: Does amyloid deposition modify these associations?</a:t>
            </a:r>
          </a:p>
          <a:p>
            <a:pPr lvl="1"/>
            <a:r>
              <a:rPr lang="en-US" dirty="0"/>
              <a:t>Primary Hypothesis: Baseline inflammatory markers</a:t>
            </a:r>
          </a:p>
          <a:p>
            <a:pPr lvl="1"/>
            <a:r>
              <a:rPr lang="en-US" dirty="0"/>
              <a:t>Secondary Hypothesis: 1 year change inflammatory markers</a:t>
            </a:r>
          </a:p>
        </p:txBody>
      </p:sp>
    </p:spTree>
    <p:extLst>
      <p:ext uri="{BB962C8B-B14F-4D97-AF65-F5344CB8AC3E}">
        <p14:creationId xmlns:p14="http://schemas.microsoft.com/office/powerpoint/2010/main" val="203111475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FE902E-0D67-2CB6-914E-B00F14B31A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Analysis Plan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CDF675F-404B-0F09-70EB-F798CE3CEC5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690688"/>
                <a:ext cx="4038600" cy="4351338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Aim 1: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≠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</m:t>
                    </m:r>
                  </m:oMath>
                </a14:m>
                <a:endParaRPr lang="en-US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Outcome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Y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1-</m:t>
                        </m:r>
                        <m:r>
                          <m:rPr>
                            <m:sty m:val="p"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Y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 =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Marker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Y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1 </m:t>
                        </m:r>
                        <m:r>
                          <m:rPr>
                            <m:sty m:val="p"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or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Y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1 - </m:t>
                        </m:r>
                        <m:r>
                          <m:rPr>
                            <m:sty m:val="p"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Y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 +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Outcome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Y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n</m:t>
                        </m:r>
                      </m:sub>
                    </m:sSub>
                    <m:r>
                      <m:rPr>
                        <m:sty m:val="p"/>
                      </m:rPr>
                      <a:rPr lang="en-US" b="0" i="1" smtClean="0">
                        <a:latin typeface="Cambria Math" panose="02040503050406030204" pitchFamily="18" charset="0"/>
                      </a:rPr>
                      <m:t>Covariates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+ 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𝜀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CDF675F-404B-0F09-70EB-F798CE3CEC5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690688"/>
                <a:ext cx="4038600" cy="4351338"/>
              </a:xfrm>
              <a:blipFill>
                <a:blip r:embed="rId2"/>
                <a:stretch>
                  <a:fillRect l="-3172" t="-23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1AC1B729-0183-05D0-28CD-089B160F76B1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848141" y="1690688"/>
                <a:ext cx="5505659" cy="2740635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 fontScale="92500"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dirty="0"/>
                  <a:t>Aim 2: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≠0</m:t>
                    </m:r>
                  </m:oMath>
                </a14:m>
                <a:endParaRPr lang="en-US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i="1" smtClean="0">
                            <a:latin typeface="Cambria Math" panose="02040503050406030204" pitchFamily="18" charset="0"/>
                          </a:rPr>
                          <m:t>Outcome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i="1" smtClean="0">
                            <a:latin typeface="Cambria Math" panose="02040503050406030204" pitchFamily="18" charset="0"/>
                          </a:rPr>
                          <m:t>Y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1-</m:t>
                        </m:r>
                        <m:r>
                          <m:rPr>
                            <m:sty m:val="p"/>
                          </m:rPr>
                          <a:rPr lang="en-US" i="1" smtClean="0">
                            <a:latin typeface="Cambria Math" panose="02040503050406030204" pitchFamily="18" charset="0"/>
                          </a:rPr>
                          <m:t>Y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i="1" smtClean="0">
                        <a:latin typeface="Cambria Math" panose="02040503050406030204" pitchFamily="18" charset="0"/>
                      </a:rPr>
                      <m:t> = </m:t>
                    </m:r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i="1" smtClean="0">
                            <a:latin typeface="Cambria Math" panose="02040503050406030204" pitchFamily="18" charset="0"/>
                          </a:rPr>
                          <m:t>Marker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i="1" smtClean="0">
                            <a:latin typeface="Cambria Math" panose="02040503050406030204" pitchFamily="18" charset="0"/>
                          </a:rPr>
                          <m:t>Y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1 </m:t>
                        </m:r>
                        <m:r>
                          <m:rPr>
                            <m:sty m:val="p"/>
                          </m:rPr>
                          <a:rPr lang="en-US" i="1" smtClean="0">
                            <a:latin typeface="Cambria Math" panose="02040503050406030204" pitchFamily="18" charset="0"/>
                          </a:rPr>
                          <m:t>or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i="1" smtClean="0">
                            <a:latin typeface="Cambria Math" panose="02040503050406030204" pitchFamily="18" charset="0"/>
                          </a:rPr>
                          <m:t>Y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1 - </m:t>
                        </m:r>
                        <m:r>
                          <m:rPr>
                            <m:sty m:val="p"/>
                          </m:rPr>
                          <a:rPr lang="en-US" i="1" smtClean="0">
                            <a:latin typeface="Cambria Math" panose="02040503050406030204" pitchFamily="18" charset="0"/>
                          </a:rPr>
                          <m:t>Y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i="1" smtClean="0">
                        <a:latin typeface="Cambria Math" panose="02040503050406030204" pitchFamily="18" charset="0"/>
                      </a:rPr>
                      <m:t> +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Amyloid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Y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sub>
                    </m:sSub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Marker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Y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1 </m:t>
                        </m:r>
                        <m:r>
                          <m:rPr>
                            <m:sty m:val="p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or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Y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1 − </m:t>
                        </m:r>
                        <m:r>
                          <m:rPr>
                            <m:sty m:val="p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Y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*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Amyloid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Y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i="1" smtClean="0">
                            <a:latin typeface="Cambria Math" panose="02040503050406030204" pitchFamily="18" charset="0"/>
                          </a:rPr>
                          <m:t>Outcome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i="1" smtClean="0">
                            <a:latin typeface="Cambria Math" panose="02040503050406030204" pitchFamily="18" charset="0"/>
                          </a:rPr>
                          <m:t>Y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i="1" smtClean="0">
                            <a:latin typeface="Cambria Math" panose="02040503050406030204" pitchFamily="18" charset="0"/>
                          </a:rPr>
                          <m:t>n</m:t>
                        </m:r>
                      </m:sub>
                    </m:sSub>
                    <m:r>
                      <m:rPr>
                        <m:sty m:val="p"/>
                      </m:rPr>
                      <a:rPr lang="en-US" i="1" smtClean="0">
                        <a:latin typeface="Cambria Math" panose="02040503050406030204" pitchFamily="18" charset="0"/>
                      </a:rPr>
                      <m:t>Covariates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 + </m:t>
                    </m:r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𝜀</m:t>
                    </m:r>
                  </m:oMath>
                </a14:m>
                <a:endParaRPr lang="en-US" dirty="0"/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dirty="0"/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dirty="0"/>
              </a:p>
            </p:txBody>
          </p:sp>
        </mc:Choice>
        <mc:Fallback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1AC1B729-0183-05D0-28CD-089B160F76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48141" y="1690688"/>
                <a:ext cx="5505659" cy="2740635"/>
              </a:xfrm>
              <a:prstGeom prst="rect">
                <a:avLst/>
              </a:prstGeom>
              <a:blipFill>
                <a:blip r:embed="rId3"/>
                <a:stretch>
                  <a:fillRect l="-1991" t="-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C9C8DACF-29B2-06A6-F49C-071FE633DEAE}"/>
              </a:ext>
            </a:extLst>
          </p:cNvPr>
          <p:cNvSpPr txBox="1">
            <a:spLocks/>
          </p:cNvSpPr>
          <p:nvPr/>
        </p:nvSpPr>
        <p:spPr>
          <a:xfrm>
            <a:off x="838200" y="4059533"/>
            <a:ext cx="10515600" cy="2582427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Covariates will be evaluated as precision variables in an exploratory manner</a:t>
            </a:r>
          </a:p>
          <a:p>
            <a:r>
              <a:rPr lang="en-US" dirty="0"/>
              <a:t>Missing data will be investigated for bias </a:t>
            </a:r>
          </a:p>
          <a:p>
            <a:r>
              <a:rPr lang="en-US" dirty="0"/>
              <a:t>Type I Error will be controlled as 0.05/4 (markers), 0.05/6 (outcomes), or 0.05/24</a:t>
            </a:r>
          </a:p>
          <a:p>
            <a:pPr lvl="1"/>
            <a:r>
              <a:rPr lang="en-US" dirty="0"/>
              <a:t>More formal adjustments will be explored once empirical correlations are known</a:t>
            </a:r>
          </a:p>
        </p:txBody>
      </p:sp>
    </p:spTree>
    <p:extLst>
      <p:ext uri="{BB962C8B-B14F-4D97-AF65-F5344CB8AC3E}">
        <p14:creationId xmlns:p14="http://schemas.microsoft.com/office/powerpoint/2010/main" val="8889939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D8106DB9-A5FD-9D50-3401-AACA45343A5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98955" y="185128"/>
            <a:ext cx="8493045" cy="648774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E113C99-82F6-999D-CD04-7AED19063F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4794504" cy="1325563"/>
          </a:xfrm>
        </p:spPr>
        <p:txBody>
          <a:bodyPr/>
          <a:lstStyle/>
          <a:p>
            <a:r>
              <a:rPr lang="en-US" dirty="0"/>
              <a:t>Preliminary Data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092DCA6E-B1D1-CC94-CA30-C185F85D16EA}"/>
              </a:ext>
            </a:extLst>
          </p:cNvPr>
          <p:cNvSpPr txBox="1">
            <a:spLocks/>
          </p:cNvSpPr>
          <p:nvPr/>
        </p:nvSpPr>
        <p:spPr>
          <a:xfrm>
            <a:off x="540118" y="1686688"/>
            <a:ext cx="3458857" cy="4802187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Preliminary data included two change outcomes and two baseline inflammatory markers</a:t>
            </a:r>
          </a:p>
          <a:p>
            <a:r>
              <a:rPr lang="en-US" dirty="0"/>
              <a:t>Correlations between markers and outcomes ranged from 0.2-0.7</a:t>
            </a:r>
          </a:p>
          <a:p>
            <a:pPr lvl="1"/>
            <a:r>
              <a:rPr lang="en-US" dirty="0"/>
              <a:t>Informed effect size range for power calculations</a:t>
            </a:r>
          </a:p>
        </p:txBody>
      </p:sp>
    </p:spTree>
    <p:extLst>
      <p:ext uri="{BB962C8B-B14F-4D97-AF65-F5344CB8AC3E}">
        <p14:creationId xmlns:p14="http://schemas.microsoft.com/office/powerpoint/2010/main" val="49702087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D76482A7-91E5-F49F-360C-FD7B1E49AFE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49" b="27559"/>
          <a:stretch>
            <a:fillRect/>
          </a:stretch>
        </p:blipFill>
        <p:spPr>
          <a:xfrm>
            <a:off x="1" y="1303145"/>
            <a:ext cx="12192000" cy="555485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F467FC7-B7BC-970E-1FA6-9034E8AF46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Aim 1 Power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E0B6ED8A-E67E-B8F5-16BB-5BF975943A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50936" y="55388"/>
            <a:ext cx="7841064" cy="1557495"/>
          </a:xfrm>
        </p:spPr>
        <p:txBody>
          <a:bodyPr>
            <a:normAutofit/>
          </a:bodyPr>
          <a:lstStyle/>
          <a:p>
            <a:r>
              <a:rPr lang="en-US" dirty="0"/>
              <a:t>Power &gt; 80% for correlations ≥0.30 across all </a:t>
            </a:r>
            <a:r>
              <a:rPr lang="el-GR" dirty="0"/>
              <a:t>α</a:t>
            </a:r>
            <a:r>
              <a:rPr lang="en-US" dirty="0"/>
              <a:t> levels</a:t>
            </a:r>
          </a:p>
          <a:p>
            <a:r>
              <a:rPr lang="en-US" dirty="0"/>
              <a:t>Aim 1 is well-powered for moderate effects</a:t>
            </a:r>
          </a:p>
        </p:txBody>
      </p:sp>
    </p:spTree>
    <p:extLst>
      <p:ext uri="{BB962C8B-B14F-4D97-AF65-F5344CB8AC3E}">
        <p14:creationId xmlns:p14="http://schemas.microsoft.com/office/powerpoint/2010/main" val="342166049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9F4236-763C-2615-4ACF-5CA1DC922D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FDA582-4EDA-CAD7-0235-E4DAE2F1BA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Aim 2 Power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15515D96-C826-5E85-2960-E79192D7757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6190"/>
          <a:stretch>
            <a:fillRect/>
          </a:stretch>
        </p:blipFill>
        <p:spPr>
          <a:xfrm>
            <a:off x="6951876" y="753626"/>
            <a:ext cx="5240124" cy="6104373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5954DB85-F8F9-31F6-50E8-0F253B2B3DF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13427" y="1617784"/>
            <a:ext cx="3938449" cy="4376056"/>
          </a:xfrm>
          <a:prstGeom prst="rect">
            <a:avLst/>
          </a:prstGeom>
        </p:spPr>
      </p:pic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9942B377-B46E-09E1-6419-DD3A3D6964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904" y="1428880"/>
            <a:ext cx="2907523" cy="5063995"/>
          </a:xfrm>
        </p:spPr>
        <p:txBody>
          <a:bodyPr>
            <a:normAutofit fontScale="77500" lnSpcReduction="20000"/>
          </a:bodyPr>
          <a:lstStyle/>
          <a:p>
            <a:r>
              <a:rPr lang="en-US" sz="3300" dirty="0"/>
              <a:t>Large interactions (0.50) detectable with moderate amyloid+ correlations</a:t>
            </a:r>
          </a:p>
          <a:p>
            <a:r>
              <a:rPr lang="en-US" sz="3300" dirty="0"/>
              <a:t>Moderate interactions (0.40) require strong correlations</a:t>
            </a:r>
          </a:p>
          <a:p>
            <a:r>
              <a:rPr lang="en-US" sz="3100" dirty="0"/>
              <a:t>Under α = 0.05/24, only very strong effects are detectable</a:t>
            </a:r>
          </a:p>
        </p:txBody>
      </p:sp>
    </p:spTree>
    <p:extLst>
      <p:ext uri="{BB962C8B-B14F-4D97-AF65-F5344CB8AC3E}">
        <p14:creationId xmlns:p14="http://schemas.microsoft.com/office/powerpoint/2010/main" val="237282733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2956CC-2C13-4965-99B4-D56696CDF0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Discussion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1B33D7-794F-1509-4B5F-030772F08C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Interpretation</a:t>
            </a:r>
          </a:p>
          <a:p>
            <a:pPr lvl="1"/>
            <a:r>
              <a:rPr lang="en-US" dirty="0"/>
              <a:t>Aim 1: Powered for moderate associations between inflammatory markers and cognitive decline</a:t>
            </a:r>
          </a:p>
          <a:p>
            <a:pPr lvl="1"/>
            <a:r>
              <a:rPr lang="en-US" dirty="0"/>
              <a:t>Aim 2: Likely detectable only for large interaction effects</a:t>
            </a:r>
          </a:p>
          <a:p>
            <a:r>
              <a:rPr lang="en-US" dirty="0"/>
              <a:t>Limitations</a:t>
            </a:r>
          </a:p>
          <a:p>
            <a:pPr lvl="1"/>
            <a:r>
              <a:rPr lang="en-US" dirty="0"/>
              <a:t>Known correlations in predictors, covariates, and outcomes</a:t>
            </a:r>
          </a:p>
          <a:p>
            <a:pPr lvl="1"/>
            <a:r>
              <a:rPr lang="en-US" dirty="0"/>
              <a:t>Limited preliminary data</a:t>
            </a:r>
          </a:p>
          <a:p>
            <a:pPr lvl="2"/>
            <a:r>
              <a:rPr lang="en-US" dirty="0"/>
              <a:t>Few known empirical correlations</a:t>
            </a:r>
          </a:p>
          <a:p>
            <a:pPr lvl="2"/>
            <a:r>
              <a:rPr lang="en-US" dirty="0"/>
              <a:t>No preliminary data for amyloid deposition</a:t>
            </a:r>
          </a:p>
          <a:p>
            <a:pPr lvl="1"/>
            <a:r>
              <a:rPr lang="en-US" dirty="0"/>
              <a:t>α thresholds may be too conservative</a:t>
            </a:r>
          </a:p>
          <a:p>
            <a:pPr lvl="2"/>
            <a:r>
              <a:rPr lang="en-US" dirty="0"/>
              <a:t>Formal adjustments will be explored when empirical correlations are known.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9821070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108</TotalTime>
  <Words>489</Words>
  <Application>Microsoft Office PowerPoint</Application>
  <PresentationFormat>Widescreen</PresentationFormat>
  <Paragraphs>47</Paragraphs>
  <Slides>7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Aptos</vt:lpstr>
      <vt:lpstr>Aptos Display</vt:lpstr>
      <vt:lpstr>Arial</vt:lpstr>
      <vt:lpstr>Cambria Math</vt:lpstr>
      <vt:lpstr>Office Theme</vt:lpstr>
      <vt:lpstr>Alzheimer’s Disease and Aging:  Aims 1 and 2</vt:lpstr>
      <vt:lpstr>Aim 1 and Aim 2 Overview</vt:lpstr>
      <vt:lpstr>Data Analysis Plan</vt:lpstr>
      <vt:lpstr>Preliminary Data</vt:lpstr>
      <vt:lpstr>Aim 1 Power</vt:lpstr>
      <vt:lpstr>Aim 2 Power</vt:lpstr>
      <vt:lpstr>Discussion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Weible, Ezra</dc:creator>
  <cp:lastModifiedBy>Weible, Ezra</cp:lastModifiedBy>
  <cp:revision>3</cp:revision>
  <dcterms:created xsi:type="dcterms:W3CDTF">2026-03-02T06:00:18Z</dcterms:created>
  <dcterms:modified xsi:type="dcterms:W3CDTF">2026-03-30T15:25:07Z</dcterms:modified>
</cp:coreProperties>
</file>