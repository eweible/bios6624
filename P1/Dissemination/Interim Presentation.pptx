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725BC-7499-49D0-82A8-4C264E3F6C5A}" v="272" dt="2026-02-17T23:29:36.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8530" autoAdjust="0"/>
  </p:normalViewPr>
  <p:slideViewPr>
    <p:cSldViewPr snapToGrid="0">
      <p:cViewPr varScale="1">
        <p:scale>
          <a:sx n="81" d="100"/>
          <a:sy n="81" d="100"/>
        </p:scale>
        <p:origin x="11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ra Weible" userId="67bcaf2f89c4552e" providerId="LiveId" clId="{E4E19776-AA89-4579-B0CB-50FEF10C4E93}"/>
    <pc:docChg chg="undo custSel modSld">
      <pc:chgData name="Ezra Weible" userId="67bcaf2f89c4552e" providerId="LiveId" clId="{E4E19776-AA89-4579-B0CB-50FEF10C4E93}" dt="2026-02-17T23:29:44.454" v="6423" actId="20577"/>
      <pc:docMkLst>
        <pc:docMk/>
      </pc:docMkLst>
      <pc:sldChg chg="modNotesTx">
        <pc:chgData name="Ezra Weible" userId="67bcaf2f89c4552e" providerId="LiveId" clId="{E4E19776-AA89-4579-B0CB-50FEF10C4E93}" dt="2026-02-17T20:28:54.550" v="6076" actId="20577"/>
        <pc:sldMkLst>
          <pc:docMk/>
          <pc:sldMk cId="1489866180" sldId="256"/>
        </pc:sldMkLst>
      </pc:sldChg>
      <pc:sldChg chg="addSp delSp modSp mod modNotesTx">
        <pc:chgData name="Ezra Weible" userId="67bcaf2f89c4552e" providerId="LiveId" clId="{E4E19776-AA89-4579-B0CB-50FEF10C4E93}" dt="2026-02-17T23:28:46.927" v="6397" actId="20577"/>
        <pc:sldMkLst>
          <pc:docMk/>
          <pc:sldMk cId="3886421937" sldId="257"/>
        </pc:sldMkLst>
        <pc:spChg chg="mod">
          <ac:chgData name="Ezra Weible" userId="67bcaf2f89c4552e" providerId="LiveId" clId="{E4E19776-AA89-4579-B0CB-50FEF10C4E93}" dt="2026-02-17T20:26:02.120" v="6075" actId="20577"/>
          <ac:spMkLst>
            <pc:docMk/>
            <pc:sldMk cId="3886421937" sldId="257"/>
            <ac:spMk id="3" creationId="{3DDEC1C9-F0BB-944E-104A-1C46C5D25AF4}"/>
          </ac:spMkLst>
        </pc:spChg>
        <pc:picChg chg="add del mod">
          <ac:chgData name="Ezra Weible" userId="67bcaf2f89c4552e" providerId="LiveId" clId="{E4E19776-AA89-4579-B0CB-50FEF10C4E93}" dt="2026-02-17T20:14:14.366" v="5756" actId="478"/>
          <ac:picMkLst>
            <pc:docMk/>
            <pc:sldMk cId="3886421937" sldId="257"/>
            <ac:picMk id="5" creationId="{1B7DAEF3-D52A-B7B7-322E-B5A524C16D2B}"/>
          </ac:picMkLst>
        </pc:picChg>
        <pc:picChg chg="add mod">
          <ac:chgData name="Ezra Weible" userId="67bcaf2f89c4552e" providerId="LiveId" clId="{E4E19776-AA89-4579-B0CB-50FEF10C4E93}" dt="2026-02-17T20:20:43.557" v="5793" actId="1076"/>
          <ac:picMkLst>
            <pc:docMk/>
            <pc:sldMk cId="3886421937" sldId="257"/>
            <ac:picMk id="8" creationId="{4B908AD0-3AAB-40FF-B6EA-B08760851026}"/>
          </ac:picMkLst>
        </pc:picChg>
      </pc:sldChg>
      <pc:sldChg chg="addSp delSp modSp mod modNotesTx">
        <pc:chgData name="Ezra Weible" userId="67bcaf2f89c4552e" providerId="LiveId" clId="{E4E19776-AA89-4579-B0CB-50FEF10C4E93}" dt="2026-02-17T23:29:23.964" v="6414" actId="20577"/>
        <pc:sldMkLst>
          <pc:docMk/>
          <pc:sldMk cId="3662945949" sldId="258"/>
        </pc:sldMkLst>
        <pc:spChg chg="mod">
          <ac:chgData name="Ezra Weible" userId="67bcaf2f89c4552e" providerId="LiveId" clId="{E4E19776-AA89-4579-B0CB-50FEF10C4E93}" dt="2026-02-17T19:59:12.233" v="5717" actId="1076"/>
          <ac:spMkLst>
            <pc:docMk/>
            <pc:sldMk cId="3662945949" sldId="258"/>
            <ac:spMk id="2" creationId="{B2944C85-5A76-96FD-50F8-486CF4A0FFFA}"/>
          </ac:spMkLst>
        </pc:spChg>
        <pc:spChg chg="add mod">
          <ac:chgData name="Ezra Weible" userId="67bcaf2f89c4552e" providerId="LiveId" clId="{E4E19776-AA89-4579-B0CB-50FEF10C4E93}" dt="2026-02-17T23:16:23.649" v="6107" actId="1076"/>
          <ac:spMkLst>
            <pc:docMk/>
            <pc:sldMk cId="3662945949" sldId="258"/>
            <ac:spMk id="10" creationId="{278B4911-AAF2-73BA-87E9-8638E6A10DB3}"/>
          </ac:spMkLst>
        </pc:spChg>
        <pc:spChg chg="add mod ord">
          <ac:chgData name="Ezra Weible" userId="67bcaf2f89c4552e" providerId="LiveId" clId="{E4E19776-AA89-4579-B0CB-50FEF10C4E93}" dt="2026-02-17T20:22:16.510" v="5884" actId="113"/>
          <ac:spMkLst>
            <pc:docMk/>
            <pc:sldMk cId="3662945949" sldId="258"/>
            <ac:spMk id="20" creationId="{EAB8A822-D31F-B0D8-A93B-8FA4DA1E44A5}"/>
          </ac:spMkLst>
        </pc:spChg>
        <pc:spChg chg="add mod">
          <ac:chgData name="Ezra Weible" userId="67bcaf2f89c4552e" providerId="LiveId" clId="{E4E19776-AA89-4579-B0CB-50FEF10C4E93}" dt="2026-02-17T23:16:11.116" v="6103" actId="14100"/>
          <ac:spMkLst>
            <pc:docMk/>
            <pc:sldMk cId="3662945949" sldId="258"/>
            <ac:spMk id="21" creationId="{CCA07D77-2269-D274-738F-B2444736DC13}"/>
          </ac:spMkLst>
        </pc:spChg>
        <pc:picChg chg="add mod">
          <ac:chgData name="Ezra Weible" userId="67bcaf2f89c4552e" providerId="LiveId" clId="{E4E19776-AA89-4579-B0CB-50FEF10C4E93}" dt="2026-02-17T19:58:52.272" v="5710" actId="1076"/>
          <ac:picMkLst>
            <pc:docMk/>
            <pc:sldMk cId="3662945949" sldId="258"/>
            <ac:picMk id="4" creationId="{36C99FA2-AA1A-1222-EE9C-76ACA2259E4D}"/>
          </ac:picMkLst>
        </pc:picChg>
        <pc:picChg chg="add del mod">
          <ac:chgData name="Ezra Weible" userId="67bcaf2f89c4552e" providerId="LiveId" clId="{E4E19776-AA89-4579-B0CB-50FEF10C4E93}" dt="2026-02-17T22:21:18.901" v="6087" actId="478"/>
          <ac:picMkLst>
            <pc:docMk/>
            <pc:sldMk cId="3662945949" sldId="258"/>
            <ac:picMk id="6" creationId="{3698F797-99D5-55AE-64B7-C8D9D554F3D1}"/>
          </ac:picMkLst>
        </pc:picChg>
        <pc:picChg chg="add del mod">
          <ac:chgData name="Ezra Weible" userId="67bcaf2f89c4552e" providerId="LiveId" clId="{E4E19776-AA89-4579-B0CB-50FEF10C4E93}" dt="2026-02-17T20:20:34.285" v="5788" actId="21"/>
          <ac:picMkLst>
            <pc:docMk/>
            <pc:sldMk cId="3662945949" sldId="258"/>
            <ac:picMk id="8" creationId="{4B908AD0-3AAB-40FF-B6EA-B08760851026}"/>
          </ac:picMkLst>
        </pc:picChg>
        <pc:picChg chg="add del mod ord">
          <ac:chgData name="Ezra Weible" userId="67bcaf2f89c4552e" providerId="LiveId" clId="{E4E19776-AA89-4579-B0CB-50FEF10C4E93}" dt="2026-02-17T19:57:14.643" v="5681" actId="478"/>
          <ac:picMkLst>
            <pc:docMk/>
            <pc:sldMk cId="3662945949" sldId="258"/>
            <ac:picMk id="11" creationId="{B2BF5342-131E-EB3E-3169-6DD82DFDCDE9}"/>
          </ac:picMkLst>
        </pc:picChg>
        <pc:picChg chg="add del mod">
          <ac:chgData name="Ezra Weible" userId="67bcaf2f89c4552e" providerId="LiveId" clId="{E4E19776-AA89-4579-B0CB-50FEF10C4E93}" dt="2026-02-17T19:57:20.475" v="5684" actId="478"/>
          <ac:picMkLst>
            <pc:docMk/>
            <pc:sldMk cId="3662945949" sldId="258"/>
            <ac:picMk id="13" creationId="{A724020F-087C-E959-22EB-02FDD6174327}"/>
          </ac:picMkLst>
        </pc:picChg>
        <pc:picChg chg="add mod ord">
          <ac:chgData name="Ezra Weible" userId="67bcaf2f89c4552e" providerId="LiveId" clId="{E4E19776-AA89-4579-B0CB-50FEF10C4E93}" dt="2026-02-17T23:15:49.876" v="6097" actId="167"/>
          <ac:picMkLst>
            <pc:docMk/>
            <pc:sldMk cId="3662945949" sldId="258"/>
            <ac:picMk id="17" creationId="{EAC0159E-8D1F-4D51-A052-DB93628CE193}"/>
          </ac:picMkLst>
        </pc:picChg>
        <pc:picChg chg="add del mod">
          <ac:chgData name="Ezra Weible" userId="67bcaf2f89c4552e" providerId="LiveId" clId="{E4E19776-AA89-4579-B0CB-50FEF10C4E93}" dt="2026-02-17T19:57:28.033" v="5688" actId="478"/>
          <ac:picMkLst>
            <pc:docMk/>
            <pc:sldMk cId="3662945949" sldId="258"/>
            <ac:picMk id="19" creationId="{C2ED6D3E-DFC8-1B6E-88DE-AB334EF38F03}"/>
          </ac:picMkLst>
        </pc:picChg>
        <pc:cxnChg chg="add mod">
          <ac:chgData name="Ezra Weible" userId="67bcaf2f89c4552e" providerId="LiveId" clId="{E4E19776-AA89-4579-B0CB-50FEF10C4E93}" dt="2026-02-17T23:15:55.492" v="6099" actId="1076"/>
          <ac:cxnSpMkLst>
            <pc:docMk/>
            <pc:sldMk cId="3662945949" sldId="258"/>
            <ac:cxnSpMk id="14" creationId="{FDFA17A8-8C28-A290-AA5A-52FF2677DB26}"/>
          </ac:cxnSpMkLst>
        </pc:cxnChg>
      </pc:sldChg>
      <pc:sldChg chg="delSp modSp mod modNotesTx">
        <pc:chgData name="Ezra Weible" userId="67bcaf2f89c4552e" providerId="LiveId" clId="{E4E19776-AA89-4579-B0CB-50FEF10C4E93}" dt="2026-02-17T23:29:44.454" v="6423" actId="20577"/>
        <pc:sldMkLst>
          <pc:docMk/>
          <pc:sldMk cId="1644962775" sldId="259"/>
        </pc:sldMkLst>
        <pc:spChg chg="mod">
          <ac:chgData name="Ezra Weible" userId="67bcaf2f89c4552e" providerId="LiveId" clId="{E4E19776-AA89-4579-B0CB-50FEF10C4E93}" dt="2026-02-17T23:16:39.481" v="6108" actId="14100"/>
          <ac:spMkLst>
            <pc:docMk/>
            <pc:sldMk cId="1644962775" sldId="259"/>
            <ac:spMk id="3" creationId="{10DEFC7C-B8E2-9815-0785-07C41A83F29F}"/>
          </ac:spMkLst>
        </pc:spChg>
        <pc:spChg chg="mod">
          <ac:chgData name="Ezra Weible" userId="67bcaf2f89c4552e" providerId="LiveId" clId="{E4E19776-AA89-4579-B0CB-50FEF10C4E93}" dt="2026-02-17T20:36:29.733" v="6086" actId="20577"/>
          <ac:spMkLst>
            <pc:docMk/>
            <pc:sldMk cId="1644962775" sldId="259"/>
            <ac:spMk id="4" creationId="{3A0B9CA7-7627-123E-63F2-85DB6FE33D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7409C4-0A53-4704-96BE-B691B3C0F1E4}"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2BE1A-52B3-4E0A-AE6E-FEFEFB71A999}" type="slidenum">
              <a:rPr lang="en-US" smtClean="0"/>
              <a:t>‹#›</a:t>
            </a:fld>
            <a:endParaRPr lang="en-US"/>
          </a:p>
        </p:txBody>
      </p:sp>
    </p:spTree>
    <p:extLst>
      <p:ext uri="{BB962C8B-B14F-4D97-AF65-F5344CB8AC3E}">
        <p14:creationId xmlns:p14="http://schemas.microsoft.com/office/powerpoint/2010/main" val="34735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D2BE1A-52B3-4E0A-AE6E-FEFEFB71A999}" type="slidenum">
              <a:rPr lang="en-US" smtClean="0"/>
              <a:t>1</a:t>
            </a:fld>
            <a:endParaRPr lang="en-US"/>
          </a:p>
        </p:txBody>
      </p:sp>
    </p:spTree>
    <p:extLst>
      <p:ext uri="{BB962C8B-B14F-4D97-AF65-F5344CB8AC3E}">
        <p14:creationId xmlns:p14="http://schemas.microsoft.com/office/powerpoint/2010/main" val="255109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a:p>
            <a:pPr marL="171450" indent="-171450">
              <a:buFontTx/>
              <a:buChar char="-"/>
            </a:pPr>
            <a:r>
              <a:rPr lang="en-US" dirty="0"/>
              <a:t>Here I’m looking at whether baseline hard drug use affects how well people respond to HAART two years later.</a:t>
            </a:r>
          </a:p>
          <a:p>
            <a:pPr marL="171450" indent="-171450">
              <a:buFontTx/>
              <a:buChar char="-"/>
            </a:pPr>
            <a:r>
              <a:rPr lang="en-US" dirty="0"/>
              <a:t>The outcomes I’m focusing on are viral load on the log10 scale, CD4 count, and physical and mental quality‑of‑life scores. Hard drug use at baseline is the main predictor, and I’m adjusting for baseline outcome values plus age, BMI, smoking, education, and race/ethnicity.</a:t>
            </a:r>
          </a:p>
          <a:p>
            <a:pPr marL="171450" indent="-171450">
              <a:buFontTx/>
              <a:buChar char="-"/>
            </a:pPr>
            <a:r>
              <a:rPr lang="en-US" dirty="0"/>
              <a:t>The null hypothesis is that there’s no difference in year‑2 outcomes between baseline hard‑drug users and non‑users. I’m also keeping in mind what counts as a clinically meaningful difference: half a log10 for viral load, 50 CD4 cells, and 2 points on the QoL scales.</a:t>
            </a:r>
          </a:p>
          <a:p>
            <a:pPr marL="171450" indent="-171450">
              <a:buFontTx/>
              <a:buChar char="-"/>
            </a:pPr>
            <a:r>
              <a:rPr lang="en-US" dirty="0"/>
              <a:t>Figure 1 shows the distributions of the year‑2 outcomes, validating the log10 transformation of viral load</a:t>
            </a:r>
          </a:p>
        </p:txBody>
      </p:sp>
      <p:sp>
        <p:nvSpPr>
          <p:cNvPr id="4" name="Slide Number Placeholder 3"/>
          <p:cNvSpPr>
            <a:spLocks noGrp="1"/>
          </p:cNvSpPr>
          <p:nvPr>
            <p:ph type="sldNum" sz="quarter" idx="5"/>
          </p:nvPr>
        </p:nvSpPr>
        <p:spPr/>
        <p:txBody>
          <a:bodyPr/>
          <a:lstStyle/>
          <a:p>
            <a:fld id="{4DD2BE1A-52B3-4E0A-AE6E-FEFEFB71A999}" type="slidenum">
              <a:rPr lang="en-US" smtClean="0"/>
              <a:t>2</a:t>
            </a:fld>
            <a:endParaRPr lang="en-US"/>
          </a:p>
        </p:txBody>
      </p:sp>
    </p:spTree>
    <p:extLst>
      <p:ext uri="{BB962C8B-B14F-4D97-AF65-F5344CB8AC3E}">
        <p14:creationId xmlns:p14="http://schemas.microsoft.com/office/powerpoint/2010/main" val="1532915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dataset includes 476 participants who had complete baseline and year‑2 measurements and reported baseline hard drug use.</a:t>
            </a:r>
          </a:p>
          <a:p>
            <a:pPr marL="171450" indent="-171450">
              <a:buFontTx/>
              <a:buChar char="-"/>
            </a:pPr>
            <a:r>
              <a:rPr lang="en-US" dirty="0"/>
              <a:t>A few data issues needed attention: some BMI values were miscoded or implausible, and several categorical variables had very small categories, so I collapsed smoking, education, and race into two groups each.</a:t>
            </a:r>
          </a:p>
          <a:p>
            <a:pPr marL="171450" indent="-171450">
              <a:buFontTx/>
              <a:buChar char="-"/>
            </a:pPr>
            <a:r>
              <a:rPr lang="en-US" dirty="0"/>
              <a:t>Baseline characteristics by drug‑use group are summarized in Tables 1 and 2. Viral load is analyzed on the log10 scale, and we’re using complete‑case analysis for each outcome.</a:t>
            </a:r>
          </a:p>
        </p:txBody>
      </p:sp>
      <p:sp>
        <p:nvSpPr>
          <p:cNvPr id="4" name="Slide Number Placeholder 3"/>
          <p:cNvSpPr>
            <a:spLocks noGrp="1"/>
          </p:cNvSpPr>
          <p:nvPr>
            <p:ph type="sldNum" sz="quarter" idx="5"/>
          </p:nvPr>
        </p:nvSpPr>
        <p:spPr/>
        <p:txBody>
          <a:bodyPr/>
          <a:lstStyle/>
          <a:p>
            <a:fld id="{4DD2BE1A-52B3-4E0A-AE6E-FEFEFB71A999}" type="slidenum">
              <a:rPr lang="en-US" smtClean="0"/>
              <a:t>3</a:t>
            </a:fld>
            <a:endParaRPr lang="en-US"/>
          </a:p>
        </p:txBody>
      </p:sp>
    </p:spTree>
    <p:extLst>
      <p:ext uri="{BB962C8B-B14F-4D97-AF65-F5344CB8AC3E}">
        <p14:creationId xmlns:p14="http://schemas.microsoft.com/office/powerpoint/2010/main" val="2555879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For each year‑2 outcome, I’m fitting a linear regression model with baseline hard drug use as the main predictor, adjusting for baseline outcome and the covariates I mentioned earlier. The key test is the coefficient for hard drug use.</a:t>
            </a:r>
          </a:p>
          <a:p>
            <a:pPr marL="171450" indent="-171450">
              <a:buFontTx/>
              <a:buChar char="-"/>
            </a:pPr>
            <a:r>
              <a:rPr lang="en-US" dirty="0"/>
              <a:t>I’ll also explore whether year‑2 adherence might mediate the relationship by comparing models with and without adherence.</a:t>
            </a:r>
          </a:p>
          <a:p>
            <a:pPr marL="171450" indent="-171450">
              <a:buFontTx/>
              <a:buChar char="-"/>
            </a:pPr>
            <a:r>
              <a:rPr lang="en-US"/>
              <a:t>On </a:t>
            </a:r>
            <a:r>
              <a:rPr lang="en-US" dirty="0"/>
              <a:t>the Bayesian side, I’m fitting the same models in STAN using weakly informative priors and checking convergence with R‑hat, ESS, and LOO‑</a:t>
            </a:r>
            <a:r>
              <a:rPr lang="en-US"/>
              <a:t>CV.</a:t>
            </a:r>
          </a:p>
          <a:p>
            <a:pPr marL="171450" indent="-171450">
              <a:buFontTx/>
              <a:buChar char="-"/>
            </a:pPr>
            <a:r>
              <a:rPr lang="en-US"/>
              <a:t>Finally</a:t>
            </a:r>
            <a:r>
              <a:rPr lang="en-US" dirty="0"/>
              <a:t>, I’ll interpret the results in terms of the clinically meaningful thresholds for each outcome.</a:t>
            </a:r>
          </a:p>
        </p:txBody>
      </p:sp>
      <p:sp>
        <p:nvSpPr>
          <p:cNvPr id="4" name="Slide Number Placeholder 3"/>
          <p:cNvSpPr>
            <a:spLocks noGrp="1"/>
          </p:cNvSpPr>
          <p:nvPr>
            <p:ph type="sldNum" sz="quarter" idx="5"/>
          </p:nvPr>
        </p:nvSpPr>
        <p:spPr/>
        <p:txBody>
          <a:bodyPr/>
          <a:lstStyle/>
          <a:p>
            <a:fld id="{4DD2BE1A-52B3-4E0A-AE6E-FEFEFB71A999}" type="slidenum">
              <a:rPr lang="en-US" smtClean="0"/>
              <a:t>4</a:t>
            </a:fld>
            <a:endParaRPr lang="en-US"/>
          </a:p>
        </p:txBody>
      </p:sp>
    </p:spTree>
    <p:extLst>
      <p:ext uri="{BB962C8B-B14F-4D97-AF65-F5344CB8AC3E}">
        <p14:creationId xmlns:p14="http://schemas.microsoft.com/office/powerpoint/2010/main" val="3779724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44413-64B6-31B8-AE5F-B9C62D92E1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F82AE6-F71F-85B9-DFCD-C2F2418344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4E1D1B-6EFE-6052-7C83-5C44BF27803F}"/>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AD35A4B3-B063-28D7-2DFB-2FEBE9F12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BBC08-CF88-587A-72CE-4E0D13ED5332}"/>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3419168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3F13-7059-5242-06D2-0E37AF8BF6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9917C0-524B-7878-79A0-A3AF3830D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42E79-ECA6-C134-701E-AE24B0F49980}"/>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99FCB27F-AF32-CAEA-E2C6-D0DF6CE7C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BE33C-9905-DA48-A18B-AEE3F46DD6F3}"/>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3201360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44D8-584E-D9A4-44F7-345502A9E2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879835-87B8-6886-ACBD-0CBFF79FE7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0FFEED-7897-E556-F59C-CD2A698375AD}"/>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554C91EC-E654-89F5-1FE0-6D979527CC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3E877-21F5-FA96-0011-C063F3DA9E5D}"/>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3120011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421A-A454-6547-3D2F-7360DA1388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8FBCC1-CD42-ADAA-EA20-922E0AEA3F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C57315-E2A7-B538-63D3-7366ED7FB6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F9EA59-F473-5BDB-7B25-0D3BFCD3803B}"/>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6" name="Footer Placeholder 5">
            <a:extLst>
              <a:ext uri="{FF2B5EF4-FFF2-40B4-BE49-F238E27FC236}">
                <a16:creationId xmlns:a16="http://schemas.microsoft.com/office/drawing/2014/main" id="{09BD126A-AB23-DF03-414F-E96217839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CBB2C-DB27-DCE2-2ED7-C7792344B872}"/>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657286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EEE5-46BB-9514-10C6-A84C2532C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FEB996-6E89-1D99-8795-70AFE02E50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89614D-AD63-0EC3-8C21-B95E6B4AC4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D36C0A-65DE-A094-BD44-A89836655A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BCABE7-CEEA-E344-D246-741854D2FD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CF58D4-5FF9-CC17-992C-B1F469923023}"/>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8" name="Footer Placeholder 7">
            <a:extLst>
              <a:ext uri="{FF2B5EF4-FFF2-40B4-BE49-F238E27FC236}">
                <a16:creationId xmlns:a16="http://schemas.microsoft.com/office/drawing/2014/main" id="{64D04B26-5E39-BCEA-BBAC-D9A468D268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03359C-9750-A626-3603-6A4E20998C22}"/>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4252647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62137-B407-A7B0-73FA-DF10CD6166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3DA745-DC16-6C68-A4C3-3CD8D56898F9}"/>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4" name="Footer Placeholder 3">
            <a:extLst>
              <a:ext uri="{FF2B5EF4-FFF2-40B4-BE49-F238E27FC236}">
                <a16:creationId xmlns:a16="http://schemas.microsoft.com/office/drawing/2014/main" id="{885DB9E2-F69B-20B1-5459-B7FE5810E3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F886C6-062F-7C84-6656-029070EE2B41}"/>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202603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43691C-9D1F-37E3-8D1E-A0DF310882DB}"/>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3" name="Footer Placeholder 2">
            <a:extLst>
              <a:ext uri="{FF2B5EF4-FFF2-40B4-BE49-F238E27FC236}">
                <a16:creationId xmlns:a16="http://schemas.microsoft.com/office/drawing/2014/main" id="{30372E8E-EB40-B0CC-238D-2DC6FDAFA9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05A460-90E3-7E73-AF58-34AF5B5688D7}"/>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34361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6E0E-203D-E6EA-3DC3-5420BF1836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D72BB3-0E81-C1F9-E7DC-9CA874FFC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A6BC9D-6D5C-50C4-702E-79082DF06E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12A60B-7EBE-18C2-53A2-5605F5C71DAA}"/>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6" name="Footer Placeholder 5">
            <a:extLst>
              <a:ext uri="{FF2B5EF4-FFF2-40B4-BE49-F238E27FC236}">
                <a16:creationId xmlns:a16="http://schemas.microsoft.com/office/drawing/2014/main" id="{69B61824-74FF-5110-6953-5026374E96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D5BFE2-6E87-23E7-862B-A7492E239002}"/>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1641009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88B50-4F67-40DB-D0F9-B6816D14D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D0DFC2-412A-58CD-6D14-859244950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E17F65-890A-5DFB-BC5A-E28EA07569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01E1F1-8B6A-EC35-322D-CB8E139CCBE6}"/>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6" name="Footer Placeholder 5">
            <a:extLst>
              <a:ext uri="{FF2B5EF4-FFF2-40B4-BE49-F238E27FC236}">
                <a16:creationId xmlns:a16="http://schemas.microsoft.com/office/drawing/2014/main" id="{1A348BEB-C1AB-6CEC-5F33-81763794E2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9ABE9-F4A6-EDF3-FA18-5E7097322590}"/>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35849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26FFA-B4D1-72EC-C555-99DD64A29F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90319A-CDFE-EFE1-08AB-070160FA3E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C80201-5885-404E-7024-58B5D10B0BE9}"/>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1CD594BF-CA77-7B6A-270E-B42F4292A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89B689-1A72-72D1-79F8-714FE06DF35F}"/>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1354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80FA-9F41-6FF4-3DA0-85375DC04A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39232C-63D9-EB05-3E81-E2315FE14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3EA60-F9D8-9089-91FC-475CDD336E47}"/>
              </a:ext>
            </a:extLst>
          </p:cNvPr>
          <p:cNvSpPr>
            <a:spLocks noGrp="1"/>
          </p:cNvSpPr>
          <p:nvPr>
            <p:ph type="dt" sz="half" idx="10"/>
          </p:nvPr>
        </p:nvSpPr>
        <p:spPr/>
        <p:txBody>
          <a:body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3C0EB345-8B83-D77A-ECEC-B325F5CFE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568EA-54FE-9C5D-C3F6-5117ED808667}"/>
              </a:ext>
            </a:extLst>
          </p:cNvPr>
          <p:cNvSpPr>
            <a:spLocks noGrp="1"/>
          </p:cNvSpPr>
          <p:nvPr>
            <p:ph type="sldNum" sz="quarter" idx="12"/>
          </p:nvPr>
        </p:nvSpPr>
        <p:spPr/>
        <p:txBody>
          <a:bodyPr/>
          <a:lstStyle/>
          <a:p>
            <a:fld id="{6978A778-60D7-46EF-B10B-9C3C0C0AFE00}" type="slidenum">
              <a:rPr lang="en-US" smtClean="0"/>
              <a:t>‹#›</a:t>
            </a:fld>
            <a:endParaRPr lang="en-US"/>
          </a:p>
        </p:txBody>
      </p:sp>
    </p:spTree>
    <p:extLst>
      <p:ext uri="{BB962C8B-B14F-4D97-AF65-F5344CB8AC3E}">
        <p14:creationId xmlns:p14="http://schemas.microsoft.com/office/powerpoint/2010/main" val="1189608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E6E47-B7E1-59B7-AD66-454E97E73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2E2313-044D-DC8A-204E-612E0EA45D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222163-FCBC-2B57-F4DE-F4EBD1E4FF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8109F9-684E-4DEA-AE0F-481DBE7BA6B5}" type="datetimeFigureOut">
              <a:rPr lang="en-US" smtClean="0"/>
              <a:t>2/17/2026</a:t>
            </a:fld>
            <a:endParaRPr lang="en-US"/>
          </a:p>
        </p:txBody>
      </p:sp>
      <p:sp>
        <p:nvSpPr>
          <p:cNvPr id="5" name="Footer Placeholder 4">
            <a:extLst>
              <a:ext uri="{FF2B5EF4-FFF2-40B4-BE49-F238E27FC236}">
                <a16:creationId xmlns:a16="http://schemas.microsoft.com/office/drawing/2014/main" id="{E65A461C-B2D9-066B-034C-E32F50F9E4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78F756-0052-E5A8-2A8D-DE24B5808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78A778-60D7-46EF-B10B-9C3C0C0AFE00}" type="slidenum">
              <a:rPr lang="en-US" smtClean="0"/>
              <a:t>‹#›</a:t>
            </a:fld>
            <a:endParaRPr lang="en-US"/>
          </a:p>
        </p:txBody>
      </p:sp>
    </p:spTree>
    <p:extLst>
      <p:ext uri="{BB962C8B-B14F-4D97-AF65-F5344CB8AC3E}">
        <p14:creationId xmlns:p14="http://schemas.microsoft.com/office/powerpoint/2010/main" val="1120730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3FFB-1D4F-1265-9711-9E6F53323C6A}"/>
              </a:ext>
            </a:extLst>
          </p:cNvPr>
          <p:cNvSpPr>
            <a:spLocks noGrp="1"/>
          </p:cNvSpPr>
          <p:nvPr>
            <p:ph type="ctrTitle"/>
          </p:nvPr>
        </p:nvSpPr>
        <p:spPr/>
        <p:txBody>
          <a:bodyPr/>
          <a:lstStyle/>
          <a:p>
            <a:r>
              <a:rPr lang="en-US" dirty="0"/>
              <a:t>Interim Presentation</a:t>
            </a:r>
          </a:p>
        </p:txBody>
      </p:sp>
      <p:sp>
        <p:nvSpPr>
          <p:cNvPr id="3" name="Subtitle 2">
            <a:extLst>
              <a:ext uri="{FF2B5EF4-FFF2-40B4-BE49-F238E27FC236}">
                <a16:creationId xmlns:a16="http://schemas.microsoft.com/office/drawing/2014/main" id="{7B581EB7-3AA0-EF71-BDF5-06D464590547}"/>
              </a:ext>
            </a:extLst>
          </p:cNvPr>
          <p:cNvSpPr>
            <a:spLocks noGrp="1"/>
          </p:cNvSpPr>
          <p:nvPr>
            <p:ph type="subTitle" idx="1"/>
          </p:nvPr>
        </p:nvSpPr>
        <p:spPr/>
        <p:txBody>
          <a:bodyPr/>
          <a:lstStyle/>
          <a:p>
            <a:r>
              <a:rPr lang="en-US" dirty="0"/>
              <a:t>Project 1</a:t>
            </a:r>
          </a:p>
          <a:p>
            <a:r>
              <a:rPr lang="en-US" dirty="0"/>
              <a:t>Ezra Weible</a:t>
            </a:r>
          </a:p>
          <a:p>
            <a:r>
              <a:rPr lang="en-US" dirty="0"/>
              <a:t>18 February 2026</a:t>
            </a:r>
          </a:p>
        </p:txBody>
      </p:sp>
    </p:spTree>
    <p:extLst>
      <p:ext uri="{BB962C8B-B14F-4D97-AF65-F5344CB8AC3E}">
        <p14:creationId xmlns:p14="http://schemas.microsoft.com/office/powerpoint/2010/main" val="1489866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FA23-D7FB-336E-27D3-D22A653A0920}"/>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3DDEC1C9-F0BB-944E-104A-1C46C5D25AF4}"/>
              </a:ext>
            </a:extLst>
          </p:cNvPr>
          <p:cNvSpPr>
            <a:spLocks noGrp="1"/>
          </p:cNvSpPr>
          <p:nvPr>
            <p:ph idx="1"/>
          </p:nvPr>
        </p:nvSpPr>
        <p:spPr>
          <a:xfrm>
            <a:off x="0" y="1690688"/>
            <a:ext cx="5253644" cy="4351338"/>
          </a:xfrm>
        </p:spPr>
        <p:txBody>
          <a:bodyPr>
            <a:normAutofit fontScale="92500" lnSpcReduction="10000"/>
          </a:bodyPr>
          <a:lstStyle/>
          <a:p>
            <a:r>
              <a:rPr lang="en-US" dirty="0"/>
              <a:t>Does baseline hard drug use affect treatment response two years after initiating HAART?</a:t>
            </a:r>
          </a:p>
          <a:p>
            <a:pPr lvl="1"/>
            <a:r>
              <a:rPr lang="en-US" dirty="0"/>
              <a:t>Outcomes: viral load (log10 scale), CD4 count, physical and mental quality of life</a:t>
            </a:r>
          </a:p>
          <a:p>
            <a:pPr lvl="1"/>
            <a:r>
              <a:rPr lang="en-US" dirty="0"/>
              <a:t>Null Hypothesis: No difference in year-2 response between baseline hard drug users and non-users</a:t>
            </a:r>
          </a:p>
          <a:p>
            <a:r>
              <a:rPr lang="en-US" dirty="0"/>
              <a:t>Clinically meaningful differences: </a:t>
            </a:r>
          </a:p>
          <a:p>
            <a:pPr lvl="1"/>
            <a:r>
              <a:rPr lang="en-US" dirty="0"/>
              <a:t>Viral Load: 0.5 log10 change</a:t>
            </a:r>
          </a:p>
          <a:p>
            <a:pPr lvl="1"/>
            <a:r>
              <a:rPr lang="en-US" dirty="0"/>
              <a:t>CD4 count: 50 cell change</a:t>
            </a:r>
          </a:p>
          <a:p>
            <a:pPr lvl="1"/>
            <a:r>
              <a:rPr lang="en-US" dirty="0"/>
              <a:t>QoL: 2 point change</a:t>
            </a:r>
          </a:p>
        </p:txBody>
      </p:sp>
      <p:pic>
        <p:nvPicPr>
          <p:cNvPr id="8" name="Picture 7">
            <a:extLst>
              <a:ext uri="{FF2B5EF4-FFF2-40B4-BE49-F238E27FC236}">
                <a16:creationId xmlns:a16="http://schemas.microsoft.com/office/drawing/2014/main" id="{4B908AD0-3AAB-40FF-B6EA-B08760851026}"/>
              </a:ext>
            </a:extLst>
          </p:cNvPr>
          <p:cNvPicPr>
            <a:picLocks noChangeAspect="1"/>
          </p:cNvPicPr>
          <p:nvPr/>
        </p:nvPicPr>
        <p:blipFill>
          <a:blip r:embed="rId3"/>
          <a:stretch>
            <a:fillRect/>
          </a:stretch>
        </p:blipFill>
        <p:spPr>
          <a:xfrm>
            <a:off x="5094885" y="1689591"/>
            <a:ext cx="7097115" cy="4353533"/>
          </a:xfrm>
          <a:prstGeom prst="rect">
            <a:avLst/>
          </a:prstGeom>
        </p:spPr>
      </p:pic>
    </p:spTree>
    <p:extLst>
      <p:ext uri="{BB962C8B-B14F-4D97-AF65-F5344CB8AC3E}">
        <p14:creationId xmlns:p14="http://schemas.microsoft.com/office/powerpoint/2010/main" val="388642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AC0159E-8D1F-4D51-A052-DB93628CE193}"/>
              </a:ext>
            </a:extLst>
          </p:cNvPr>
          <p:cNvPicPr>
            <a:picLocks noChangeAspect="1"/>
          </p:cNvPicPr>
          <p:nvPr/>
        </p:nvPicPr>
        <p:blipFill>
          <a:blip r:embed="rId3"/>
          <a:stretch>
            <a:fillRect/>
          </a:stretch>
        </p:blipFill>
        <p:spPr>
          <a:xfrm>
            <a:off x="6344317" y="3040966"/>
            <a:ext cx="5680617" cy="3763409"/>
          </a:xfrm>
          <a:prstGeom prst="rect">
            <a:avLst/>
          </a:prstGeom>
        </p:spPr>
      </p:pic>
      <p:sp>
        <p:nvSpPr>
          <p:cNvPr id="2" name="Title 1">
            <a:extLst>
              <a:ext uri="{FF2B5EF4-FFF2-40B4-BE49-F238E27FC236}">
                <a16:creationId xmlns:a16="http://schemas.microsoft.com/office/drawing/2014/main" id="{B2944C85-5A76-96FD-50F8-486CF4A0FFFA}"/>
              </a:ext>
            </a:extLst>
          </p:cNvPr>
          <p:cNvSpPr>
            <a:spLocks noGrp="1"/>
          </p:cNvSpPr>
          <p:nvPr>
            <p:ph type="title"/>
          </p:nvPr>
        </p:nvSpPr>
        <p:spPr>
          <a:xfrm>
            <a:off x="7253604" y="32415"/>
            <a:ext cx="3837527" cy="1325563"/>
          </a:xfrm>
        </p:spPr>
        <p:txBody>
          <a:bodyPr/>
          <a:lstStyle/>
          <a:p>
            <a:pPr algn="ctr"/>
            <a:r>
              <a:rPr lang="en-US" dirty="0"/>
              <a:t>Data Overview</a:t>
            </a:r>
          </a:p>
        </p:txBody>
      </p:sp>
      <p:sp>
        <p:nvSpPr>
          <p:cNvPr id="21" name="TextBox 20">
            <a:extLst>
              <a:ext uri="{FF2B5EF4-FFF2-40B4-BE49-F238E27FC236}">
                <a16:creationId xmlns:a16="http://schemas.microsoft.com/office/drawing/2014/main" id="{CCA07D77-2269-D274-738F-B2444736DC13}"/>
              </a:ext>
            </a:extLst>
          </p:cNvPr>
          <p:cNvSpPr txBox="1"/>
          <p:nvPr/>
        </p:nvSpPr>
        <p:spPr>
          <a:xfrm>
            <a:off x="6344317" y="1173312"/>
            <a:ext cx="5790947" cy="369332"/>
          </a:xfrm>
          <a:prstGeom prst="rect">
            <a:avLst/>
          </a:prstGeom>
          <a:noFill/>
        </p:spPr>
        <p:txBody>
          <a:bodyPr wrap="square" rtlCol="0">
            <a:spAutoFit/>
          </a:bodyPr>
          <a:lstStyle/>
          <a:p>
            <a:r>
              <a:rPr lang="en-US" b="1" dirty="0"/>
              <a:t>*</a:t>
            </a:r>
            <a:r>
              <a:rPr lang="en-US" dirty="0"/>
              <a:t>Collapsed to 2 categories each based on sample sizes</a:t>
            </a:r>
          </a:p>
        </p:txBody>
      </p:sp>
      <p:pic>
        <p:nvPicPr>
          <p:cNvPr id="4" name="Picture 3">
            <a:extLst>
              <a:ext uri="{FF2B5EF4-FFF2-40B4-BE49-F238E27FC236}">
                <a16:creationId xmlns:a16="http://schemas.microsoft.com/office/drawing/2014/main" id="{36C99FA2-AA1A-1222-EE9C-76ACA2259E4D}"/>
              </a:ext>
            </a:extLst>
          </p:cNvPr>
          <p:cNvPicPr>
            <a:picLocks noChangeAspect="1"/>
          </p:cNvPicPr>
          <p:nvPr/>
        </p:nvPicPr>
        <p:blipFill>
          <a:blip r:embed="rId4"/>
          <a:stretch>
            <a:fillRect/>
          </a:stretch>
        </p:blipFill>
        <p:spPr>
          <a:xfrm>
            <a:off x="0" y="503500"/>
            <a:ext cx="6039774" cy="6354500"/>
          </a:xfrm>
          <a:prstGeom prst="rect">
            <a:avLst/>
          </a:prstGeom>
        </p:spPr>
      </p:pic>
      <p:sp>
        <p:nvSpPr>
          <p:cNvPr id="20" name="TextBox 19">
            <a:extLst>
              <a:ext uri="{FF2B5EF4-FFF2-40B4-BE49-F238E27FC236}">
                <a16:creationId xmlns:a16="http://schemas.microsoft.com/office/drawing/2014/main" id="{EAB8A822-D31F-B0D8-A93B-8FA4DA1E44A5}"/>
              </a:ext>
            </a:extLst>
          </p:cNvPr>
          <p:cNvSpPr txBox="1"/>
          <p:nvPr/>
        </p:nvSpPr>
        <p:spPr>
          <a:xfrm>
            <a:off x="-112962" y="4922671"/>
            <a:ext cx="300082" cy="1477328"/>
          </a:xfrm>
          <a:prstGeom prst="rect">
            <a:avLst/>
          </a:prstGeom>
          <a:noFill/>
        </p:spPr>
        <p:txBody>
          <a:bodyPr wrap="none" rtlCol="0">
            <a:spAutoFit/>
          </a:bodyPr>
          <a:lstStyle/>
          <a:p>
            <a:r>
              <a:rPr lang="en-US" b="1" dirty="0"/>
              <a:t>*</a:t>
            </a:r>
          </a:p>
          <a:p>
            <a:endParaRPr lang="en-US" b="1" dirty="0"/>
          </a:p>
          <a:p>
            <a:r>
              <a:rPr lang="en-US" b="1" dirty="0"/>
              <a:t>*</a:t>
            </a:r>
            <a:br>
              <a:rPr lang="en-US" b="1" dirty="0"/>
            </a:br>
            <a:br>
              <a:rPr lang="en-US" b="1" dirty="0"/>
            </a:br>
            <a:r>
              <a:rPr lang="en-US" b="1" dirty="0"/>
              <a:t>*</a:t>
            </a:r>
          </a:p>
        </p:txBody>
      </p:sp>
      <p:sp>
        <p:nvSpPr>
          <p:cNvPr id="10" name="TextBox 9">
            <a:extLst>
              <a:ext uri="{FF2B5EF4-FFF2-40B4-BE49-F238E27FC236}">
                <a16:creationId xmlns:a16="http://schemas.microsoft.com/office/drawing/2014/main" id="{278B4911-AAF2-73BA-87E9-8638E6A10DB3}"/>
              </a:ext>
            </a:extLst>
          </p:cNvPr>
          <p:cNvSpPr txBox="1"/>
          <p:nvPr/>
        </p:nvSpPr>
        <p:spPr>
          <a:xfrm>
            <a:off x="8383979" y="1904190"/>
            <a:ext cx="3808021" cy="923330"/>
          </a:xfrm>
          <a:prstGeom prst="rect">
            <a:avLst/>
          </a:prstGeom>
          <a:noFill/>
        </p:spPr>
        <p:txBody>
          <a:bodyPr wrap="square">
            <a:spAutoFit/>
          </a:bodyPr>
          <a:lstStyle/>
          <a:p>
            <a:pPr algn="r"/>
            <a:r>
              <a:rPr lang="en-US" dirty="0"/>
              <a:t>476 subjects had all outcomes for baseline and year 2 and had baseline hard drug use reported</a:t>
            </a:r>
          </a:p>
        </p:txBody>
      </p:sp>
      <p:cxnSp>
        <p:nvCxnSpPr>
          <p:cNvPr id="14" name="Straight Arrow Connector 13">
            <a:extLst>
              <a:ext uri="{FF2B5EF4-FFF2-40B4-BE49-F238E27FC236}">
                <a16:creationId xmlns:a16="http://schemas.microsoft.com/office/drawing/2014/main" id="{FDFA17A8-8C28-A290-AA5A-52FF2677DB26}"/>
              </a:ext>
            </a:extLst>
          </p:cNvPr>
          <p:cNvCxnSpPr>
            <a:cxnSpLocks/>
          </p:cNvCxnSpPr>
          <p:nvPr/>
        </p:nvCxnSpPr>
        <p:spPr>
          <a:xfrm>
            <a:off x="11404927" y="2754114"/>
            <a:ext cx="0" cy="557179"/>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6294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90ED-9EC5-81B9-6EA0-E2C6334C04C4}"/>
              </a:ext>
            </a:extLst>
          </p:cNvPr>
          <p:cNvSpPr>
            <a:spLocks noGrp="1"/>
          </p:cNvSpPr>
          <p:nvPr>
            <p:ph type="title"/>
          </p:nvPr>
        </p:nvSpPr>
        <p:spPr/>
        <p:txBody>
          <a:bodyPr/>
          <a:lstStyle/>
          <a:p>
            <a:r>
              <a:rPr lang="en-US" dirty="0"/>
              <a:t>Analysis Plan</a:t>
            </a:r>
          </a:p>
        </p:txBody>
      </p:sp>
      <p:sp>
        <p:nvSpPr>
          <p:cNvPr id="3" name="Content Placeholder 2">
            <a:extLst>
              <a:ext uri="{FF2B5EF4-FFF2-40B4-BE49-F238E27FC236}">
                <a16:creationId xmlns:a16="http://schemas.microsoft.com/office/drawing/2014/main" id="{10DEFC7C-B8E2-9815-0785-07C41A83F29F}"/>
              </a:ext>
            </a:extLst>
          </p:cNvPr>
          <p:cNvSpPr>
            <a:spLocks noGrp="1"/>
          </p:cNvSpPr>
          <p:nvPr>
            <p:ph idx="1"/>
          </p:nvPr>
        </p:nvSpPr>
        <p:spPr>
          <a:xfrm>
            <a:off x="674834" y="1690688"/>
            <a:ext cx="5257800" cy="3592458"/>
          </a:xfrm>
        </p:spPr>
        <p:txBody>
          <a:bodyPr>
            <a:normAutofit/>
          </a:bodyPr>
          <a:lstStyle/>
          <a:p>
            <a:pPr marL="0" indent="0">
              <a:buNone/>
            </a:pPr>
            <a:r>
              <a:rPr lang="en-US" u="sng" dirty="0"/>
              <a:t>Frequentist Analysis</a:t>
            </a:r>
          </a:p>
          <a:p>
            <a:r>
              <a:rPr lang="en-US" dirty="0"/>
              <a:t>Linear regression of transformed Year‑2 outcome</a:t>
            </a:r>
          </a:p>
          <a:p>
            <a:pPr lvl="1"/>
            <a:r>
              <a:rPr lang="en-US" dirty="0"/>
              <a:t>Predictors (Baseline): hard drug use, outcome, age, BMI, smoking, education, race/ethnicity</a:t>
            </a:r>
          </a:p>
          <a:p>
            <a:pPr lvl="1"/>
            <a:r>
              <a:rPr lang="en-US" dirty="0"/>
              <a:t>Adherence to explore mediation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A0B9CA7-7627-123E-63F2-85DB6FE33D39}"/>
                  </a:ext>
                </a:extLst>
              </p:cNvPr>
              <p:cNvSpPr txBox="1"/>
              <p:nvPr/>
            </p:nvSpPr>
            <p:spPr>
              <a:xfrm>
                <a:off x="6259369" y="1703301"/>
                <a:ext cx="5257798" cy="3592458"/>
              </a:xfrm>
              <a:prstGeom prst="rect">
                <a:avLst/>
              </a:prstGeom>
              <a:noFill/>
            </p:spPr>
            <p:txBody>
              <a:bodyPr wrap="square" rtlCol="0">
                <a:spAutoFit/>
              </a:bodyPr>
              <a:lstStyle/>
              <a:p>
                <a:r>
                  <a:rPr lang="en-US" sz="2800" u="sng" dirty="0"/>
                  <a:t>Bayesian Analysis</a:t>
                </a:r>
              </a:p>
              <a:p>
                <a:pPr marL="285750" indent="-285750">
                  <a:buFont typeface="Arial" panose="020B0604020202020204" pitchFamily="34" charset="0"/>
                  <a:buChar char="•"/>
                </a:pPr>
                <a:r>
                  <a:rPr lang="en-US" sz="2800" dirty="0"/>
                  <a:t>Same regression structure as frequentist models in STAN</a:t>
                </a:r>
              </a:p>
              <a:p>
                <a:pPr marL="742950" lvl="1" indent="-285750">
                  <a:buFont typeface="Arial" panose="020B0604020202020204" pitchFamily="34" charset="0"/>
                  <a:buChar char="•"/>
                </a:pPr>
                <a:r>
                  <a:rPr lang="en-US" sz="2400" dirty="0"/>
                  <a:t>Vaguely informative priors:</a:t>
                </a:r>
              </a:p>
              <a:p>
                <a:pPr marL="1200150" lvl="2" indent="-285750">
                  <a:buFont typeface="Arial" panose="020B0604020202020204" pitchFamily="34" charset="0"/>
                  <a:buChar char="•"/>
                </a:pPr>
                <a:r>
                  <a:rPr lang="en-US" sz="2400" dirty="0"/>
                  <a:t>Coefficients: N(0, 1000)</a:t>
                </a:r>
              </a:p>
              <a:p>
                <a:pPr marL="1200150" lvl="2" indent="-285750">
                  <a:buFont typeface="Arial" panose="020B0604020202020204" pitchFamily="34" charset="0"/>
                  <a:buChar char="•"/>
                </a:pPr>
                <a:r>
                  <a:rPr lang="en-US" sz="2400" dirty="0"/>
                  <a:t>Error: Half‑Normal</a:t>
                </a:r>
              </a:p>
              <a:p>
                <a:pPr marL="742950" lvl="1" indent="-285750">
                  <a:buFont typeface="Arial" panose="020B0604020202020204" pitchFamily="34" charset="0"/>
                  <a:buChar char="•"/>
                </a:pPr>
                <a:r>
                  <a:rPr lang="en-US" sz="2400" dirty="0"/>
                  <a:t>For instance: </a:t>
                </a:r>
                <a14:m>
                  <m:oMath xmlns:m="http://schemas.openxmlformats.org/officeDocument/2006/math">
                    <m:r>
                      <m:rPr>
                        <m:sty m:val="p"/>
                      </m:rPr>
                      <a:rPr lang="en-US" sz="2400" b="0" i="0" dirty="0" smtClean="0">
                        <a:latin typeface="Cambria Math" panose="02040503050406030204" pitchFamily="18" charset="0"/>
                      </a:rPr>
                      <m:t>log</m:t>
                    </m:r>
                    <m:r>
                      <a:rPr lang="en-US" sz="2400" b="0" i="0"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sty m:val="p"/>
                          </m:rPr>
                          <a:rPr lang="en-US" sz="2400" b="0" i="1" dirty="0" smtClean="0">
                            <a:latin typeface="Cambria Math" panose="02040503050406030204" pitchFamily="18" charset="0"/>
                          </a:rPr>
                          <m:t>VLOAD</m:t>
                        </m:r>
                      </m:e>
                      <m:sub>
                        <m:r>
                          <m:rPr>
                            <m:sty m:val="p"/>
                          </m:rPr>
                          <a:rPr lang="en-US" sz="2400" b="0" i="1" dirty="0" smtClean="0">
                            <a:latin typeface="Cambria Math" panose="02040503050406030204" pitchFamily="18" charset="0"/>
                          </a:rPr>
                          <m:t>i</m:t>
                        </m:r>
                      </m:sub>
                    </m:sSub>
                    <m:r>
                      <a:rPr lang="en-US" sz="2400" b="0" i="1" dirty="0" smtClean="0">
                        <a:latin typeface="Cambria Math" panose="02040503050406030204" pitchFamily="18" charset="0"/>
                      </a:rPr>
                      <m:t>) = </m:t>
                    </m:r>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𝛽</m:t>
                        </m:r>
                      </m:e>
                      <m:sub>
                        <m:r>
                          <a:rPr lang="en-US" sz="2400" b="0" i="1" dirty="0" smtClean="0">
                            <a:latin typeface="Cambria Math" panose="02040503050406030204" pitchFamily="18" charset="0"/>
                          </a:rPr>
                          <m:t>0</m:t>
                        </m:r>
                      </m:sub>
                    </m:sSub>
                    <m:r>
                      <a:rPr lang="en-US"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𝛽</m:t>
                        </m:r>
                      </m:e>
                      <m:sub>
                        <m:r>
                          <a:rPr lang="en-US" sz="2400" b="0" i="1" dirty="0" smtClean="0">
                            <a:latin typeface="Cambria Math" panose="02040503050406030204" pitchFamily="18" charset="0"/>
                            <a:ea typeface="Cambria Math" panose="02040503050406030204" pitchFamily="18" charset="0"/>
                          </a:rPr>
                          <m:t>1</m:t>
                        </m:r>
                      </m:sub>
                    </m:sSub>
                    <m:sSub>
                      <m:sSubPr>
                        <m:ctrlPr>
                          <a:rPr lang="en-US" sz="2400" i="1" dirty="0" smtClean="0">
                            <a:latin typeface="Cambria Math" panose="02040503050406030204" pitchFamily="18" charset="0"/>
                          </a:rPr>
                        </m:ctrlPr>
                      </m:sSubPr>
                      <m:e>
                        <m:r>
                          <m:rPr>
                            <m:sty m:val="p"/>
                          </m:rPr>
                          <a:rPr lang="en-US" sz="2400" b="0" i="1" dirty="0" smtClean="0">
                            <a:latin typeface="Cambria Math" panose="02040503050406030204" pitchFamily="18" charset="0"/>
                          </a:rPr>
                          <m:t>HD</m:t>
                        </m:r>
                      </m:e>
                      <m:sub>
                        <m:r>
                          <m:rPr>
                            <m:sty m:val="p"/>
                          </m:rPr>
                          <a:rPr lang="en-US" sz="2400" b="0" i="1" dirty="0" smtClean="0">
                            <a:latin typeface="Cambria Math" panose="02040503050406030204" pitchFamily="18" charset="0"/>
                          </a:rPr>
                          <m:t>i</m:t>
                        </m:r>
                      </m:sub>
                    </m:sSub>
                    <m:r>
                      <a:rPr lang="en-US" sz="2400" b="0" i="1" dirty="0" smtClean="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𝛽</m:t>
                        </m:r>
                      </m:e>
                      <m:sub>
                        <m:r>
                          <a:rPr lang="en-US" sz="2400" b="0" i="1" dirty="0" smtClean="0">
                            <a:latin typeface="Cambria Math" panose="02040503050406030204" pitchFamily="18" charset="0"/>
                            <a:ea typeface="Cambria Math" panose="02040503050406030204" pitchFamily="18" charset="0"/>
                          </a:rPr>
                          <m:t>2</m:t>
                        </m:r>
                      </m:sub>
                    </m:sSub>
                    <m:sSub>
                      <m:sSubPr>
                        <m:ctrlPr>
                          <a:rPr lang="en-US" sz="2400" i="1" dirty="0">
                            <a:latin typeface="Cambria Math" panose="02040503050406030204" pitchFamily="18" charset="0"/>
                          </a:rPr>
                        </m:ctrlPr>
                      </m:sSubPr>
                      <m:e>
                        <m:r>
                          <m:rPr>
                            <m:sty m:val="p"/>
                          </m:rPr>
                          <a:rPr lang="en-US" sz="2400" b="0" i="1" dirty="0" smtClean="0">
                            <a:latin typeface="Cambria Math" panose="02040503050406030204" pitchFamily="18" charset="0"/>
                          </a:rPr>
                          <m:t>Baseline</m:t>
                        </m:r>
                      </m:e>
                      <m:sub>
                        <m:r>
                          <m:rPr>
                            <m:sty m:val="p"/>
                          </m:rPr>
                          <a:rPr lang="en-US" sz="2400" b="0" i="1" dirty="0" smtClean="0">
                            <a:latin typeface="Cambria Math" panose="02040503050406030204" pitchFamily="18" charset="0"/>
                            <a:ea typeface="Cambria Math" panose="02040503050406030204" pitchFamily="18" charset="0"/>
                          </a:rPr>
                          <m:t>i</m:t>
                        </m:r>
                      </m:sub>
                    </m:sSub>
                    <m:r>
                      <a:rPr lang="en-US" sz="2400" b="0" i="1" dirty="0" smtClean="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𝛽</m:t>
                        </m:r>
                      </m:e>
                      <m:sub>
                        <m:r>
                          <a:rPr lang="en-US" sz="2400" b="0" i="1" dirty="0" smtClean="0">
                            <a:latin typeface="Cambria Math" panose="02040503050406030204" pitchFamily="18" charset="0"/>
                            <a:ea typeface="Cambria Math" panose="02040503050406030204" pitchFamily="18" charset="0"/>
                          </a:rPr>
                          <m:t>3</m:t>
                        </m:r>
                      </m:sub>
                    </m:sSub>
                    <m:r>
                      <a:rPr lang="en-US" sz="2400" b="0" i="1" dirty="0" smtClean="0">
                        <a:latin typeface="Cambria Math" panose="02040503050406030204" pitchFamily="18" charset="0"/>
                      </a:rPr>
                      <m:t> </m:t>
                    </m:r>
                    <m:r>
                      <m:rPr>
                        <m:sty m:val="p"/>
                      </m:rPr>
                      <a:rPr lang="en-US" sz="2400" b="0" i="1" dirty="0" smtClean="0">
                        <a:latin typeface="Cambria Math" panose="02040503050406030204" pitchFamily="18" charset="0"/>
                      </a:rPr>
                      <m:t>Age</m:t>
                    </m:r>
                    <m:r>
                      <a:rPr lang="en-US" sz="2400" b="0" i="1" dirty="0" smtClean="0">
                        <a:latin typeface="Cambria Math" panose="02040503050406030204" pitchFamily="18" charset="0"/>
                      </a:rPr>
                      <m:t> + …+ </m:t>
                    </m:r>
                    <m:r>
                      <a:rPr lang="en-US" sz="2400" b="0" i="1" dirty="0" smtClean="0">
                        <a:latin typeface="Cambria Math" panose="02040503050406030204" pitchFamily="18" charset="0"/>
                        <a:ea typeface="Cambria Math" panose="02040503050406030204" pitchFamily="18" charset="0"/>
                      </a:rPr>
                      <m:t>𝜀</m:t>
                    </m:r>
                  </m:oMath>
                </a14:m>
                <a:endParaRPr lang="en-US" sz="2400" dirty="0"/>
              </a:p>
            </p:txBody>
          </p:sp>
        </mc:Choice>
        <mc:Fallback>
          <p:sp>
            <p:nvSpPr>
              <p:cNvPr id="4" name="TextBox 3">
                <a:extLst>
                  <a:ext uri="{FF2B5EF4-FFF2-40B4-BE49-F238E27FC236}">
                    <a16:creationId xmlns:a16="http://schemas.microsoft.com/office/drawing/2014/main" id="{3A0B9CA7-7627-123E-63F2-85DB6FE33D39}"/>
                  </a:ext>
                </a:extLst>
              </p:cNvPr>
              <p:cNvSpPr txBox="1">
                <a:spLocks noRot="1" noChangeAspect="1" noMove="1" noResize="1" noEditPoints="1" noAdjustHandles="1" noChangeArrowheads="1" noChangeShapeType="1" noTextEdit="1"/>
              </p:cNvSpPr>
              <p:nvPr/>
            </p:nvSpPr>
            <p:spPr>
              <a:xfrm>
                <a:off x="6259369" y="1703301"/>
                <a:ext cx="5257798" cy="3592458"/>
              </a:xfrm>
              <a:prstGeom prst="rect">
                <a:avLst/>
              </a:prstGeom>
              <a:blipFill>
                <a:blip r:embed="rId3"/>
                <a:stretch>
                  <a:fillRect l="-2436" t="-1695" b="-1186"/>
                </a:stretch>
              </a:blipFill>
            </p:spPr>
            <p:txBody>
              <a:bodyPr/>
              <a:lstStyle/>
              <a:p>
                <a:r>
                  <a:rPr lang="en-US">
                    <a:noFill/>
                  </a:rPr>
                  <a:t> </a:t>
                </a:r>
              </a:p>
            </p:txBody>
          </p:sp>
        </mc:Fallback>
      </mc:AlternateContent>
    </p:spTree>
    <p:extLst>
      <p:ext uri="{BB962C8B-B14F-4D97-AF65-F5344CB8AC3E}">
        <p14:creationId xmlns:p14="http://schemas.microsoft.com/office/powerpoint/2010/main" val="1644962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702</TotalTime>
  <Words>561</Words>
  <Application>Microsoft Office PowerPoint</Application>
  <PresentationFormat>Widescreen</PresentationFormat>
  <Paragraphs>45</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Cambria Math</vt:lpstr>
      <vt:lpstr>Office Theme</vt:lpstr>
      <vt:lpstr>Interim Presentation</vt:lpstr>
      <vt:lpstr>Research Question</vt:lpstr>
      <vt:lpstr>Data Overview</vt:lpstr>
      <vt:lpstr>Analysis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Weible, Ezra</dc:creator>
  <cp:lastModifiedBy>Weible, Ezra</cp:lastModifiedBy>
  <cp:revision>1</cp:revision>
  <dcterms:created xsi:type="dcterms:W3CDTF">2026-02-12T20:50:33Z</dcterms:created>
  <dcterms:modified xsi:type="dcterms:W3CDTF">2026-02-17T23:29:45Z</dcterms:modified>
</cp:coreProperties>
</file>