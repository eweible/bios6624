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0725BC-7499-49D0-82A8-4C264E3F6C5A}" v="273" dt="2026-02-18T20:10:05.6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1895" autoAdjust="0"/>
  </p:normalViewPr>
  <p:slideViewPr>
    <p:cSldViewPr snapToGrid="0">
      <p:cViewPr varScale="1">
        <p:scale>
          <a:sx n="59" d="100"/>
          <a:sy n="59" d="100"/>
        </p:scale>
        <p:origin x="161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zra Weible" userId="67bcaf2f89c4552e" providerId="LiveId" clId="{E4E19776-AA89-4579-B0CB-50FEF10C4E93}"/>
    <pc:docChg chg="undo custSel modSld">
      <pc:chgData name="Ezra Weible" userId="67bcaf2f89c4552e" providerId="LiveId" clId="{E4E19776-AA89-4579-B0CB-50FEF10C4E93}" dt="2026-02-18T20:19:17.354" v="6592" actId="20577"/>
      <pc:docMkLst>
        <pc:docMk/>
      </pc:docMkLst>
      <pc:sldChg chg="modNotesTx">
        <pc:chgData name="Ezra Weible" userId="67bcaf2f89c4552e" providerId="LiveId" clId="{E4E19776-AA89-4579-B0CB-50FEF10C4E93}" dt="2026-02-18T20:10:00.803" v="6568" actId="20577"/>
        <pc:sldMkLst>
          <pc:docMk/>
          <pc:sldMk cId="1489866180" sldId="256"/>
        </pc:sldMkLst>
      </pc:sldChg>
      <pc:sldChg chg="addSp delSp modSp mod modNotesTx">
        <pc:chgData name="Ezra Weible" userId="67bcaf2f89c4552e" providerId="LiveId" clId="{E4E19776-AA89-4579-B0CB-50FEF10C4E93}" dt="2026-02-18T20:19:17.354" v="6592" actId="20577"/>
        <pc:sldMkLst>
          <pc:docMk/>
          <pc:sldMk cId="3886421937" sldId="257"/>
        </pc:sldMkLst>
        <pc:spChg chg="mod">
          <ac:chgData name="Ezra Weible" userId="67bcaf2f89c4552e" providerId="LiveId" clId="{E4E19776-AA89-4579-B0CB-50FEF10C4E93}" dt="2026-02-17T20:26:02.120" v="6075" actId="20577"/>
          <ac:spMkLst>
            <pc:docMk/>
            <pc:sldMk cId="3886421937" sldId="257"/>
            <ac:spMk id="3" creationId="{3DDEC1C9-F0BB-944E-104A-1C46C5D25AF4}"/>
          </ac:spMkLst>
        </pc:spChg>
        <pc:picChg chg="add del mod">
          <ac:chgData name="Ezra Weible" userId="67bcaf2f89c4552e" providerId="LiveId" clId="{E4E19776-AA89-4579-B0CB-50FEF10C4E93}" dt="2026-02-17T20:14:14.366" v="5756" actId="478"/>
          <ac:picMkLst>
            <pc:docMk/>
            <pc:sldMk cId="3886421937" sldId="257"/>
            <ac:picMk id="5" creationId="{1B7DAEF3-D52A-B7B7-322E-B5A524C16D2B}"/>
          </ac:picMkLst>
        </pc:picChg>
        <pc:picChg chg="add mod">
          <ac:chgData name="Ezra Weible" userId="67bcaf2f89c4552e" providerId="LiveId" clId="{E4E19776-AA89-4579-B0CB-50FEF10C4E93}" dt="2026-02-17T20:20:43.557" v="5793" actId="1076"/>
          <ac:picMkLst>
            <pc:docMk/>
            <pc:sldMk cId="3886421937" sldId="257"/>
            <ac:picMk id="8" creationId="{4B908AD0-3AAB-40FF-B6EA-B08760851026}"/>
          </ac:picMkLst>
        </pc:picChg>
      </pc:sldChg>
      <pc:sldChg chg="addSp delSp modSp mod modNotesTx">
        <pc:chgData name="Ezra Weible" userId="67bcaf2f89c4552e" providerId="LiveId" clId="{E4E19776-AA89-4579-B0CB-50FEF10C4E93}" dt="2026-02-17T23:29:23.964" v="6414" actId="20577"/>
        <pc:sldMkLst>
          <pc:docMk/>
          <pc:sldMk cId="3662945949" sldId="258"/>
        </pc:sldMkLst>
        <pc:spChg chg="mod">
          <ac:chgData name="Ezra Weible" userId="67bcaf2f89c4552e" providerId="LiveId" clId="{E4E19776-AA89-4579-B0CB-50FEF10C4E93}" dt="2026-02-17T19:59:12.233" v="5717" actId="1076"/>
          <ac:spMkLst>
            <pc:docMk/>
            <pc:sldMk cId="3662945949" sldId="258"/>
            <ac:spMk id="2" creationId="{B2944C85-5A76-96FD-50F8-486CF4A0FFFA}"/>
          </ac:spMkLst>
        </pc:spChg>
        <pc:spChg chg="add mod">
          <ac:chgData name="Ezra Weible" userId="67bcaf2f89c4552e" providerId="LiveId" clId="{E4E19776-AA89-4579-B0CB-50FEF10C4E93}" dt="2026-02-17T23:16:23.649" v="6107" actId="1076"/>
          <ac:spMkLst>
            <pc:docMk/>
            <pc:sldMk cId="3662945949" sldId="258"/>
            <ac:spMk id="10" creationId="{278B4911-AAF2-73BA-87E9-8638E6A10DB3}"/>
          </ac:spMkLst>
        </pc:spChg>
        <pc:spChg chg="add mod ord">
          <ac:chgData name="Ezra Weible" userId="67bcaf2f89c4552e" providerId="LiveId" clId="{E4E19776-AA89-4579-B0CB-50FEF10C4E93}" dt="2026-02-17T20:22:16.510" v="5884" actId="113"/>
          <ac:spMkLst>
            <pc:docMk/>
            <pc:sldMk cId="3662945949" sldId="258"/>
            <ac:spMk id="20" creationId="{EAB8A822-D31F-B0D8-A93B-8FA4DA1E44A5}"/>
          </ac:spMkLst>
        </pc:spChg>
        <pc:spChg chg="add mod">
          <ac:chgData name="Ezra Weible" userId="67bcaf2f89c4552e" providerId="LiveId" clId="{E4E19776-AA89-4579-B0CB-50FEF10C4E93}" dt="2026-02-17T23:16:11.116" v="6103" actId="14100"/>
          <ac:spMkLst>
            <pc:docMk/>
            <pc:sldMk cId="3662945949" sldId="258"/>
            <ac:spMk id="21" creationId="{CCA07D77-2269-D274-738F-B2444736DC13}"/>
          </ac:spMkLst>
        </pc:spChg>
        <pc:picChg chg="add mod">
          <ac:chgData name="Ezra Weible" userId="67bcaf2f89c4552e" providerId="LiveId" clId="{E4E19776-AA89-4579-B0CB-50FEF10C4E93}" dt="2026-02-17T19:58:52.272" v="5710" actId="1076"/>
          <ac:picMkLst>
            <pc:docMk/>
            <pc:sldMk cId="3662945949" sldId="258"/>
            <ac:picMk id="4" creationId="{36C99FA2-AA1A-1222-EE9C-76ACA2259E4D}"/>
          </ac:picMkLst>
        </pc:picChg>
        <pc:picChg chg="add del mod">
          <ac:chgData name="Ezra Weible" userId="67bcaf2f89c4552e" providerId="LiveId" clId="{E4E19776-AA89-4579-B0CB-50FEF10C4E93}" dt="2026-02-17T22:21:18.901" v="6087" actId="478"/>
          <ac:picMkLst>
            <pc:docMk/>
            <pc:sldMk cId="3662945949" sldId="258"/>
            <ac:picMk id="6" creationId="{3698F797-99D5-55AE-64B7-C8D9D554F3D1}"/>
          </ac:picMkLst>
        </pc:picChg>
        <pc:picChg chg="add del mod">
          <ac:chgData name="Ezra Weible" userId="67bcaf2f89c4552e" providerId="LiveId" clId="{E4E19776-AA89-4579-B0CB-50FEF10C4E93}" dt="2026-02-17T20:20:34.285" v="5788" actId="21"/>
          <ac:picMkLst>
            <pc:docMk/>
            <pc:sldMk cId="3662945949" sldId="258"/>
            <ac:picMk id="8" creationId="{4B908AD0-3AAB-40FF-B6EA-B08760851026}"/>
          </ac:picMkLst>
        </pc:picChg>
        <pc:picChg chg="add del mod ord">
          <ac:chgData name="Ezra Weible" userId="67bcaf2f89c4552e" providerId="LiveId" clId="{E4E19776-AA89-4579-B0CB-50FEF10C4E93}" dt="2026-02-17T19:57:14.643" v="5681" actId="478"/>
          <ac:picMkLst>
            <pc:docMk/>
            <pc:sldMk cId="3662945949" sldId="258"/>
            <ac:picMk id="11" creationId="{B2BF5342-131E-EB3E-3169-6DD82DFDCDE9}"/>
          </ac:picMkLst>
        </pc:picChg>
        <pc:picChg chg="add del mod">
          <ac:chgData name="Ezra Weible" userId="67bcaf2f89c4552e" providerId="LiveId" clId="{E4E19776-AA89-4579-B0CB-50FEF10C4E93}" dt="2026-02-17T19:57:20.475" v="5684" actId="478"/>
          <ac:picMkLst>
            <pc:docMk/>
            <pc:sldMk cId="3662945949" sldId="258"/>
            <ac:picMk id="13" creationId="{A724020F-087C-E959-22EB-02FDD6174327}"/>
          </ac:picMkLst>
        </pc:picChg>
        <pc:picChg chg="add mod ord">
          <ac:chgData name="Ezra Weible" userId="67bcaf2f89c4552e" providerId="LiveId" clId="{E4E19776-AA89-4579-B0CB-50FEF10C4E93}" dt="2026-02-17T23:15:49.876" v="6097" actId="167"/>
          <ac:picMkLst>
            <pc:docMk/>
            <pc:sldMk cId="3662945949" sldId="258"/>
            <ac:picMk id="17" creationId="{EAC0159E-8D1F-4D51-A052-DB93628CE193}"/>
          </ac:picMkLst>
        </pc:picChg>
        <pc:picChg chg="add del mod">
          <ac:chgData name="Ezra Weible" userId="67bcaf2f89c4552e" providerId="LiveId" clId="{E4E19776-AA89-4579-B0CB-50FEF10C4E93}" dt="2026-02-17T19:57:28.033" v="5688" actId="478"/>
          <ac:picMkLst>
            <pc:docMk/>
            <pc:sldMk cId="3662945949" sldId="258"/>
            <ac:picMk id="19" creationId="{C2ED6D3E-DFC8-1B6E-88DE-AB334EF38F03}"/>
          </ac:picMkLst>
        </pc:picChg>
        <pc:cxnChg chg="add mod">
          <ac:chgData name="Ezra Weible" userId="67bcaf2f89c4552e" providerId="LiveId" clId="{E4E19776-AA89-4579-B0CB-50FEF10C4E93}" dt="2026-02-17T23:15:55.492" v="6099" actId="1076"/>
          <ac:cxnSpMkLst>
            <pc:docMk/>
            <pc:sldMk cId="3662945949" sldId="258"/>
            <ac:cxnSpMk id="14" creationId="{FDFA17A8-8C28-A290-AA5A-52FF2677DB26}"/>
          </ac:cxnSpMkLst>
        </pc:cxnChg>
      </pc:sldChg>
      <pc:sldChg chg="delSp modSp mod modNotesTx">
        <pc:chgData name="Ezra Weible" userId="67bcaf2f89c4552e" providerId="LiveId" clId="{E4E19776-AA89-4579-B0CB-50FEF10C4E93}" dt="2026-02-17T23:29:44.454" v="6423" actId="20577"/>
        <pc:sldMkLst>
          <pc:docMk/>
          <pc:sldMk cId="1644962775" sldId="259"/>
        </pc:sldMkLst>
        <pc:spChg chg="mod">
          <ac:chgData name="Ezra Weible" userId="67bcaf2f89c4552e" providerId="LiveId" clId="{E4E19776-AA89-4579-B0CB-50FEF10C4E93}" dt="2026-02-17T23:16:39.481" v="6108" actId="14100"/>
          <ac:spMkLst>
            <pc:docMk/>
            <pc:sldMk cId="1644962775" sldId="259"/>
            <ac:spMk id="3" creationId="{10DEFC7C-B8E2-9815-0785-07C41A83F29F}"/>
          </ac:spMkLst>
        </pc:spChg>
        <pc:spChg chg="mod">
          <ac:chgData name="Ezra Weible" userId="67bcaf2f89c4552e" providerId="LiveId" clId="{E4E19776-AA89-4579-B0CB-50FEF10C4E93}" dt="2026-02-17T20:36:29.733" v="6086" actId="20577"/>
          <ac:spMkLst>
            <pc:docMk/>
            <pc:sldMk cId="1644962775" sldId="259"/>
            <ac:spMk id="4" creationId="{3A0B9CA7-7627-123E-63F2-85DB6FE33D3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7409C4-0A53-4704-96BE-B691B3C0F1E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D2BE1A-52B3-4E0A-AE6E-FEFEFB71A9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1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D2BE1A-52B3-4E0A-AE6E-FEFEFB71A9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0912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Here I’m looking at whether baseline hard drug use affects how well people respond to HAART two years later.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outcomes I’m focusing on are viral load on the log10 scale, CD4 count, and physical and mental quality‑of‑life scores. Hard drug use at baseline is the </a:t>
            </a:r>
            <a:r>
              <a:rPr lang="en-US"/>
              <a:t>main predictor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The null hypothesis is that there’s no difference in year‑2 outcomes between baseline hard‑drug users and non‑users. I’m also keeping in mind what counts as a clinically meaningful difference: half a log10 for viral load, 50 CD4 cells, and 2 points on the QoL scales.</a:t>
            </a:r>
          </a:p>
          <a:p>
            <a:pPr marL="171450" indent="-171450">
              <a:buFontTx/>
              <a:buChar char="-"/>
            </a:pPr>
            <a:r>
              <a:rPr lang="en-US" dirty="0"/>
              <a:t>Figure 1 shows the distributions of the year‑2 outcomes, validating the log10 transformation of viral load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D2BE1A-52B3-4E0A-AE6E-FEFEFB71A99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9151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This dataset includes 476 participants who had complete baseline and year‑2 measurements and reported baseline hard drug use.</a:t>
            </a:r>
          </a:p>
          <a:p>
            <a:pPr marL="171450" indent="-171450">
              <a:buFontTx/>
              <a:buChar char="-"/>
            </a:pPr>
            <a:r>
              <a:rPr lang="en-US" dirty="0"/>
              <a:t>A few data issues needed attention: some BMI values were miscoded or implausible, and several categorical variables had very small categories, so I collapsed smoking, education, and race into two groups each.</a:t>
            </a:r>
          </a:p>
          <a:p>
            <a:pPr marL="171450" indent="-171450">
              <a:buFontTx/>
              <a:buChar char="-"/>
            </a:pPr>
            <a:r>
              <a:rPr lang="en-US" dirty="0"/>
              <a:t>Baseline characteristics by drug‑use group are summarized in Tables 1 and 2. Viral load is analyzed on the log10 scale, and we’re using complete‑case analysis for each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D2BE1A-52B3-4E0A-AE6E-FEFEFB71A9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796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For each year‑2 outcome, I’m fitting a linear regression model with baseline hard drug use as the main predictor, adjusting for baseline outcome and the covariates I mentioned earlier. The key test is the coefficient for hard drug use.</a:t>
            </a:r>
          </a:p>
          <a:p>
            <a:pPr marL="171450" indent="-171450">
              <a:buFontTx/>
              <a:buChar char="-"/>
            </a:pPr>
            <a:r>
              <a:rPr lang="en-US" dirty="0"/>
              <a:t>I’ll also explore whether year‑2 adherence might mediate the relationship by comparing models with and without adherence.</a:t>
            </a:r>
          </a:p>
          <a:p>
            <a:pPr marL="171450" indent="-171450">
              <a:buFontTx/>
              <a:buChar char="-"/>
            </a:pPr>
            <a:r>
              <a:rPr lang="en-US"/>
              <a:t>On </a:t>
            </a:r>
            <a:r>
              <a:rPr lang="en-US" dirty="0"/>
              <a:t>the Bayesian side, I’m fitting the same models in STAN using weakly informative priors and checking convergence with R‑hat, ESS, and LOO‑</a:t>
            </a:r>
            <a:r>
              <a:rPr lang="en-US"/>
              <a:t>CV.</a:t>
            </a:r>
          </a:p>
          <a:p>
            <a:pPr marL="171450" indent="-171450">
              <a:buFontTx/>
              <a:buChar char="-"/>
            </a:pPr>
            <a:r>
              <a:rPr lang="en-US"/>
              <a:t>Finally</a:t>
            </a:r>
            <a:r>
              <a:rPr lang="en-US" dirty="0"/>
              <a:t>, I’ll interpret the results in terms of the clinically meaningful thresholds for each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D2BE1A-52B3-4E0A-AE6E-FEFEFB71A99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24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144413-64B6-31B8-AE5F-B9C62D92E1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F82AE6-F71F-85B9-DFCD-C2F241834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4E1D1B-6EFE-6052-7C83-5C44BF278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35A4B3-B063-28D7-2DFB-2FEBE9F12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BBC08-CF88-587A-72CE-4E0D13ED5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168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53F13-7059-5242-06D2-0E37AF8BF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917C0-524B-7878-79A0-A3AF3830D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842E79-ECA6-C134-701E-AE24B0F49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FCB27F-AF32-CAEA-E2C6-D0DF6CE7C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BE33C-9905-DA48-A18B-AEE3F46D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360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A44D8-584E-D9A4-44F7-345502A9E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79835-87B8-6886-ACBD-0CBFF79FE7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0FFEED-7897-E556-F59C-CD2A69837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C91EC-E654-89F5-1FE0-6D979527C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E3E877-21F5-FA96-0011-C063F3DA9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011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0421A-A454-6547-3D2F-7360DA138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FBCC1-CD42-ADAA-EA20-922E0AEA3F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C57315-E2A7-B538-63D3-7366ED7FB6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F9EA59-F473-5BDB-7B25-0D3BFCD38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D126A-AB23-DF03-414F-E96217839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CBB2C-DB27-DCE2-2ED7-C7792344B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286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BEEE5-46BB-9514-10C6-A84C2532C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EB996-6E89-1D99-8795-70AFE02E50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89614D-AD63-0EC3-8C21-B95E6B4AC4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36C0A-65DE-A094-BD44-A89836655A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BCABE7-CEEA-E344-D246-741854D2FD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CF58D4-5FF9-CC17-992C-B1F469923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D04B26-5E39-BCEA-BBAC-D9A468D26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03359C-9750-A626-3603-6A4E20998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647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62137-B407-A7B0-73FA-DF10CD616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3DA745-DC16-6C68-A4C3-3CD8D5689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B9E2-F69B-20B1-5459-B7FE5810E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F886C6-062F-7C84-6656-029070EE2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03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43691C-9D1F-37E3-8D1E-A0DF31088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372E8E-EB40-B0CC-238D-2DC6FDAFA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5A460-90E3-7E73-AF58-34AF5B568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19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26E0E-203D-E6EA-3DC3-5420BF183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72BB3-0E81-C1F9-E7DC-9CA874FFC2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A6BC9D-6D5C-50C4-702E-79082DF06E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12A60B-7EBE-18C2-53A2-5605F5C71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B61824-74FF-5110-6953-5026374E9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D5BFE2-6E87-23E7-862B-A7492E23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009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88B50-4F67-40DB-D0F9-B6816D14D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D0DFC2-412A-58CD-6D14-859244950B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E17F65-890A-5DFB-BC5A-E28EA07569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01E1F1-8B6A-EC35-322D-CB8E139CC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348BEB-C1AB-6CEC-5F33-81763794E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9ABE9-F4A6-EDF3-FA18-5E7097322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929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26FFA-B4D1-72EC-C555-99DD64A29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0319A-CDFE-EFE1-08AB-070160FA3E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80201-5885-404E-7024-58B5D10B0B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D594BF-CA77-7B6A-270E-B42F4292A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9B689-1A72-72D1-79F8-714FE06D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2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EDD80FA-9F41-6FF4-3DA0-85375DC04A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39232C-63D9-EB05-3E81-E2315FE14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3EA60-F9D8-9089-91FC-475CDD336E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0EB345-8B83-D77A-ECEC-B325F5CFE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6568EA-54FE-9C5D-C3F6-5117ED80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608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3E6E47-B7E1-59B7-AD66-454E97E73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2E2313-044D-DC8A-204E-612E0EA45D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22163-FCBC-2B57-F4DE-F4EBD1E4F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8109F9-684E-4DEA-AE0F-481DBE7BA6B5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461C-B2D9-066B-034C-E32F50F9E4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F756-0052-E5A8-2A8D-DE24B5808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8A778-60D7-46EF-B10B-9C3C0C0AFE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30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F3FFB-1D4F-1265-9711-9E6F53323C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Interim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581EB7-3AA0-EF71-BDF5-06D46459054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 1</a:t>
            </a:r>
          </a:p>
          <a:p>
            <a:r>
              <a:rPr lang="en-US" dirty="0"/>
              <a:t>Ezra Weible</a:t>
            </a:r>
          </a:p>
          <a:p>
            <a:r>
              <a:rPr lang="en-US" dirty="0"/>
              <a:t>18 February 2026</a:t>
            </a:r>
          </a:p>
        </p:txBody>
      </p:sp>
    </p:spTree>
    <p:extLst>
      <p:ext uri="{BB962C8B-B14F-4D97-AF65-F5344CB8AC3E}">
        <p14:creationId xmlns:p14="http://schemas.microsoft.com/office/powerpoint/2010/main" val="14898661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8FA23-D7FB-336E-27D3-D22A653A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EC1C9-F0BB-944E-104A-1C46C5D25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8"/>
            <a:ext cx="525364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Does baseline hard drug use affect treatment response two years after initiating HAART?</a:t>
            </a:r>
          </a:p>
          <a:p>
            <a:pPr lvl="1"/>
            <a:r>
              <a:rPr lang="en-US" dirty="0"/>
              <a:t>Outcomes: viral load (log10 scale), CD4 count, physical and mental quality of life</a:t>
            </a:r>
          </a:p>
          <a:p>
            <a:pPr lvl="1"/>
            <a:r>
              <a:rPr lang="en-US" dirty="0"/>
              <a:t>Null Hypothesis: No difference in year-2 response between baseline hard drug users and non-users</a:t>
            </a:r>
          </a:p>
          <a:p>
            <a:r>
              <a:rPr lang="en-US" dirty="0"/>
              <a:t>Clinically meaningful differences: </a:t>
            </a:r>
          </a:p>
          <a:p>
            <a:pPr lvl="1"/>
            <a:r>
              <a:rPr lang="en-US" dirty="0"/>
              <a:t>Viral Load: 0.5 log10 change</a:t>
            </a:r>
          </a:p>
          <a:p>
            <a:pPr lvl="1"/>
            <a:r>
              <a:rPr lang="en-US" dirty="0"/>
              <a:t>CD4 count: 50 cell change</a:t>
            </a:r>
          </a:p>
          <a:p>
            <a:pPr lvl="1"/>
            <a:r>
              <a:rPr lang="en-US" dirty="0"/>
              <a:t>QoL: 2 point change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908AD0-3AAB-40FF-B6EA-B08760851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885" y="1689591"/>
            <a:ext cx="7097115" cy="435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421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AC0159E-8D1F-4D51-A052-DB93628CE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317" y="3040966"/>
            <a:ext cx="5680617" cy="37634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944C85-5A76-96FD-50F8-486CF4A0F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604" y="32415"/>
            <a:ext cx="3837527" cy="1325563"/>
          </a:xfrm>
        </p:spPr>
        <p:txBody>
          <a:bodyPr/>
          <a:lstStyle/>
          <a:p>
            <a:pPr algn="ctr"/>
            <a:r>
              <a:rPr lang="en-US" dirty="0"/>
              <a:t>Data Overview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A07D77-2269-D274-738F-B2444736DC13}"/>
              </a:ext>
            </a:extLst>
          </p:cNvPr>
          <p:cNvSpPr txBox="1"/>
          <p:nvPr/>
        </p:nvSpPr>
        <p:spPr>
          <a:xfrm>
            <a:off x="6344317" y="1173312"/>
            <a:ext cx="5790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*</a:t>
            </a:r>
            <a:r>
              <a:rPr lang="en-US" dirty="0"/>
              <a:t>Collapsed to 2 categories each based on sample sizes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C99FA2-AA1A-1222-EE9C-76ACA2259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03500"/>
            <a:ext cx="6039774" cy="63545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AB8A822-D31F-B0D8-A93B-8FA4DA1E44A5}"/>
              </a:ext>
            </a:extLst>
          </p:cNvPr>
          <p:cNvSpPr txBox="1"/>
          <p:nvPr/>
        </p:nvSpPr>
        <p:spPr>
          <a:xfrm>
            <a:off x="-112962" y="4922671"/>
            <a:ext cx="30008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*</a:t>
            </a:r>
          </a:p>
          <a:p>
            <a:endParaRPr lang="en-US" b="1" dirty="0"/>
          </a:p>
          <a:p>
            <a:r>
              <a:rPr lang="en-US" b="1" dirty="0"/>
              <a:t>*</a:t>
            </a:r>
            <a:br>
              <a:rPr lang="en-US" b="1" dirty="0"/>
            </a:br>
            <a:br>
              <a:rPr lang="en-US" b="1" dirty="0"/>
            </a:br>
            <a:r>
              <a:rPr lang="en-US" b="1" dirty="0"/>
              <a:t>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8B4911-AAF2-73BA-87E9-8638E6A10DB3}"/>
              </a:ext>
            </a:extLst>
          </p:cNvPr>
          <p:cNvSpPr txBox="1"/>
          <p:nvPr/>
        </p:nvSpPr>
        <p:spPr>
          <a:xfrm>
            <a:off x="8383979" y="1904190"/>
            <a:ext cx="380802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/>
              <a:t>476 subjects had all outcomes for baseline and year 2 and had baseline hard drug use reported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DFA17A8-8C28-A290-AA5A-52FF2677DB26}"/>
              </a:ext>
            </a:extLst>
          </p:cNvPr>
          <p:cNvCxnSpPr>
            <a:cxnSpLocks/>
          </p:cNvCxnSpPr>
          <p:nvPr/>
        </p:nvCxnSpPr>
        <p:spPr>
          <a:xfrm>
            <a:off x="11404927" y="2754114"/>
            <a:ext cx="0" cy="5571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94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690ED-9EC5-81B9-6EA0-E2C6334C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EFC7C-B8E2-9815-0785-07C41A83F2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834" y="1690688"/>
            <a:ext cx="5257800" cy="359245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u="sng" dirty="0"/>
              <a:t>Frequentist Analysis</a:t>
            </a:r>
          </a:p>
          <a:p>
            <a:r>
              <a:rPr lang="en-US" dirty="0"/>
              <a:t>Linear regression of transformed Year‑2 outcome</a:t>
            </a:r>
          </a:p>
          <a:p>
            <a:pPr lvl="1"/>
            <a:r>
              <a:rPr lang="en-US" dirty="0"/>
              <a:t>Predictors (Baseline): hard drug use, outcome, age, BMI, smoking, education, race/ethnicity</a:t>
            </a:r>
          </a:p>
          <a:p>
            <a:pPr lvl="1"/>
            <a:r>
              <a:rPr lang="en-US" dirty="0"/>
              <a:t>Adherence to explore mediation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A0B9CA7-7627-123E-63F2-85DB6FE33D39}"/>
                  </a:ext>
                </a:extLst>
              </p:cNvPr>
              <p:cNvSpPr txBox="1"/>
              <p:nvPr/>
            </p:nvSpPr>
            <p:spPr>
              <a:xfrm>
                <a:off x="6259369" y="1703301"/>
                <a:ext cx="5257798" cy="35924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u="sng" dirty="0"/>
                  <a:t>Bayesian Analysis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Same regression structure as frequentist models in STAN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Vaguely informative priors: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Coefficients: N(0, 1000)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Error: Half‑Normal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For instance: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latin typeface="Cambria Math" panose="02040503050406030204" pitchFamily="18" charset="0"/>
                      </a:rPr>
                      <m:t>log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VLOAD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 =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Baseline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+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1" dirty="0" smtClean="0">
                        <a:latin typeface="Cambria Math" panose="02040503050406030204" pitchFamily="18" charset="0"/>
                      </a:rPr>
                      <m:t>Age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+ …+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A0B9CA7-7627-123E-63F2-85DB6FE33D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9369" y="1703301"/>
                <a:ext cx="5257798" cy="3592458"/>
              </a:xfrm>
              <a:prstGeom prst="rect">
                <a:avLst/>
              </a:prstGeom>
              <a:blipFill>
                <a:blip r:embed="rId3"/>
                <a:stretch>
                  <a:fillRect l="-2436" t="-1695" b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49627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875</TotalTime>
  <Words>539</Words>
  <Application>Microsoft Office PowerPoint</Application>
  <PresentationFormat>Widescreen</PresentationFormat>
  <Paragraphs>45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Interim Presentation</vt:lpstr>
      <vt:lpstr>Research Question</vt:lpstr>
      <vt:lpstr>Data Overview</vt:lpstr>
      <vt:lpstr>Analysis Plan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Weible, Ezra</dc:creator>
  <cp:lastModifiedBy>Weible, Ezra</cp:lastModifiedBy>
  <cp:revision>1</cp:revision>
  <dcterms:created xsi:type="dcterms:W3CDTF">2026-02-12T20:50:33Z</dcterms:created>
  <dcterms:modified xsi:type="dcterms:W3CDTF">2026-02-18T20:19:24Z</dcterms:modified>
</cp:coreProperties>
</file>