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0725BC-7499-49D0-82A8-4C264E3F6C5A}" v="269" dt="2026-02-17T20:20:35.75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8176" autoAdjust="0"/>
  </p:normalViewPr>
  <p:slideViewPr>
    <p:cSldViewPr snapToGrid="0">
      <p:cViewPr varScale="1">
        <p:scale>
          <a:sx n="81" d="100"/>
          <a:sy n="81" d="100"/>
        </p:scale>
        <p:origin x="114" y="13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zra Weible" userId="67bcaf2f89c4552e" providerId="LiveId" clId="{E4E19776-AA89-4579-B0CB-50FEF10C4E93}"/>
    <pc:docChg chg="undo custSel modSld">
      <pc:chgData name="Ezra Weible" userId="67bcaf2f89c4552e" providerId="LiveId" clId="{E4E19776-AA89-4579-B0CB-50FEF10C4E93}" dt="2026-02-17T20:26:02.120" v="6075" actId="20577"/>
      <pc:docMkLst>
        <pc:docMk/>
      </pc:docMkLst>
      <pc:sldChg chg="addSp delSp modSp mod modNotesTx">
        <pc:chgData name="Ezra Weible" userId="67bcaf2f89c4552e" providerId="LiveId" clId="{E4E19776-AA89-4579-B0CB-50FEF10C4E93}" dt="2026-02-17T20:26:02.120" v="6075" actId="20577"/>
        <pc:sldMkLst>
          <pc:docMk/>
          <pc:sldMk cId="3886421937" sldId="257"/>
        </pc:sldMkLst>
        <pc:spChg chg="mod">
          <ac:chgData name="Ezra Weible" userId="67bcaf2f89c4552e" providerId="LiveId" clId="{E4E19776-AA89-4579-B0CB-50FEF10C4E93}" dt="2026-02-17T20:26:02.120" v="6075" actId="20577"/>
          <ac:spMkLst>
            <pc:docMk/>
            <pc:sldMk cId="3886421937" sldId="257"/>
            <ac:spMk id="3" creationId="{3DDEC1C9-F0BB-944E-104A-1C46C5D25AF4}"/>
          </ac:spMkLst>
        </pc:spChg>
        <pc:picChg chg="add del mod">
          <ac:chgData name="Ezra Weible" userId="67bcaf2f89c4552e" providerId="LiveId" clId="{E4E19776-AA89-4579-B0CB-50FEF10C4E93}" dt="2026-02-17T20:14:14.366" v="5756" actId="478"/>
          <ac:picMkLst>
            <pc:docMk/>
            <pc:sldMk cId="3886421937" sldId="257"/>
            <ac:picMk id="5" creationId="{1B7DAEF3-D52A-B7B7-322E-B5A524C16D2B}"/>
          </ac:picMkLst>
        </pc:picChg>
        <pc:picChg chg="add mod">
          <ac:chgData name="Ezra Weible" userId="67bcaf2f89c4552e" providerId="LiveId" clId="{E4E19776-AA89-4579-B0CB-50FEF10C4E93}" dt="2026-02-17T20:20:43.557" v="5793" actId="1076"/>
          <ac:picMkLst>
            <pc:docMk/>
            <pc:sldMk cId="3886421937" sldId="257"/>
            <ac:picMk id="8" creationId="{4B908AD0-3AAB-40FF-B6EA-B08760851026}"/>
          </ac:picMkLst>
        </pc:picChg>
      </pc:sldChg>
      <pc:sldChg chg="addSp delSp modSp mod modNotesTx">
        <pc:chgData name="Ezra Weible" userId="67bcaf2f89c4552e" providerId="LiveId" clId="{E4E19776-AA89-4579-B0CB-50FEF10C4E93}" dt="2026-02-17T20:24:55.666" v="6073" actId="14100"/>
        <pc:sldMkLst>
          <pc:docMk/>
          <pc:sldMk cId="3662945949" sldId="258"/>
        </pc:sldMkLst>
        <pc:spChg chg="mod">
          <ac:chgData name="Ezra Weible" userId="67bcaf2f89c4552e" providerId="LiveId" clId="{E4E19776-AA89-4579-B0CB-50FEF10C4E93}" dt="2026-02-17T19:59:12.233" v="5717" actId="1076"/>
          <ac:spMkLst>
            <pc:docMk/>
            <pc:sldMk cId="3662945949" sldId="258"/>
            <ac:spMk id="2" creationId="{B2944C85-5A76-96FD-50F8-486CF4A0FFFA}"/>
          </ac:spMkLst>
        </pc:spChg>
        <pc:spChg chg="add mod">
          <ac:chgData name="Ezra Weible" userId="67bcaf2f89c4552e" providerId="LiveId" clId="{E4E19776-AA89-4579-B0CB-50FEF10C4E93}" dt="2026-02-17T20:24:32.330" v="6066" actId="14100"/>
          <ac:spMkLst>
            <pc:docMk/>
            <pc:sldMk cId="3662945949" sldId="258"/>
            <ac:spMk id="10" creationId="{278B4911-AAF2-73BA-87E9-8638E6A10DB3}"/>
          </ac:spMkLst>
        </pc:spChg>
        <pc:spChg chg="add mod ord">
          <ac:chgData name="Ezra Weible" userId="67bcaf2f89c4552e" providerId="LiveId" clId="{E4E19776-AA89-4579-B0CB-50FEF10C4E93}" dt="2026-02-17T20:22:16.510" v="5884" actId="113"/>
          <ac:spMkLst>
            <pc:docMk/>
            <pc:sldMk cId="3662945949" sldId="258"/>
            <ac:spMk id="20" creationId="{EAB8A822-D31F-B0D8-A93B-8FA4DA1E44A5}"/>
          </ac:spMkLst>
        </pc:spChg>
        <pc:spChg chg="add mod">
          <ac:chgData name="Ezra Weible" userId="67bcaf2f89c4552e" providerId="LiveId" clId="{E4E19776-AA89-4579-B0CB-50FEF10C4E93}" dt="2026-02-17T20:24:17.771" v="6061" actId="20577"/>
          <ac:spMkLst>
            <pc:docMk/>
            <pc:sldMk cId="3662945949" sldId="258"/>
            <ac:spMk id="21" creationId="{CCA07D77-2269-D274-738F-B2444736DC13}"/>
          </ac:spMkLst>
        </pc:spChg>
        <pc:picChg chg="add mod">
          <ac:chgData name="Ezra Weible" userId="67bcaf2f89c4552e" providerId="LiveId" clId="{E4E19776-AA89-4579-B0CB-50FEF10C4E93}" dt="2026-02-17T19:58:52.272" v="5710" actId="1076"/>
          <ac:picMkLst>
            <pc:docMk/>
            <pc:sldMk cId="3662945949" sldId="258"/>
            <ac:picMk id="4" creationId="{36C99FA2-AA1A-1222-EE9C-76ACA2259E4D}"/>
          </ac:picMkLst>
        </pc:picChg>
        <pc:picChg chg="add mod">
          <ac:chgData name="Ezra Weible" userId="67bcaf2f89c4552e" providerId="LiveId" clId="{E4E19776-AA89-4579-B0CB-50FEF10C4E93}" dt="2026-02-17T20:23:09.394" v="5885" actId="1076"/>
          <ac:picMkLst>
            <pc:docMk/>
            <pc:sldMk cId="3662945949" sldId="258"/>
            <ac:picMk id="6" creationId="{3698F797-99D5-55AE-64B7-C8D9D554F3D1}"/>
          </ac:picMkLst>
        </pc:picChg>
        <pc:picChg chg="add del mod">
          <ac:chgData name="Ezra Weible" userId="67bcaf2f89c4552e" providerId="LiveId" clId="{E4E19776-AA89-4579-B0CB-50FEF10C4E93}" dt="2026-02-17T20:20:34.285" v="5788" actId="21"/>
          <ac:picMkLst>
            <pc:docMk/>
            <pc:sldMk cId="3662945949" sldId="258"/>
            <ac:picMk id="8" creationId="{4B908AD0-3AAB-40FF-B6EA-B08760851026}"/>
          </ac:picMkLst>
        </pc:picChg>
        <pc:picChg chg="add del mod ord">
          <ac:chgData name="Ezra Weible" userId="67bcaf2f89c4552e" providerId="LiveId" clId="{E4E19776-AA89-4579-B0CB-50FEF10C4E93}" dt="2026-02-17T19:57:14.643" v="5681" actId="478"/>
          <ac:picMkLst>
            <pc:docMk/>
            <pc:sldMk cId="3662945949" sldId="258"/>
            <ac:picMk id="11" creationId="{B2BF5342-131E-EB3E-3169-6DD82DFDCDE9}"/>
          </ac:picMkLst>
        </pc:picChg>
        <pc:picChg chg="add del mod">
          <ac:chgData name="Ezra Weible" userId="67bcaf2f89c4552e" providerId="LiveId" clId="{E4E19776-AA89-4579-B0CB-50FEF10C4E93}" dt="2026-02-17T19:57:20.475" v="5684" actId="478"/>
          <ac:picMkLst>
            <pc:docMk/>
            <pc:sldMk cId="3662945949" sldId="258"/>
            <ac:picMk id="13" creationId="{A724020F-087C-E959-22EB-02FDD6174327}"/>
          </ac:picMkLst>
        </pc:picChg>
        <pc:picChg chg="add del mod">
          <ac:chgData name="Ezra Weible" userId="67bcaf2f89c4552e" providerId="LiveId" clId="{E4E19776-AA89-4579-B0CB-50FEF10C4E93}" dt="2026-02-17T19:57:28.033" v="5688" actId="478"/>
          <ac:picMkLst>
            <pc:docMk/>
            <pc:sldMk cId="3662945949" sldId="258"/>
            <ac:picMk id="19" creationId="{C2ED6D3E-DFC8-1B6E-88DE-AB334EF38F03}"/>
          </ac:picMkLst>
        </pc:picChg>
        <pc:cxnChg chg="add mod">
          <ac:chgData name="Ezra Weible" userId="67bcaf2f89c4552e" providerId="LiveId" clId="{E4E19776-AA89-4579-B0CB-50FEF10C4E93}" dt="2026-02-17T20:24:55.666" v="6073" actId="14100"/>
          <ac:cxnSpMkLst>
            <pc:docMk/>
            <pc:sldMk cId="3662945949" sldId="258"/>
            <ac:cxnSpMk id="14" creationId="{FDFA17A8-8C28-A290-AA5A-52FF2677DB26}"/>
          </ac:cxnSpMkLst>
        </pc:cxnChg>
      </pc:sldChg>
      <pc:sldChg chg="delSp modSp mod modNotesTx">
        <pc:chgData name="Ezra Weible" userId="67bcaf2f89c4552e" providerId="LiveId" clId="{E4E19776-AA89-4579-B0CB-50FEF10C4E93}" dt="2026-02-13T19:54:04.645" v="5652" actId="20577"/>
        <pc:sldMkLst>
          <pc:docMk/>
          <pc:sldMk cId="1644962775" sldId="259"/>
        </pc:sldMkLst>
        <pc:spChg chg="mod">
          <ac:chgData name="Ezra Weible" userId="67bcaf2f89c4552e" providerId="LiveId" clId="{E4E19776-AA89-4579-B0CB-50FEF10C4E93}" dt="2026-02-13T18:56:02.727" v="843" actId="20577"/>
          <ac:spMkLst>
            <pc:docMk/>
            <pc:sldMk cId="1644962775" sldId="259"/>
            <ac:spMk id="3" creationId="{10DEFC7C-B8E2-9815-0785-07C41A83F29F}"/>
          </ac:spMkLst>
        </pc:spChg>
        <pc:spChg chg="mod">
          <ac:chgData name="Ezra Weible" userId="67bcaf2f89c4552e" providerId="LiveId" clId="{E4E19776-AA89-4579-B0CB-50FEF10C4E93}" dt="2026-02-12T23:52:10.421" v="831" actId="20577"/>
          <ac:spMkLst>
            <pc:docMk/>
            <pc:sldMk cId="1644962775" sldId="259"/>
            <ac:spMk id="4" creationId="{3A0B9CA7-7627-123E-63F2-85DB6FE33D3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7409C4-0A53-4704-96BE-B691B3C0F1E4}" type="datetimeFigureOut">
              <a:rPr lang="en-US" smtClean="0"/>
              <a:t>2/17/2026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D2BE1A-52B3-4E0A-AE6E-FEFEFB71A999}" type="slidenum">
              <a:rPr lang="en-US" smtClean="0"/>
              <a:t>‹#›</a:t>
            </a:fld>
            <a:endParaRPr lang="en-US"/>
          </a:p>
        </p:txBody>
      </p:sp>
    </p:spTree>
    <p:extLst>
      <p:ext uri="{BB962C8B-B14F-4D97-AF65-F5344CB8AC3E}">
        <p14:creationId xmlns:p14="http://schemas.microsoft.com/office/powerpoint/2010/main" val="3473513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frequentist and </a:t>
            </a:r>
            <a:r>
              <a:rPr lang="en-US" dirty="0" err="1"/>
              <a:t>bayesian</a:t>
            </a:r>
            <a:r>
              <a:rPr lang="en-US" dirty="0"/>
              <a:t> approaches- Outcomes: viral load (log10 scale, no need to back transform), CD4 count, physical and mental quality of life- Predictors (Baseline): hard drug use, outcome, age, BMI, smoking, education, race/ethnicity  - Collapse smoking into current and former/non, collapse education to no college degree and college degree and above, collapse race/ethnicity to white </a:t>
            </a:r>
            <a:r>
              <a:rPr lang="en-US" dirty="0" err="1"/>
              <a:t>nonhisp</a:t>
            </a:r>
            <a:r>
              <a:rPr lang="en-US" dirty="0"/>
              <a:t> and other (ensures reasonable number of subjects in each group, otherwise may have few to no subjects in some groups)  - Adherence to explore mediation (Model with and without and see what happens even if there is not a difference between HD use)- Frequentist: linear regression of year 2 outcomes  - Report unadjusted </a:t>
            </a:r>
            <a:r>
              <a:rPr lang="en-US" dirty="0" err="1"/>
              <a:t>pval</a:t>
            </a:r>
            <a:r>
              <a:rPr lang="en-US" dirty="0"/>
              <a:t>, especially as you can’t adjust for Bayesian since there are not </a:t>
            </a:r>
            <a:r>
              <a:rPr lang="en-US" dirty="0" err="1"/>
              <a:t>pvalues</a:t>
            </a:r>
            <a:r>
              <a:rPr lang="en-US" dirty="0"/>
              <a:t> there. Make sure to note that 4 outcomes were modeled.- Bayesian: Same regression structure as frequentist models (use STAN)  - Vaguely informative priors:  - Coefficients: N(0, 1000)    - Think about centering intercept or not but for 1000 not super important. In report, make sure to talk about how you decided on the priors (chose coefficients because big variance and no big influence due to lack of prior information, centered at zero which may not make sense for intercept but variance mitigates the issues with this).  - Error: Half‑Normal- Check for different patterns of missingness/dropout by outcome  - Did that differ between HD use or not? Are you worried about biased results?  - Data cleaning  - BMI: -1 (improbable, make NA), 999 (insufficient, make NA). </a:t>
            </a:r>
            <a:r>
              <a:rPr lang="en-US"/>
              <a:t>515/514 values make NA (error)  - Only keep subjects who have all outcome values for baseline and year 2 and baseline hard drug use reported (476)  - Clinically meaningful differences (two-sided):   - VLOAD: 0.5 log10 change   - CD4: change of 50 cells   - QoL: 2 point change</a:t>
            </a:r>
          </a:p>
        </p:txBody>
      </p:sp>
      <p:sp>
        <p:nvSpPr>
          <p:cNvPr id="4" name="Slide Number Placeholder 3"/>
          <p:cNvSpPr>
            <a:spLocks noGrp="1"/>
          </p:cNvSpPr>
          <p:nvPr>
            <p:ph type="sldNum" sz="quarter" idx="5"/>
          </p:nvPr>
        </p:nvSpPr>
        <p:spPr/>
        <p:txBody>
          <a:bodyPr/>
          <a:lstStyle/>
          <a:p>
            <a:fld id="{4DD2BE1A-52B3-4E0A-AE6E-FEFEFB71A999}" type="slidenum">
              <a:rPr lang="en-US" smtClean="0"/>
              <a:t>1</a:t>
            </a:fld>
            <a:endParaRPr lang="en-US"/>
          </a:p>
        </p:txBody>
      </p:sp>
    </p:spTree>
    <p:extLst>
      <p:ext uri="{BB962C8B-B14F-4D97-AF65-F5344CB8AC3E}">
        <p14:creationId xmlns:p14="http://schemas.microsoft.com/office/powerpoint/2010/main" val="2551091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Clinician talks about VLOAD in terms of log10 anyways rather than natural log. Don’t need to back transform, log10 would be understandable for interpretation. </a:t>
            </a:r>
          </a:p>
          <a:p>
            <a:r>
              <a:rPr lang="en-US" dirty="0"/>
              <a:t>Look at the marginal distributions after covariates. Obviously VLOAD needs a transformation, very clear. Look at residual plots to see if a transformation is necessary after the covariates. CLT </a:t>
            </a:r>
          </a:p>
          <a:p>
            <a:endParaRPr lang="en-US" dirty="0"/>
          </a:p>
          <a:p>
            <a:r>
              <a:rPr lang="en-US" dirty="0"/>
              <a:t>Main question is the difference in year 2 between the groups (this is fine). We assume that the treatment is working/doing something. But, it has been 2 years, so maybe staying stable is a good treatment response since they are not getting worse, as this shows stability. So, we don’t care if there is a statistically significant change across years, focusing more on the difference between the hard drug users and others.</a:t>
            </a:r>
          </a:p>
          <a:p>
            <a:endParaRPr lang="en-US" dirty="0"/>
          </a:p>
          <a:p>
            <a:r>
              <a:rPr lang="en-US" dirty="0"/>
              <a:t>Clinically meaningful differences (two-sided): </a:t>
            </a:r>
          </a:p>
          <a:p>
            <a:pPr marL="171450" indent="-171450">
              <a:buFontTx/>
              <a:buChar char="-"/>
            </a:pPr>
            <a:r>
              <a:rPr lang="en-US" dirty="0"/>
              <a:t>QoL: 2 point change</a:t>
            </a:r>
          </a:p>
          <a:p>
            <a:pPr marL="171450" indent="-171450">
              <a:buFontTx/>
              <a:buChar char="-"/>
            </a:pPr>
            <a:r>
              <a:rPr lang="en-US" dirty="0"/>
              <a:t>CD4: change of 50 cells per ___ mL^3</a:t>
            </a:r>
          </a:p>
          <a:p>
            <a:pPr marL="171450" indent="-171450">
              <a:buFontTx/>
              <a:buChar char="-"/>
            </a:pPr>
            <a:r>
              <a:rPr lang="en-US" dirty="0"/>
              <a:t>VLOAD: 0.5 log10 change </a:t>
            </a:r>
          </a:p>
          <a:p>
            <a:pPr marL="171450" indent="-171450">
              <a:buFontTx/>
              <a:buChar char="-"/>
            </a:pPr>
            <a:endParaRPr lang="en-US" dirty="0"/>
          </a:p>
          <a:p>
            <a:pPr marL="0" indent="0">
              <a:buFontTx/>
              <a:buNone/>
            </a:pPr>
            <a:endParaRPr lang="en-US" dirty="0"/>
          </a:p>
        </p:txBody>
      </p:sp>
      <p:sp>
        <p:nvSpPr>
          <p:cNvPr id="4" name="Slide Number Placeholder 3"/>
          <p:cNvSpPr>
            <a:spLocks noGrp="1"/>
          </p:cNvSpPr>
          <p:nvPr>
            <p:ph type="sldNum" sz="quarter" idx="5"/>
          </p:nvPr>
        </p:nvSpPr>
        <p:spPr/>
        <p:txBody>
          <a:bodyPr/>
          <a:lstStyle/>
          <a:p>
            <a:fld id="{4DD2BE1A-52B3-4E0A-AE6E-FEFEFB71A999}" type="slidenum">
              <a:rPr lang="en-US" smtClean="0"/>
              <a:t>2</a:t>
            </a:fld>
            <a:endParaRPr lang="en-US"/>
          </a:p>
        </p:txBody>
      </p:sp>
    </p:spTree>
    <p:extLst>
      <p:ext uri="{BB962C8B-B14F-4D97-AF65-F5344CB8AC3E}">
        <p14:creationId xmlns:p14="http://schemas.microsoft.com/office/powerpoint/2010/main" val="15329151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Collapse education to be completing college and above or not college (combine lower two groups together)</a:t>
            </a:r>
          </a:p>
          <a:p>
            <a:r>
              <a:rPr lang="en-US" dirty="0"/>
              <a:t>Race, combine other and </a:t>
            </a:r>
            <a:r>
              <a:rPr lang="en-US" dirty="0" err="1"/>
              <a:t>black_nonhisp</a:t>
            </a:r>
            <a:r>
              <a:rPr lang="en-US" dirty="0"/>
              <a:t> together to just get other and white </a:t>
            </a:r>
            <a:r>
              <a:rPr lang="en-US" dirty="0" err="1"/>
              <a:t>nonHisp</a:t>
            </a:r>
            <a:r>
              <a:rPr lang="en-US" dirty="0"/>
              <a:t> </a:t>
            </a:r>
          </a:p>
          <a:p>
            <a:r>
              <a:rPr lang="en-US" dirty="0"/>
              <a:t>Add smoke to slides and make sure you don’t need to collapse</a:t>
            </a:r>
          </a:p>
          <a:p>
            <a:r>
              <a:rPr lang="en-US" dirty="0"/>
              <a:t>Reduce baseline groups to only those with Y2 data to aid with collapsing decisions</a:t>
            </a:r>
          </a:p>
        </p:txBody>
      </p:sp>
      <p:sp>
        <p:nvSpPr>
          <p:cNvPr id="4" name="Slide Number Placeholder 3"/>
          <p:cNvSpPr>
            <a:spLocks noGrp="1"/>
          </p:cNvSpPr>
          <p:nvPr>
            <p:ph type="sldNum" sz="quarter" idx="5"/>
          </p:nvPr>
        </p:nvSpPr>
        <p:spPr/>
        <p:txBody>
          <a:bodyPr/>
          <a:lstStyle/>
          <a:p>
            <a:fld id="{4DD2BE1A-52B3-4E0A-AE6E-FEFEFB71A999}" type="slidenum">
              <a:rPr lang="en-US" smtClean="0"/>
              <a:t>3</a:t>
            </a:fld>
            <a:endParaRPr lang="en-US"/>
          </a:p>
        </p:txBody>
      </p:sp>
    </p:spTree>
    <p:extLst>
      <p:ext uri="{BB962C8B-B14F-4D97-AF65-F5344CB8AC3E}">
        <p14:creationId xmlns:p14="http://schemas.microsoft.com/office/powerpoint/2010/main" val="2555879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and baseline as predictor has more power than using a difference as outcome. Difference as outcome and adjusting for baseline in the model has the same outcomes if you control for baseline (mathematical relationship, gives you the same result). Just make sure to control for baseline.</a:t>
            </a:r>
          </a:p>
          <a:p>
            <a:r>
              <a:rPr lang="en-US" dirty="0"/>
              <a:t>Don’t need causal relationship framework. Know rules for identifying mediation/confounding, has to be associated with predictor/outcome, stick in model to see if the results change is OK plan. Model with and without and see what happens even if there is not a difference between HD use (could mask effects) </a:t>
            </a:r>
          </a:p>
          <a:p>
            <a:r>
              <a:rPr lang="en-US" dirty="0"/>
              <a:t>Frequentist helps with validating for Bayesian. Think about centering intercept or not but for 1000 not super important. In report, make sure to talk about how you decided on the priors (chose coefficients because big variance and no big influence due to lack of prior information, centered at zero which may not make sense for intercept but variance mitigates the issues with this). Want to get to place to understand how many subjects have both baseline and y2 data for each outcome (different patterns in missingness across outcomes). How different is the set of individuals for each model and then ask the investigator to aid in decision of who to choose for each model (same across all models or different since there are very different groups of individuals/bigger sample sizes by choices – can send Canvas messages or ask questions in report/presentation)  </a:t>
            </a:r>
          </a:p>
          <a:p>
            <a:endParaRPr lang="en-US" dirty="0"/>
          </a:p>
          <a:p>
            <a:r>
              <a:rPr lang="en-US" dirty="0"/>
              <a:t>BMI: -1 (improbable, exclude), 999 (insufficient, exclude). 515/514 values should be dropped (error and excluded)</a:t>
            </a:r>
          </a:p>
          <a:p>
            <a:endParaRPr lang="en-US" dirty="0"/>
          </a:p>
          <a:p>
            <a:r>
              <a:rPr lang="en-US" dirty="0"/>
              <a:t>Fitting the same model but in two different frameworks and shared methods across the four outcomes (nearly the same model). Frequentist (regular linear regression), Bayesian using these priors and STAN software. Hopefully not too onerous for writeup (don’t get any extra length). </a:t>
            </a:r>
          </a:p>
          <a:p>
            <a:endParaRPr lang="en-US" dirty="0"/>
          </a:p>
          <a:p>
            <a:r>
              <a:rPr lang="en-US" dirty="0"/>
              <a:t>When people are missing QOL, they are missing both outcomes. So those are aligned together. Lab values are typically aligned, but some are just missing </a:t>
            </a:r>
            <a:r>
              <a:rPr lang="en-US" dirty="0" err="1"/>
              <a:t>onr</a:t>
            </a:r>
            <a:r>
              <a:rPr lang="en-US" dirty="0"/>
              <a:t> or the other, but usually they are missing both of the labs. Not a huge number. Would suggest that we keep to a consistent set of subjects that have all 4 outcomes, preliminary outcome of 476. Write up how we got to 476 (think flowchart but not actually as a figure, why did people end up kicked out).</a:t>
            </a:r>
          </a:p>
          <a:p>
            <a:endParaRPr lang="en-US" dirty="0"/>
          </a:p>
          <a:p>
            <a:r>
              <a:rPr lang="en-US" dirty="0"/>
              <a:t>Missing data and dropout are important, can’t analyze y2 outcomes for those that have them. Look at proportion of people who started study how many made it to y2? Did that differ between HD use or not? Are you worried about biased results?  </a:t>
            </a:r>
          </a:p>
          <a:p>
            <a:endParaRPr lang="en-US" dirty="0"/>
          </a:p>
          <a:p>
            <a:endParaRPr lang="en-US" dirty="0"/>
          </a:p>
          <a:p>
            <a:r>
              <a:rPr lang="en-US" dirty="0"/>
              <a:t>Can buy that there is strong correlation between two sets of lab and QoL. We have 4 outcomes, here is unadjusted </a:t>
            </a:r>
            <a:r>
              <a:rPr lang="en-US" dirty="0" err="1"/>
              <a:t>pval</a:t>
            </a:r>
            <a:r>
              <a:rPr lang="en-US" dirty="0"/>
              <a:t> and adjusted </a:t>
            </a:r>
            <a:r>
              <a:rPr lang="en-US" dirty="0" err="1"/>
              <a:t>pval</a:t>
            </a:r>
            <a:r>
              <a:rPr lang="en-US" dirty="0"/>
              <a:t> (e.g. Bonferroni). Definitely need to report the unadjusted </a:t>
            </a:r>
            <a:r>
              <a:rPr lang="en-US" dirty="0" err="1"/>
              <a:t>pvalue</a:t>
            </a:r>
            <a:r>
              <a:rPr lang="en-US" dirty="0"/>
              <a:t>. Just fine to report unadjusted, especially as you can’t adjust for Bayesian since there are not </a:t>
            </a:r>
            <a:r>
              <a:rPr lang="en-US" dirty="0" err="1"/>
              <a:t>pvalues</a:t>
            </a:r>
            <a:r>
              <a:rPr lang="en-US" dirty="0"/>
              <a:t> there. </a:t>
            </a:r>
          </a:p>
        </p:txBody>
      </p:sp>
      <p:sp>
        <p:nvSpPr>
          <p:cNvPr id="4" name="Slide Number Placeholder 3"/>
          <p:cNvSpPr>
            <a:spLocks noGrp="1"/>
          </p:cNvSpPr>
          <p:nvPr>
            <p:ph type="sldNum" sz="quarter" idx="5"/>
          </p:nvPr>
        </p:nvSpPr>
        <p:spPr/>
        <p:txBody>
          <a:bodyPr/>
          <a:lstStyle/>
          <a:p>
            <a:fld id="{4DD2BE1A-52B3-4E0A-AE6E-FEFEFB71A999}" type="slidenum">
              <a:rPr lang="en-US" smtClean="0"/>
              <a:t>4</a:t>
            </a:fld>
            <a:endParaRPr lang="en-US"/>
          </a:p>
        </p:txBody>
      </p:sp>
    </p:spTree>
    <p:extLst>
      <p:ext uri="{BB962C8B-B14F-4D97-AF65-F5344CB8AC3E}">
        <p14:creationId xmlns:p14="http://schemas.microsoft.com/office/powerpoint/2010/main" val="3779724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44413-64B6-31B8-AE5F-B9C62D92E1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F82AE6-F71F-85B9-DFCD-C2F2418344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D4E1D1B-6EFE-6052-7C83-5C44BF27803F}"/>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5" name="Footer Placeholder 4">
            <a:extLst>
              <a:ext uri="{FF2B5EF4-FFF2-40B4-BE49-F238E27FC236}">
                <a16:creationId xmlns:a16="http://schemas.microsoft.com/office/drawing/2014/main" id="{AD35A4B3-B063-28D7-2DFB-2FEBE9F12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1BBC08-CF88-587A-72CE-4E0D13ED533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419168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53F13-7059-5242-06D2-0E37AF8BF6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9917C0-524B-7878-79A0-A3AF3830D9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842E79-ECA6-C134-701E-AE24B0F49980}"/>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5" name="Footer Placeholder 4">
            <a:extLst>
              <a:ext uri="{FF2B5EF4-FFF2-40B4-BE49-F238E27FC236}">
                <a16:creationId xmlns:a16="http://schemas.microsoft.com/office/drawing/2014/main" id="{99FCB27F-AF32-CAEA-E2C6-D0DF6CE7C8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9BE33C-9905-DA48-A18B-AEE3F46DD6F3}"/>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2013607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A44D8-584E-D9A4-44F7-345502A9E2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879835-87B8-6886-ACBD-0CBFF79FE7F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0FFEED-7897-E556-F59C-CD2A698375AD}"/>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5" name="Footer Placeholder 4">
            <a:extLst>
              <a:ext uri="{FF2B5EF4-FFF2-40B4-BE49-F238E27FC236}">
                <a16:creationId xmlns:a16="http://schemas.microsoft.com/office/drawing/2014/main" id="{554C91EC-E654-89F5-1FE0-6D979527CC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E3E877-21F5-FA96-0011-C063F3DA9E5D}"/>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120011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0421A-A454-6547-3D2F-7360DA1388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38FBCC1-CD42-ADAA-EA20-922E0AEA3F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9C57315-E2A7-B538-63D3-7366ED7FB6C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1F9EA59-F473-5BDB-7B25-0D3BFCD3803B}"/>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6" name="Footer Placeholder 5">
            <a:extLst>
              <a:ext uri="{FF2B5EF4-FFF2-40B4-BE49-F238E27FC236}">
                <a16:creationId xmlns:a16="http://schemas.microsoft.com/office/drawing/2014/main" id="{09BD126A-AB23-DF03-414F-E962178394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3CBB2C-DB27-DCE2-2ED7-C7792344B87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6572866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BEEE5-46BB-9514-10C6-A84C2532CE3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2FEB996-6E89-1D99-8795-70AFE02E50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89614D-AD63-0EC3-8C21-B95E6B4AC4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D36C0A-65DE-A094-BD44-A89836655A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BCABE7-CEEA-E344-D246-741854D2FD2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DCF58D4-5FF9-CC17-992C-B1F469923023}"/>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8" name="Footer Placeholder 7">
            <a:extLst>
              <a:ext uri="{FF2B5EF4-FFF2-40B4-BE49-F238E27FC236}">
                <a16:creationId xmlns:a16="http://schemas.microsoft.com/office/drawing/2014/main" id="{64D04B26-5E39-BCEA-BBAC-D9A468D268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03359C-9750-A626-3603-6A4E20998C2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4252647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62137-B407-A7B0-73FA-DF10CD6166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3DA745-DC16-6C68-A4C3-3CD8D56898F9}"/>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4" name="Footer Placeholder 3">
            <a:extLst>
              <a:ext uri="{FF2B5EF4-FFF2-40B4-BE49-F238E27FC236}">
                <a16:creationId xmlns:a16="http://schemas.microsoft.com/office/drawing/2014/main" id="{885DB9E2-F69B-20B1-5459-B7FE5810E3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6F886C6-062F-7C84-6656-029070EE2B41}"/>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202603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843691C-9D1F-37E3-8D1E-A0DF310882DB}"/>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3" name="Footer Placeholder 2">
            <a:extLst>
              <a:ext uri="{FF2B5EF4-FFF2-40B4-BE49-F238E27FC236}">
                <a16:creationId xmlns:a16="http://schemas.microsoft.com/office/drawing/2014/main" id="{30372E8E-EB40-B0CC-238D-2DC6FDAFA92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D05A460-90E3-7E73-AF58-34AF5B5688D7}"/>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43619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26E0E-203D-E6EA-3DC3-5420BF1836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7D72BB3-0E81-C1F9-E7DC-9CA874FFC2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DA6BC9D-6D5C-50C4-702E-79082DF06E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C12A60B-7EBE-18C2-53A2-5605F5C71DAA}"/>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6" name="Footer Placeholder 5">
            <a:extLst>
              <a:ext uri="{FF2B5EF4-FFF2-40B4-BE49-F238E27FC236}">
                <a16:creationId xmlns:a16="http://schemas.microsoft.com/office/drawing/2014/main" id="{69B61824-74FF-5110-6953-5026374E9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ED5BFE2-6E87-23E7-862B-A7492E239002}"/>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16410091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B88B50-4F67-40DB-D0F9-B6816D14DB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7D0DFC2-412A-58CD-6D14-859244950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8E17F65-890A-5DFB-BC5A-E28EA07569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01E1F1-8B6A-EC35-322D-CB8E139CCBE6}"/>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6" name="Footer Placeholder 5">
            <a:extLst>
              <a:ext uri="{FF2B5EF4-FFF2-40B4-BE49-F238E27FC236}">
                <a16:creationId xmlns:a16="http://schemas.microsoft.com/office/drawing/2014/main" id="{1A348BEB-C1AB-6CEC-5F33-81763794E2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39ABE9-F4A6-EDF3-FA18-5E7097322590}"/>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3584929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26FFA-B4D1-72EC-C555-99DD64A29F1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090319A-CDFE-EFE1-08AB-070160FA3E7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C80201-5885-404E-7024-58B5D10B0BE9}"/>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5" name="Footer Placeholder 4">
            <a:extLst>
              <a:ext uri="{FF2B5EF4-FFF2-40B4-BE49-F238E27FC236}">
                <a16:creationId xmlns:a16="http://schemas.microsoft.com/office/drawing/2014/main" id="{1CD594BF-CA77-7B6A-270E-B42F4292AE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89B689-1A72-72D1-79F8-714FE06DF35F}"/>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13542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DD80FA-9F41-6FF4-3DA0-85375DC04A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639232C-63D9-EB05-3E81-E2315FE148C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93EA60-F9D8-9089-91FC-475CDD336E47}"/>
              </a:ext>
            </a:extLst>
          </p:cNvPr>
          <p:cNvSpPr>
            <a:spLocks noGrp="1"/>
          </p:cNvSpPr>
          <p:nvPr>
            <p:ph type="dt" sz="half" idx="10"/>
          </p:nvPr>
        </p:nvSpPr>
        <p:spPr/>
        <p:txBody>
          <a:bodyPr/>
          <a:lstStyle/>
          <a:p>
            <a:fld id="{C48109F9-684E-4DEA-AE0F-481DBE7BA6B5}" type="datetimeFigureOut">
              <a:rPr lang="en-US" smtClean="0"/>
              <a:t>2/17/2026</a:t>
            </a:fld>
            <a:endParaRPr lang="en-US"/>
          </a:p>
        </p:txBody>
      </p:sp>
      <p:sp>
        <p:nvSpPr>
          <p:cNvPr id="5" name="Footer Placeholder 4">
            <a:extLst>
              <a:ext uri="{FF2B5EF4-FFF2-40B4-BE49-F238E27FC236}">
                <a16:creationId xmlns:a16="http://schemas.microsoft.com/office/drawing/2014/main" id="{3C0EB345-8B83-D77A-ECEC-B325F5CFE7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6568EA-54FE-9C5D-C3F6-5117ED808667}"/>
              </a:ext>
            </a:extLst>
          </p:cNvPr>
          <p:cNvSpPr>
            <a:spLocks noGrp="1"/>
          </p:cNvSpPr>
          <p:nvPr>
            <p:ph type="sldNum" sz="quarter" idx="12"/>
          </p:nvPr>
        </p:nvSpPr>
        <p:spPr/>
        <p:txBody>
          <a:bodyPr/>
          <a:lstStyle/>
          <a:p>
            <a:fld id="{6978A778-60D7-46EF-B10B-9C3C0C0AFE00}" type="slidenum">
              <a:rPr lang="en-US" smtClean="0"/>
              <a:t>‹#›</a:t>
            </a:fld>
            <a:endParaRPr lang="en-US"/>
          </a:p>
        </p:txBody>
      </p:sp>
    </p:spTree>
    <p:extLst>
      <p:ext uri="{BB962C8B-B14F-4D97-AF65-F5344CB8AC3E}">
        <p14:creationId xmlns:p14="http://schemas.microsoft.com/office/powerpoint/2010/main" val="1189608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3E6E47-B7E1-59B7-AD66-454E97E735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F2E2313-044D-DC8A-204E-612E0EA45D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222163-FCBC-2B57-F4DE-F4EBD1E4FF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8109F9-684E-4DEA-AE0F-481DBE7BA6B5}" type="datetimeFigureOut">
              <a:rPr lang="en-US" smtClean="0"/>
              <a:t>2/17/2026</a:t>
            </a:fld>
            <a:endParaRPr lang="en-US"/>
          </a:p>
        </p:txBody>
      </p:sp>
      <p:sp>
        <p:nvSpPr>
          <p:cNvPr id="5" name="Footer Placeholder 4">
            <a:extLst>
              <a:ext uri="{FF2B5EF4-FFF2-40B4-BE49-F238E27FC236}">
                <a16:creationId xmlns:a16="http://schemas.microsoft.com/office/drawing/2014/main" id="{E65A461C-B2D9-066B-034C-E32F50F9E4F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978F756-0052-E5A8-2A8D-DE24B58084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78A778-60D7-46EF-B10B-9C3C0C0AFE00}" type="slidenum">
              <a:rPr lang="en-US" smtClean="0"/>
              <a:t>‹#›</a:t>
            </a:fld>
            <a:endParaRPr lang="en-US"/>
          </a:p>
        </p:txBody>
      </p:sp>
    </p:spTree>
    <p:extLst>
      <p:ext uri="{BB962C8B-B14F-4D97-AF65-F5344CB8AC3E}">
        <p14:creationId xmlns:p14="http://schemas.microsoft.com/office/powerpoint/2010/main" val="1120730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9F3FFB-1D4F-1265-9711-9E6F53323C6A}"/>
              </a:ext>
            </a:extLst>
          </p:cNvPr>
          <p:cNvSpPr>
            <a:spLocks noGrp="1"/>
          </p:cNvSpPr>
          <p:nvPr>
            <p:ph type="ctrTitle"/>
          </p:nvPr>
        </p:nvSpPr>
        <p:spPr/>
        <p:txBody>
          <a:bodyPr/>
          <a:lstStyle/>
          <a:p>
            <a:r>
              <a:rPr lang="en-US" dirty="0"/>
              <a:t>Interim Presentation</a:t>
            </a:r>
          </a:p>
        </p:txBody>
      </p:sp>
      <p:sp>
        <p:nvSpPr>
          <p:cNvPr id="3" name="Subtitle 2">
            <a:extLst>
              <a:ext uri="{FF2B5EF4-FFF2-40B4-BE49-F238E27FC236}">
                <a16:creationId xmlns:a16="http://schemas.microsoft.com/office/drawing/2014/main" id="{7B581EB7-3AA0-EF71-BDF5-06D464590547}"/>
              </a:ext>
            </a:extLst>
          </p:cNvPr>
          <p:cNvSpPr>
            <a:spLocks noGrp="1"/>
          </p:cNvSpPr>
          <p:nvPr>
            <p:ph type="subTitle" idx="1"/>
          </p:nvPr>
        </p:nvSpPr>
        <p:spPr/>
        <p:txBody>
          <a:bodyPr/>
          <a:lstStyle/>
          <a:p>
            <a:r>
              <a:rPr lang="en-US" dirty="0"/>
              <a:t>Project 1</a:t>
            </a:r>
          </a:p>
          <a:p>
            <a:r>
              <a:rPr lang="en-US" dirty="0"/>
              <a:t>Ezra Weible</a:t>
            </a:r>
          </a:p>
          <a:p>
            <a:r>
              <a:rPr lang="en-US" dirty="0"/>
              <a:t>18 February 2026</a:t>
            </a:r>
          </a:p>
        </p:txBody>
      </p:sp>
    </p:spTree>
    <p:extLst>
      <p:ext uri="{BB962C8B-B14F-4D97-AF65-F5344CB8AC3E}">
        <p14:creationId xmlns:p14="http://schemas.microsoft.com/office/powerpoint/2010/main" val="1489866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8FA23-D7FB-336E-27D3-D22A653A0920}"/>
              </a:ext>
            </a:extLst>
          </p:cNvPr>
          <p:cNvSpPr>
            <a:spLocks noGrp="1"/>
          </p:cNvSpPr>
          <p:nvPr>
            <p:ph type="title"/>
          </p:nvPr>
        </p:nvSpPr>
        <p:spPr/>
        <p:txBody>
          <a:bodyPr/>
          <a:lstStyle/>
          <a:p>
            <a:r>
              <a:rPr lang="en-US" dirty="0"/>
              <a:t>Research Question</a:t>
            </a:r>
          </a:p>
        </p:txBody>
      </p:sp>
      <p:sp>
        <p:nvSpPr>
          <p:cNvPr id="3" name="Content Placeholder 2">
            <a:extLst>
              <a:ext uri="{FF2B5EF4-FFF2-40B4-BE49-F238E27FC236}">
                <a16:creationId xmlns:a16="http://schemas.microsoft.com/office/drawing/2014/main" id="{3DDEC1C9-F0BB-944E-104A-1C46C5D25AF4}"/>
              </a:ext>
            </a:extLst>
          </p:cNvPr>
          <p:cNvSpPr>
            <a:spLocks noGrp="1"/>
          </p:cNvSpPr>
          <p:nvPr>
            <p:ph idx="1"/>
          </p:nvPr>
        </p:nvSpPr>
        <p:spPr>
          <a:xfrm>
            <a:off x="0" y="1690688"/>
            <a:ext cx="5253644" cy="4351338"/>
          </a:xfrm>
        </p:spPr>
        <p:txBody>
          <a:bodyPr>
            <a:normAutofit fontScale="92500" lnSpcReduction="10000"/>
          </a:bodyPr>
          <a:lstStyle/>
          <a:p>
            <a:r>
              <a:rPr lang="en-US" dirty="0"/>
              <a:t>Does baseline hard drug use affect treatment response two years after initiating HAART?</a:t>
            </a:r>
          </a:p>
          <a:p>
            <a:pPr lvl="1"/>
            <a:r>
              <a:rPr lang="en-US" dirty="0"/>
              <a:t>Outcomes: viral load (log10 scale), CD4 count, physical and mental quality of life</a:t>
            </a:r>
          </a:p>
          <a:p>
            <a:pPr lvl="1"/>
            <a:r>
              <a:rPr lang="en-US" dirty="0"/>
              <a:t>Null Hypothesis: No difference in year-2 response between baseline hard drug users and non-users</a:t>
            </a:r>
          </a:p>
          <a:p>
            <a:r>
              <a:rPr lang="en-US" dirty="0"/>
              <a:t>Clinically meaningful differences: </a:t>
            </a:r>
          </a:p>
          <a:p>
            <a:pPr lvl="1"/>
            <a:r>
              <a:rPr lang="en-US" dirty="0"/>
              <a:t>Viral Load: 0.5 log10 change</a:t>
            </a:r>
          </a:p>
          <a:p>
            <a:pPr lvl="1"/>
            <a:r>
              <a:rPr lang="en-US" dirty="0"/>
              <a:t>CD4 count: 50 cell change</a:t>
            </a:r>
          </a:p>
          <a:p>
            <a:pPr lvl="1"/>
            <a:r>
              <a:rPr lang="en-US" dirty="0"/>
              <a:t>QoL: 2 point change</a:t>
            </a:r>
          </a:p>
        </p:txBody>
      </p:sp>
      <p:pic>
        <p:nvPicPr>
          <p:cNvPr id="8" name="Picture 7">
            <a:extLst>
              <a:ext uri="{FF2B5EF4-FFF2-40B4-BE49-F238E27FC236}">
                <a16:creationId xmlns:a16="http://schemas.microsoft.com/office/drawing/2014/main" id="{4B908AD0-3AAB-40FF-B6EA-B08760851026}"/>
              </a:ext>
            </a:extLst>
          </p:cNvPr>
          <p:cNvPicPr>
            <a:picLocks noChangeAspect="1"/>
          </p:cNvPicPr>
          <p:nvPr/>
        </p:nvPicPr>
        <p:blipFill>
          <a:blip r:embed="rId3"/>
          <a:stretch>
            <a:fillRect/>
          </a:stretch>
        </p:blipFill>
        <p:spPr>
          <a:xfrm>
            <a:off x="5094885" y="1689591"/>
            <a:ext cx="7097115" cy="4353533"/>
          </a:xfrm>
          <a:prstGeom prst="rect">
            <a:avLst/>
          </a:prstGeom>
        </p:spPr>
      </p:pic>
    </p:spTree>
    <p:extLst>
      <p:ext uri="{BB962C8B-B14F-4D97-AF65-F5344CB8AC3E}">
        <p14:creationId xmlns:p14="http://schemas.microsoft.com/office/powerpoint/2010/main" val="3886421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44C85-5A76-96FD-50F8-486CF4A0FFFA}"/>
              </a:ext>
            </a:extLst>
          </p:cNvPr>
          <p:cNvSpPr>
            <a:spLocks noGrp="1"/>
          </p:cNvSpPr>
          <p:nvPr>
            <p:ph type="title"/>
          </p:nvPr>
        </p:nvSpPr>
        <p:spPr>
          <a:xfrm>
            <a:off x="7253604" y="32415"/>
            <a:ext cx="3837527" cy="1325563"/>
          </a:xfrm>
        </p:spPr>
        <p:txBody>
          <a:bodyPr/>
          <a:lstStyle/>
          <a:p>
            <a:pPr algn="ctr"/>
            <a:r>
              <a:rPr lang="en-US" dirty="0"/>
              <a:t>Data Overview</a:t>
            </a:r>
          </a:p>
        </p:txBody>
      </p:sp>
      <p:sp>
        <p:nvSpPr>
          <p:cNvPr id="21" name="TextBox 20">
            <a:extLst>
              <a:ext uri="{FF2B5EF4-FFF2-40B4-BE49-F238E27FC236}">
                <a16:creationId xmlns:a16="http://schemas.microsoft.com/office/drawing/2014/main" id="{CCA07D77-2269-D274-738F-B2444736DC13}"/>
              </a:ext>
            </a:extLst>
          </p:cNvPr>
          <p:cNvSpPr txBox="1"/>
          <p:nvPr/>
        </p:nvSpPr>
        <p:spPr>
          <a:xfrm>
            <a:off x="6344317" y="1173312"/>
            <a:ext cx="5790947" cy="369332"/>
          </a:xfrm>
          <a:prstGeom prst="rect">
            <a:avLst/>
          </a:prstGeom>
          <a:noFill/>
        </p:spPr>
        <p:txBody>
          <a:bodyPr wrap="square" rtlCol="0">
            <a:spAutoFit/>
          </a:bodyPr>
          <a:lstStyle/>
          <a:p>
            <a:r>
              <a:rPr lang="en-US" b="1" dirty="0"/>
              <a:t>*</a:t>
            </a:r>
            <a:r>
              <a:rPr lang="en-US" dirty="0"/>
              <a:t>Collapsed to 2 categories each based on sample sizes</a:t>
            </a:r>
          </a:p>
        </p:txBody>
      </p:sp>
      <p:pic>
        <p:nvPicPr>
          <p:cNvPr id="4" name="Picture 3">
            <a:extLst>
              <a:ext uri="{FF2B5EF4-FFF2-40B4-BE49-F238E27FC236}">
                <a16:creationId xmlns:a16="http://schemas.microsoft.com/office/drawing/2014/main" id="{36C99FA2-AA1A-1222-EE9C-76ACA2259E4D}"/>
              </a:ext>
            </a:extLst>
          </p:cNvPr>
          <p:cNvPicPr>
            <a:picLocks noChangeAspect="1"/>
          </p:cNvPicPr>
          <p:nvPr/>
        </p:nvPicPr>
        <p:blipFill>
          <a:blip r:embed="rId3"/>
          <a:stretch>
            <a:fillRect/>
          </a:stretch>
        </p:blipFill>
        <p:spPr>
          <a:xfrm>
            <a:off x="0" y="503500"/>
            <a:ext cx="6039774" cy="6354500"/>
          </a:xfrm>
          <a:prstGeom prst="rect">
            <a:avLst/>
          </a:prstGeom>
        </p:spPr>
      </p:pic>
      <p:pic>
        <p:nvPicPr>
          <p:cNvPr id="6" name="Picture 5">
            <a:extLst>
              <a:ext uri="{FF2B5EF4-FFF2-40B4-BE49-F238E27FC236}">
                <a16:creationId xmlns:a16="http://schemas.microsoft.com/office/drawing/2014/main" id="{3698F797-99D5-55AE-64B7-C8D9D554F3D1}"/>
              </a:ext>
            </a:extLst>
          </p:cNvPr>
          <p:cNvPicPr>
            <a:picLocks noChangeAspect="1"/>
          </p:cNvPicPr>
          <p:nvPr/>
        </p:nvPicPr>
        <p:blipFill>
          <a:blip r:embed="rId4"/>
          <a:stretch>
            <a:fillRect/>
          </a:stretch>
        </p:blipFill>
        <p:spPr>
          <a:xfrm>
            <a:off x="6096000" y="4106336"/>
            <a:ext cx="6039264" cy="2719249"/>
          </a:xfrm>
          <a:prstGeom prst="rect">
            <a:avLst/>
          </a:prstGeom>
        </p:spPr>
      </p:pic>
      <p:sp>
        <p:nvSpPr>
          <p:cNvPr id="20" name="TextBox 19">
            <a:extLst>
              <a:ext uri="{FF2B5EF4-FFF2-40B4-BE49-F238E27FC236}">
                <a16:creationId xmlns:a16="http://schemas.microsoft.com/office/drawing/2014/main" id="{EAB8A822-D31F-B0D8-A93B-8FA4DA1E44A5}"/>
              </a:ext>
            </a:extLst>
          </p:cNvPr>
          <p:cNvSpPr txBox="1"/>
          <p:nvPr/>
        </p:nvSpPr>
        <p:spPr>
          <a:xfrm>
            <a:off x="-112962" y="4922671"/>
            <a:ext cx="300082" cy="1477328"/>
          </a:xfrm>
          <a:prstGeom prst="rect">
            <a:avLst/>
          </a:prstGeom>
          <a:noFill/>
        </p:spPr>
        <p:txBody>
          <a:bodyPr wrap="none" rtlCol="0">
            <a:spAutoFit/>
          </a:bodyPr>
          <a:lstStyle/>
          <a:p>
            <a:r>
              <a:rPr lang="en-US" b="1" dirty="0"/>
              <a:t>*</a:t>
            </a:r>
          </a:p>
          <a:p>
            <a:endParaRPr lang="en-US" b="1" dirty="0"/>
          </a:p>
          <a:p>
            <a:r>
              <a:rPr lang="en-US" b="1" dirty="0"/>
              <a:t>*</a:t>
            </a:r>
            <a:br>
              <a:rPr lang="en-US" b="1" dirty="0"/>
            </a:br>
            <a:br>
              <a:rPr lang="en-US" b="1" dirty="0"/>
            </a:br>
            <a:r>
              <a:rPr lang="en-US" b="1" dirty="0"/>
              <a:t>*</a:t>
            </a:r>
          </a:p>
        </p:txBody>
      </p:sp>
      <p:sp>
        <p:nvSpPr>
          <p:cNvPr id="10" name="TextBox 9">
            <a:extLst>
              <a:ext uri="{FF2B5EF4-FFF2-40B4-BE49-F238E27FC236}">
                <a16:creationId xmlns:a16="http://schemas.microsoft.com/office/drawing/2014/main" id="{278B4911-AAF2-73BA-87E9-8638E6A10DB3}"/>
              </a:ext>
            </a:extLst>
          </p:cNvPr>
          <p:cNvSpPr txBox="1"/>
          <p:nvPr/>
        </p:nvSpPr>
        <p:spPr>
          <a:xfrm>
            <a:off x="9250878" y="2498875"/>
            <a:ext cx="2884386" cy="1200329"/>
          </a:xfrm>
          <a:prstGeom prst="rect">
            <a:avLst/>
          </a:prstGeom>
          <a:noFill/>
        </p:spPr>
        <p:txBody>
          <a:bodyPr wrap="square">
            <a:spAutoFit/>
          </a:bodyPr>
          <a:lstStyle/>
          <a:p>
            <a:pPr algn="r"/>
            <a:r>
              <a:rPr lang="en-US" dirty="0"/>
              <a:t>476 subjects had all outcomes for baseline and year 2 and had baseline hard drug use reported</a:t>
            </a:r>
          </a:p>
        </p:txBody>
      </p:sp>
      <p:cxnSp>
        <p:nvCxnSpPr>
          <p:cNvPr id="14" name="Straight Arrow Connector 13">
            <a:extLst>
              <a:ext uri="{FF2B5EF4-FFF2-40B4-BE49-F238E27FC236}">
                <a16:creationId xmlns:a16="http://schemas.microsoft.com/office/drawing/2014/main" id="{FDFA17A8-8C28-A290-AA5A-52FF2677DB26}"/>
              </a:ext>
            </a:extLst>
          </p:cNvPr>
          <p:cNvCxnSpPr>
            <a:cxnSpLocks/>
          </p:cNvCxnSpPr>
          <p:nvPr/>
        </p:nvCxnSpPr>
        <p:spPr>
          <a:xfrm>
            <a:off x="11471563" y="3699204"/>
            <a:ext cx="0" cy="724395"/>
          </a:xfrm>
          <a:prstGeom prst="straightConnector1">
            <a:avLst/>
          </a:prstGeom>
          <a:ln w="38100">
            <a:solidFill>
              <a:schemeClr val="tx1"/>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662945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690ED-9EC5-81B9-6EA0-E2C6334C04C4}"/>
              </a:ext>
            </a:extLst>
          </p:cNvPr>
          <p:cNvSpPr>
            <a:spLocks noGrp="1"/>
          </p:cNvSpPr>
          <p:nvPr>
            <p:ph type="title"/>
          </p:nvPr>
        </p:nvSpPr>
        <p:spPr/>
        <p:txBody>
          <a:bodyPr/>
          <a:lstStyle/>
          <a:p>
            <a:r>
              <a:rPr lang="en-US" dirty="0"/>
              <a:t>Analysis Plan</a:t>
            </a:r>
          </a:p>
        </p:txBody>
      </p:sp>
      <p:sp>
        <p:nvSpPr>
          <p:cNvPr id="3" name="Content Placeholder 2">
            <a:extLst>
              <a:ext uri="{FF2B5EF4-FFF2-40B4-BE49-F238E27FC236}">
                <a16:creationId xmlns:a16="http://schemas.microsoft.com/office/drawing/2014/main" id="{10DEFC7C-B8E2-9815-0785-07C41A83F29F}"/>
              </a:ext>
            </a:extLst>
          </p:cNvPr>
          <p:cNvSpPr>
            <a:spLocks noGrp="1"/>
          </p:cNvSpPr>
          <p:nvPr>
            <p:ph idx="1"/>
          </p:nvPr>
        </p:nvSpPr>
        <p:spPr>
          <a:xfrm>
            <a:off x="674834" y="1690688"/>
            <a:ext cx="5257800" cy="4351338"/>
          </a:xfrm>
        </p:spPr>
        <p:txBody>
          <a:bodyPr>
            <a:normAutofit/>
          </a:bodyPr>
          <a:lstStyle/>
          <a:p>
            <a:pPr marL="0" indent="0">
              <a:buNone/>
            </a:pPr>
            <a:r>
              <a:rPr lang="en-US" u="sng" dirty="0"/>
              <a:t>Frequentist Analysis</a:t>
            </a:r>
          </a:p>
          <a:p>
            <a:r>
              <a:rPr lang="en-US" dirty="0"/>
              <a:t>Linear regression of transformed Year‑2 outcome</a:t>
            </a:r>
          </a:p>
          <a:p>
            <a:pPr lvl="1"/>
            <a:r>
              <a:rPr lang="en-US" dirty="0"/>
              <a:t>Predictors (Baseline): hard drug use, outcome, age, BMI, smoking, education, race/ethnicity</a:t>
            </a:r>
          </a:p>
          <a:p>
            <a:pPr lvl="1"/>
            <a:r>
              <a:rPr lang="en-US" dirty="0"/>
              <a:t>Adherence to explore mediation</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A0B9CA7-7627-123E-63F2-85DB6FE33D39}"/>
                  </a:ext>
                </a:extLst>
              </p:cNvPr>
              <p:cNvSpPr txBox="1"/>
              <p:nvPr/>
            </p:nvSpPr>
            <p:spPr>
              <a:xfrm>
                <a:off x="6259369" y="1703301"/>
                <a:ext cx="5257798" cy="3592458"/>
              </a:xfrm>
              <a:prstGeom prst="rect">
                <a:avLst/>
              </a:prstGeom>
              <a:noFill/>
            </p:spPr>
            <p:txBody>
              <a:bodyPr wrap="square" rtlCol="0">
                <a:spAutoFit/>
              </a:bodyPr>
              <a:lstStyle/>
              <a:p>
                <a:r>
                  <a:rPr lang="en-US" sz="2800" u="sng" dirty="0"/>
                  <a:t>Bayesian Analysis</a:t>
                </a:r>
              </a:p>
              <a:p>
                <a:pPr marL="285750" indent="-285750">
                  <a:buFont typeface="Arial" panose="020B0604020202020204" pitchFamily="34" charset="0"/>
                  <a:buChar char="•"/>
                </a:pPr>
                <a:r>
                  <a:rPr lang="en-US" sz="2800" dirty="0"/>
                  <a:t>Same regression structure as frequentist models</a:t>
                </a:r>
              </a:p>
              <a:p>
                <a:pPr marL="742950" lvl="1" indent="-285750">
                  <a:buFont typeface="Arial" panose="020B0604020202020204" pitchFamily="34" charset="0"/>
                  <a:buChar char="•"/>
                </a:pPr>
                <a:r>
                  <a:rPr lang="en-US" sz="2400" dirty="0"/>
                  <a:t>Vaguely informative priors:</a:t>
                </a:r>
              </a:p>
              <a:p>
                <a:pPr marL="1200150" lvl="2" indent="-285750">
                  <a:buFont typeface="Arial" panose="020B0604020202020204" pitchFamily="34" charset="0"/>
                  <a:buChar char="•"/>
                </a:pPr>
                <a:r>
                  <a:rPr lang="en-US" sz="2400" dirty="0"/>
                  <a:t>Coefficients: N(0, 1000)</a:t>
                </a:r>
              </a:p>
              <a:p>
                <a:pPr marL="1200150" lvl="2" indent="-285750">
                  <a:buFont typeface="Arial" panose="020B0604020202020204" pitchFamily="34" charset="0"/>
                  <a:buChar char="•"/>
                </a:pPr>
                <a:r>
                  <a:rPr lang="en-US" sz="2400" dirty="0"/>
                  <a:t>Error: Half‑Normal</a:t>
                </a:r>
              </a:p>
              <a:p>
                <a:pPr marL="742950" lvl="1" indent="-285750">
                  <a:buFont typeface="Arial" panose="020B0604020202020204" pitchFamily="34" charset="0"/>
                  <a:buChar char="•"/>
                </a:pPr>
                <a:r>
                  <a:rPr lang="en-US" sz="2400" dirty="0"/>
                  <a:t>For instance: </a:t>
                </a:r>
                <a14:m>
                  <m:oMath xmlns:m="http://schemas.openxmlformats.org/officeDocument/2006/math">
                    <m:r>
                      <m:rPr>
                        <m:sty m:val="p"/>
                      </m:rPr>
                      <a:rPr lang="en-US" sz="2400" b="0" i="0" dirty="0" smtClean="0">
                        <a:latin typeface="Cambria Math" panose="02040503050406030204" pitchFamily="18" charset="0"/>
                      </a:rPr>
                      <m:t>log</m:t>
                    </m:r>
                    <m:r>
                      <a:rPr lang="en-US" sz="2400" b="0" i="0"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m:rPr>
                            <m:sty m:val="p"/>
                          </m:rPr>
                          <a:rPr lang="en-US" sz="2400" b="0" i="1" dirty="0" smtClean="0">
                            <a:latin typeface="Cambria Math" panose="02040503050406030204" pitchFamily="18" charset="0"/>
                          </a:rPr>
                          <m:t>VLOAD</m:t>
                        </m:r>
                      </m:e>
                      <m:sub>
                        <m:r>
                          <m:rPr>
                            <m:sty m:val="p"/>
                          </m:rPr>
                          <a:rPr lang="en-US" sz="2400" b="0" i="1" dirty="0" smtClean="0">
                            <a:latin typeface="Cambria Math" panose="02040503050406030204" pitchFamily="18" charset="0"/>
                          </a:rPr>
                          <m:t>i</m:t>
                        </m:r>
                      </m:sub>
                    </m:sSub>
                    <m:r>
                      <a:rPr lang="en-US" sz="2400" b="0" i="1" dirty="0" smtClean="0">
                        <a:latin typeface="Cambria Math" panose="02040503050406030204" pitchFamily="18" charset="0"/>
                      </a:rPr>
                      <m:t>) = </m:t>
                    </m:r>
                    <m:sSub>
                      <m:sSubPr>
                        <m:ctrlPr>
                          <a:rPr lang="en-US" sz="2400" b="0" i="1" dirty="0" smtClean="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rPr>
                          <m:t>0</m:t>
                        </m:r>
                      </m:sub>
                    </m:sSub>
                    <m:r>
                      <a:rPr lang="en-US" sz="2400" b="0" i="1" dirty="0" smtClean="0">
                        <a:latin typeface="Cambria Math" panose="02040503050406030204" pitchFamily="18" charset="0"/>
                      </a:rPr>
                      <m:t>+</m:t>
                    </m:r>
                    <m:sSub>
                      <m:sSubPr>
                        <m:ctrlPr>
                          <a:rPr lang="en-US" sz="2400" i="1" dirty="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ea typeface="Cambria Math" panose="02040503050406030204" pitchFamily="18" charset="0"/>
                          </a:rPr>
                          <m:t>1</m:t>
                        </m:r>
                      </m:sub>
                    </m:sSub>
                    <m:sSub>
                      <m:sSubPr>
                        <m:ctrlPr>
                          <a:rPr lang="en-US" sz="2400" i="1" dirty="0" smtClean="0">
                            <a:latin typeface="Cambria Math" panose="02040503050406030204" pitchFamily="18" charset="0"/>
                          </a:rPr>
                        </m:ctrlPr>
                      </m:sSubPr>
                      <m:e>
                        <m:r>
                          <m:rPr>
                            <m:sty m:val="p"/>
                          </m:rPr>
                          <a:rPr lang="en-US" sz="2400" b="0" i="1" dirty="0" smtClean="0">
                            <a:latin typeface="Cambria Math" panose="02040503050406030204" pitchFamily="18" charset="0"/>
                          </a:rPr>
                          <m:t>HD</m:t>
                        </m:r>
                      </m:e>
                      <m:sub>
                        <m:r>
                          <m:rPr>
                            <m:sty m:val="p"/>
                          </m:rPr>
                          <a:rPr lang="en-US" sz="2400" b="0" i="1" dirty="0" smtClean="0">
                            <a:latin typeface="Cambria Math" panose="02040503050406030204" pitchFamily="18" charset="0"/>
                          </a:rPr>
                          <m:t>i</m:t>
                        </m:r>
                      </m:sub>
                    </m:sSub>
                    <m:r>
                      <a:rPr lang="en-US" sz="2400" b="0" i="1" dirty="0" smtClean="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ea typeface="Cambria Math" panose="02040503050406030204" pitchFamily="18" charset="0"/>
                          </a:rPr>
                          <m:t>2</m:t>
                        </m:r>
                      </m:sub>
                    </m:sSub>
                    <m:sSub>
                      <m:sSubPr>
                        <m:ctrlPr>
                          <a:rPr lang="en-US" sz="2400" i="1" dirty="0">
                            <a:latin typeface="Cambria Math" panose="02040503050406030204" pitchFamily="18" charset="0"/>
                          </a:rPr>
                        </m:ctrlPr>
                      </m:sSubPr>
                      <m:e>
                        <m:r>
                          <m:rPr>
                            <m:sty m:val="p"/>
                          </m:rPr>
                          <a:rPr lang="en-US" sz="2400" b="0" i="1" dirty="0" smtClean="0">
                            <a:latin typeface="Cambria Math" panose="02040503050406030204" pitchFamily="18" charset="0"/>
                          </a:rPr>
                          <m:t>Baseline</m:t>
                        </m:r>
                      </m:e>
                      <m:sub>
                        <m:r>
                          <m:rPr>
                            <m:sty m:val="p"/>
                          </m:rPr>
                          <a:rPr lang="en-US" sz="2400" b="0" i="1" dirty="0" smtClean="0">
                            <a:latin typeface="Cambria Math" panose="02040503050406030204" pitchFamily="18" charset="0"/>
                            <a:ea typeface="Cambria Math" panose="02040503050406030204" pitchFamily="18" charset="0"/>
                          </a:rPr>
                          <m:t>i</m:t>
                        </m:r>
                      </m:sub>
                    </m:sSub>
                    <m:r>
                      <a:rPr lang="en-US" sz="2400" b="0" i="1" dirty="0" smtClean="0">
                        <a:latin typeface="Cambria Math" panose="02040503050406030204" pitchFamily="18" charset="0"/>
                      </a:rPr>
                      <m:t> +</m:t>
                    </m:r>
                    <m:sSub>
                      <m:sSubPr>
                        <m:ctrlPr>
                          <a:rPr lang="en-US" sz="2400" i="1" dirty="0">
                            <a:latin typeface="Cambria Math" panose="02040503050406030204" pitchFamily="18" charset="0"/>
                          </a:rPr>
                        </m:ctrlPr>
                      </m:sSubPr>
                      <m:e>
                        <m:r>
                          <a:rPr lang="en-US" sz="2400" i="1" dirty="0">
                            <a:latin typeface="Cambria Math" panose="02040503050406030204" pitchFamily="18" charset="0"/>
                            <a:ea typeface="Cambria Math" panose="02040503050406030204" pitchFamily="18" charset="0"/>
                          </a:rPr>
                          <m:t>𝛽</m:t>
                        </m:r>
                      </m:e>
                      <m:sub>
                        <m:r>
                          <a:rPr lang="en-US" sz="2400" b="0" i="1" dirty="0" smtClean="0">
                            <a:latin typeface="Cambria Math" panose="02040503050406030204" pitchFamily="18" charset="0"/>
                            <a:ea typeface="Cambria Math" panose="02040503050406030204" pitchFamily="18" charset="0"/>
                          </a:rPr>
                          <m:t>3</m:t>
                        </m:r>
                      </m:sub>
                    </m:sSub>
                    <m:r>
                      <a:rPr lang="en-US" sz="2400" b="0" i="1" dirty="0" smtClean="0">
                        <a:latin typeface="Cambria Math" panose="02040503050406030204" pitchFamily="18" charset="0"/>
                      </a:rPr>
                      <m:t> </m:t>
                    </m:r>
                    <m:r>
                      <m:rPr>
                        <m:sty m:val="p"/>
                      </m:rPr>
                      <a:rPr lang="en-US" sz="2400" b="0" i="1" dirty="0" smtClean="0">
                        <a:latin typeface="Cambria Math" panose="02040503050406030204" pitchFamily="18" charset="0"/>
                      </a:rPr>
                      <m:t>Age</m:t>
                    </m:r>
                    <m:r>
                      <a:rPr lang="en-US" sz="2400" b="0" i="1" dirty="0" smtClean="0">
                        <a:latin typeface="Cambria Math" panose="02040503050406030204" pitchFamily="18" charset="0"/>
                      </a:rPr>
                      <m:t> + …+ </m:t>
                    </m:r>
                    <m:r>
                      <a:rPr lang="en-US" sz="2400" b="0" i="1" dirty="0" smtClean="0">
                        <a:latin typeface="Cambria Math" panose="02040503050406030204" pitchFamily="18" charset="0"/>
                        <a:ea typeface="Cambria Math" panose="02040503050406030204" pitchFamily="18" charset="0"/>
                      </a:rPr>
                      <m:t>𝜀</m:t>
                    </m:r>
                  </m:oMath>
                </a14:m>
                <a:endParaRPr lang="en-US" sz="2400" dirty="0"/>
              </a:p>
            </p:txBody>
          </p:sp>
        </mc:Choice>
        <mc:Fallback xmlns="">
          <p:sp>
            <p:nvSpPr>
              <p:cNvPr id="4" name="TextBox 3">
                <a:extLst>
                  <a:ext uri="{FF2B5EF4-FFF2-40B4-BE49-F238E27FC236}">
                    <a16:creationId xmlns:a16="http://schemas.microsoft.com/office/drawing/2014/main" id="{3A0B9CA7-7627-123E-63F2-85DB6FE33D39}"/>
                  </a:ext>
                </a:extLst>
              </p:cNvPr>
              <p:cNvSpPr txBox="1">
                <a:spLocks noRot="1" noChangeAspect="1" noMove="1" noResize="1" noEditPoints="1" noAdjustHandles="1" noChangeArrowheads="1" noChangeShapeType="1" noTextEdit="1"/>
              </p:cNvSpPr>
              <p:nvPr/>
            </p:nvSpPr>
            <p:spPr>
              <a:xfrm>
                <a:off x="6259369" y="1703301"/>
                <a:ext cx="5257798" cy="3592458"/>
              </a:xfrm>
              <a:prstGeom prst="rect">
                <a:avLst/>
              </a:prstGeom>
              <a:blipFill>
                <a:blip r:embed="rId3"/>
                <a:stretch>
                  <a:fillRect l="-2436" t="-1695" b="-1186"/>
                </a:stretch>
              </a:blipFill>
            </p:spPr>
            <p:txBody>
              <a:bodyPr/>
              <a:lstStyle/>
              <a:p>
                <a:r>
                  <a:rPr lang="en-US">
                    <a:noFill/>
                  </a:rPr>
                  <a:t> </a:t>
                </a:r>
              </a:p>
            </p:txBody>
          </p:sp>
        </mc:Fallback>
      </mc:AlternateContent>
    </p:spTree>
    <p:extLst>
      <p:ext uri="{BB962C8B-B14F-4D97-AF65-F5344CB8AC3E}">
        <p14:creationId xmlns:p14="http://schemas.microsoft.com/office/powerpoint/2010/main" val="16449627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519</TotalTime>
  <Words>1339</Words>
  <Application>Microsoft Office PowerPoint</Application>
  <PresentationFormat>Widescreen</PresentationFormat>
  <Paragraphs>61</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Cambria Math</vt:lpstr>
      <vt:lpstr>Office Theme</vt:lpstr>
      <vt:lpstr>Interim Presentation</vt:lpstr>
      <vt:lpstr>Research Question</vt:lpstr>
      <vt:lpstr>Data Overview</vt:lpstr>
      <vt:lpstr>Analysis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Weible, Ezra</dc:creator>
  <cp:lastModifiedBy>Weible, Ezra</cp:lastModifiedBy>
  <cp:revision>1</cp:revision>
  <dcterms:created xsi:type="dcterms:W3CDTF">2026-02-12T20:50:33Z</dcterms:created>
  <dcterms:modified xsi:type="dcterms:W3CDTF">2026-02-17T20:26:09Z</dcterms:modified>
</cp:coreProperties>
</file>