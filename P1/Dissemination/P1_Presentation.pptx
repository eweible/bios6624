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60" r:id="rId4"/>
    <p:sldId id="259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8AA4D66-65EB-4A1D-819D-11B87478C751}" v="14" dt="2026-03-02T06:29:26.0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114" y="1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zra Weible" userId="67bcaf2f89c4552e" providerId="LiveId" clId="{E4E19776-AA89-4579-B0CB-50FEF10C4E93}"/>
    <pc:docChg chg="undo redo custSel addSld delSld modSld">
      <pc:chgData name="Ezra Weible" userId="67bcaf2f89c4552e" providerId="LiveId" clId="{E4E19776-AA89-4579-B0CB-50FEF10C4E93}" dt="2026-03-02T06:29:32.647" v="1555" actId="404"/>
      <pc:docMkLst>
        <pc:docMk/>
      </pc:docMkLst>
      <pc:sldChg chg="modSp mod">
        <pc:chgData name="Ezra Weible" userId="67bcaf2f89c4552e" providerId="LiveId" clId="{E4E19776-AA89-4579-B0CB-50FEF10C4E93}" dt="2026-03-02T06:29:32.647" v="1555" actId="404"/>
        <pc:sldMkLst>
          <pc:docMk/>
          <pc:sldMk cId="172457528" sldId="256"/>
        </pc:sldMkLst>
        <pc:spChg chg="mod">
          <ac:chgData name="Ezra Weible" userId="67bcaf2f89c4552e" providerId="LiveId" clId="{E4E19776-AA89-4579-B0CB-50FEF10C4E93}" dt="2026-03-02T06:29:32.647" v="1555" actId="404"/>
          <ac:spMkLst>
            <pc:docMk/>
            <pc:sldMk cId="172457528" sldId="256"/>
            <ac:spMk id="2" creationId="{22BA05CB-D135-24A4-70E2-C769C9D4E398}"/>
          </ac:spMkLst>
        </pc:spChg>
        <pc:spChg chg="mod">
          <ac:chgData name="Ezra Weible" userId="67bcaf2f89c4552e" providerId="LiveId" clId="{E4E19776-AA89-4579-B0CB-50FEF10C4E93}" dt="2026-03-02T06:02:59.231" v="41" actId="20577"/>
          <ac:spMkLst>
            <pc:docMk/>
            <pc:sldMk cId="172457528" sldId="256"/>
            <ac:spMk id="3" creationId="{738EDFCD-1365-0B50-E2C7-26389D8331A7}"/>
          </ac:spMkLst>
        </pc:spChg>
      </pc:sldChg>
      <pc:sldChg chg="addSp new del">
        <pc:chgData name="Ezra Weible" userId="67bcaf2f89c4552e" providerId="LiveId" clId="{E4E19776-AA89-4579-B0CB-50FEF10C4E93}" dt="2026-03-02T06:03:25.841" v="45" actId="47"/>
        <pc:sldMkLst>
          <pc:docMk/>
          <pc:sldMk cId="1654238856" sldId="257"/>
        </pc:sldMkLst>
        <pc:picChg chg="add">
          <ac:chgData name="Ezra Weible" userId="67bcaf2f89c4552e" providerId="LiveId" clId="{E4E19776-AA89-4579-B0CB-50FEF10C4E93}" dt="2026-03-02T06:03:15.314" v="43"/>
          <ac:picMkLst>
            <pc:docMk/>
            <pc:sldMk cId="1654238856" sldId="257"/>
            <ac:picMk id="4" creationId="{4AB4C566-0211-AE90-A2D8-D767B60033F1}"/>
          </ac:picMkLst>
        </pc:picChg>
      </pc:sldChg>
      <pc:sldChg chg="addSp delSp modSp add mod">
        <pc:chgData name="Ezra Weible" userId="67bcaf2f89c4552e" providerId="LiveId" clId="{E4E19776-AA89-4579-B0CB-50FEF10C4E93}" dt="2026-03-02T06:10:23.602" v="170" actId="1076"/>
        <pc:sldMkLst>
          <pc:docMk/>
          <pc:sldMk cId="3886421937" sldId="258"/>
        </pc:sldMkLst>
        <pc:spChg chg="mod">
          <ac:chgData name="Ezra Weible" userId="67bcaf2f89c4552e" providerId="LiveId" clId="{E4E19776-AA89-4579-B0CB-50FEF10C4E93}" dt="2026-03-02T06:04:48.814" v="168" actId="27636"/>
          <ac:spMkLst>
            <pc:docMk/>
            <pc:sldMk cId="3886421937" sldId="258"/>
            <ac:spMk id="3" creationId="{3DDEC1C9-F0BB-944E-104A-1C46C5D25AF4}"/>
          </ac:spMkLst>
        </pc:spChg>
        <pc:picChg chg="add mod">
          <ac:chgData name="Ezra Weible" userId="67bcaf2f89c4552e" providerId="LiveId" clId="{E4E19776-AA89-4579-B0CB-50FEF10C4E93}" dt="2026-03-02T06:10:23.602" v="170" actId="1076"/>
          <ac:picMkLst>
            <pc:docMk/>
            <pc:sldMk cId="3886421937" sldId="258"/>
            <ac:picMk id="5" creationId="{688A30CA-B1A8-8A5E-38F6-F3D88EB2C501}"/>
          </ac:picMkLst>
        </pc:picChg>
        <pc:picChg chg="del">
          <ac:chgData name="Ezra Weible" userId="67bcaf2f89c4552e" providerId="LiveId" clId="{E4E19776-AA89-4579-B0CB-50FEF10C4E93}" dt="2026-03-02T06:03:43.226" v="48" actId="478"/>
          <ac:picMkLst>
            <pc:docMk/>
            <pc:sldMk cId="3886421937" sldId="258"/>
            <ac:picMk id="8" creationId="{4B908AD0-3AAB-40FF-B6EA-B08760851026}"/>
          </ac:picMkLst>
        </pc:picChg>
      </pc:sldChg>
      <pc:sldChg chg="modSp new mod">
        <pc:chgData name="Ezra Weible" userId="67bcaf2f89c4552e" providerId="LiveId" clId="{E4E19776-AA89-4579-B0CB-50FEF10C4E93}" dt="2026-03-02T06:18:17.666" v="966" actId="20577"/>
        <pc:sldMkLst>
          <pc:docMk/>
          <pc:sldMk cId="387199353" sldId="259"/>
        </pc:sldMkLst>
        <pc:spChg chg="mod">
          <ac:chgData name="Ezra Weible" userId="67bcaf2f89c4552e" providerId="LiveId" clId="{E4E19776-AA89-4579-B0CB-50FEF10C4E93}" dt="2026-03-02T06:13:48.770" v="283" actId="20577"/>
          <ac:spMkLst>
            <pc:docMk/>
            <pc:sldMk cId="387199353" sldId="259"/>
            <ac:spMk id="2" creationId="{518015DF-3CD4-329A-4010-2682136C7949}"/>
          </ac:spMkLst>
        </pc:spChg>
        <pc:spChg chg="mod">
          <ac:chgData name="Ezra Weible" userId="67bcaf2f89c4552e" providerId="LiveId" clId="{E4E19776-AA89-4579-B0CB-50FEF10C4E93}" dt="2026-03-02T06:18:17.666" v="966" actId="20577"/>
          <ac:spMkLst>
            <pc:docMk/>
            <pc:sldMk cId="387199353" sldId="259"/>
            <ac:spMk id="3" creationId="{C8E021CD-AE97-EDA5-E14F-25C0B1E7C85E}"/>
          </ac:spMkLst>
        </pc:spChg>
      </pc:sldChg>
      <pc:sldChg chg="addSp delSp modSp add mod">
        <pc:chgData name="Ezra Weible" userId="67bcaf2f89c4552e" providerId="LiveId" clId="{E4E19776-AA89-4579-B0CB-50FEF10C4E93}" dt="2026-03-02T06:13:01.281" v="266" actId="1076"/>
        <pc:sldMkLst>
          <pc:docMk/>
          <pc:sldMk cId="3662945949" sldId="260"/>
        </pc:sldMkLst>
        <pc:spChg chg="add mod">
          <ac:chgData name="Ezra Weible" userId="67bcaf2f89c4552e" providerId="LiveId" clId="{E4E19776-AA89-4579-B0CB-50FEF10C4E93}" dt="2026-03-02T06:13:01.281" v="266" actId="1076"/>
          <ac:spMkLst>
            <pc:docMk/>
            <pc:sldMk cId="3662945949" sldId="260"/>
            <ac:spMk id="8" creationId="{2678A103-B34A-7245-70D3-19061D09F596}"/>
          </ac:spMkLst>
        </pc:spChg>
        <pc:spChg chg="mod">
          <ac:chgData name="Ezra Weible" userId="67bcaf2f89c4552e" providerId="LiveId" clId="{E4E19776-AA89-4579-B0CB-50FEF10C4E93}" dt="2026-03-02T06:12:43.439" v="257" actId="1076"/>
          <ac:spMkLst>
            <pc:docMk/>
            <pc:sldMk cId="3662945949" sldId="260"/>
            <ac:spMk id="10" creationId="{278B4911-AAF2-73BA-87E9-8638E6A10DB3}"/>
          </ac:spMkLst>
        </pc:spChg>
        <pc:spChg chg="mod">
          <ac:chgData name="Ezra Weible" userId="67bcaf2f89c4552e" providerId="LiveId" clId="{E4E19776-AA89-4579-B0CB-50FEF10C4E93}" dt="2026-03-02T06:12:08.933" v="181" actId="1076"/>
          <ac:spMkLst>
            <pc:docMk/>
            <pc:sldMk cId="3662945949" sldId="260"/>
            <ac:spMk id="20" creationId="{EAB8A822-D31F-B0D8-A93B-8FA4DA1E44A5}"/>
          </ac:spMkLst>
        </pc:spChg>
        <pc:picChg chg="del">
          <ac:chgData name="Ezra Weible" userId="67bcaf2f89c4552e" providerId="LiveId" clId="{E4E19776-AA89-4579-B0CB-50FEF10C4E93}" dt="2026-03-02T06:11:32.731" v="173" actId="478"/>
          <ac:picMkLst>
            <pc:docMk/>
            <pc:sldMk cId="3662945949" sldId="260"/>
            <ac:picMk id="4" creationId="{36C99FA2-AA1A-1222-EE9C-76ACA2259E4D}"/>
          </ac:picMkLst>
        </pc:picChg>
        <pc:picChg chg="add mod ord">
          <ac:chgData name="Ezra Weible" userId="67bcaf2f89c4552e" providerId="LiveId" clId="{E4E19776-AA89-4579-B0CB-50FEF10C4E93}" dt="2026-03-02T06:12:03.243" v="180" actId="1076"/>
          <ac:picMkLst>
            <pc:docMk/>
            <pc:sldMk cId="3662945949" sldId="260"/>
            <ac:picMk id="5" creationId="{CBF2EA4A-770B-A007-C32D-C113EF253623}"/>
          </ac:picMkLst>
        </pc:picChg>
        <pc:picChg chg="add mod ord">
          <ac:chgData name="Ezra Weible" userId="67bcaf2f89c4552e" providerId="LiveId" clId="{E4E19776-AA89-4579-B0CB-50FEF10C4E93}" dt="2026-03-02T06:12:14.687" v="182" actId="167"/>
          <ac:picMkLst>
            <pc:docMk/>
            <pc:sldMk cId="3662945949" sldId="260"/>
            <ac:picMk id="7" creationId="{D9494F59-A2CB-EC87-AA9B-041040610F76}"/>
          </ac:picMkLst>
        </pc:picChg>
        <pc:picChg chg="del">
          <ac:chgData name="Ezra Weible" userId="67bcaf2f89c4552e" providerId="LiveId" clId="{E4E19776-AA89-4579-B0CB-50FEF10C4E93}" dt="2026-03-02T06:11:57.057" v="178" actId="478"/>
          <ac:picMkLst>
            <pc:docMk/>
            <pc:sldMk cId="3662945949" sldId="260"/>
            <ac:picMk id="17" creationId="{EAC0159E-8D1F-4D51-A052-DB93628CE193}"/>
          </ac:picMkLst>
        </pc:picChg>
      </pc:sldChg>
      <pc:sldChg chg="addSp delSp modSp new mod modAnim">
        <pc:chgData name="Ezra Weible" userId="67bcaf2f89c4552e" providerId="LiveId" clId="{E4E19776-AA89-4579-B0CB-50FEF10C4E93}" dt="2026-03-02T06:24:35.201" v="1214" actId="1076"/>
        <pc:sldMkLst>
          <pc:docMk/>
          <pc:sldMk cId="3421660498" sldId="261"/>
        </pc:sldMkLst>
        <pc:spChg chg="mod">
          <ac:chgData name="Ezra Weible" userId="67bcaf2f89c4552e" providerId="LiveId" clId="{E4E19776-AA89-4579-B0CB-50FEF10C4E93}" dt="2026-03-02T06:18:26.585" v="976" actId="20577"/>
          <ac:spMkLst>
            <pc:docMk/>
            <pc:sldMk cId="3421660498" sldId="261"/>
            <ac:spMk id="2" creationId="{AF467FC7-B7BC-970E-1FA6-9034E8AF46F6}"/>
          </ac:spMkLst>
        </pc:spChg>
        <pc:spChg chg="del">
          <ac:chgData name="Ezra Weible" userId="67bcaf2f89c4552e" providerId="LiveId" clId="{E4E19776-AA89-4579-B0CB-50FEF10C4E93}" dt="2026-03-02T06:18:49.063" v="977" actId="478"/>
          <ac:spMkLst>
            <pc:docMk/>
            <pc:sldMk cId="3421660498" sldId="261"/>
            <ac:spMk id="3" creationId="{7A980D9D-3FE1-DE37-4B8B-AC63E86BD7FA}"/>
          </ac:spMkLst>
        </pc:spChg>
        <pc:spChg chg="add mod">
          <ac:chgData name="Ezra Weible" userId="67bcaf2f89c4552e" providerId="LiveId" clId="{E4E19776-AA89-4579-B0CB-50FEF10C4E93}" dt="2026-03-02T06:24:35.201" v="1214" actId="1076"/>
          <ac:spMkLst>
            <pc:docMk/>
            <pc:sldMk cId="3421660498" sldId="261"/>
            <ac:spMk id="8" creationId="{E0B6ED8A-E67E-B8F5-16BB-5BF975943A7A}"/>
          </ac:spMkLst>
        </pc:spChg>
        <pc:picChg chg="add mod modCrop">
          <ac:chgData name="Ezra Weible" userId="67bcaf2f89c4552e" providerId="LiveId" clId="{E4E19776-AA89-4579-B0CB-50FEF10C4E93}" dt="2026-03-02T06:19:41.050" v="991" actId="14100"/>
          <ac:picMkLst>
            <pc:docMk/>
            <pc:sldMk cId="3421660498" sldId="261"/>
            <ac:picMk id="5" creationId="{AD272D68-9BF5-ACD2-A9CF-64A8A6F4DBA2}"/>
          </ac:picMkLst>
        </pc:picChg>
        <pc:picChg chg="add mod modCrop">
          <ac:chgData name="Ezra Weible" userId="67bcaf2f89c4552e" providerId="LiveId" clId="{E4E19776-AA89-4579-B0CB-50FEF10C4E93}" dt="2026-03-02T06:20:14.358" v="995" actId="1076"/>
          <ac:picMkLst>
            <pc:docMk/>
            <pc:sldMk cId="3421660498" sldId="261"/>
            <ac:picMk id="7" creationId="{868F9F09-9E85-2651-71D6-7593B2A9A4A2}"/>
          </ac:picMkLst>
        </pc:picChg>
      </pc:sldChg>
      <pc:sldChg chg="addSp delSp modSp new mod">
        <pc:chgData name="Ezra Weible" userId="67bcaf2f89c4552e" providerId="LiveId" clId="{E4E19776-AA89-4579-B0CB-50FEF10C4E93}" dt="2026-03-02T06:22:49.677" v="1010" actId="1076"/>
        <pc:sldMkLst>
          <pc:docMk/>
          <pc:sldMk cId="4241141346" sldId="262"/>
        </pc:sldMkLst>
        <pc:spChg chg="mod">
          <ac:chgData name="Ezra Weible" userId="67bcaf2f89c4552e" providerId="LiveId" clId="{E4E19776-AA89-4579-B0CB-50FEF10C4E93}" dt="2026-03-02T06:22:28.596" v="1006" actId="20577"/>
          <ac:spMkLst>
            <pc:docMk/>
            <pc:sldMk cId="4241141346" sldId="262"/>
            <ac:spMk id="2" creationId="{797F2C28-C500-6BBE-8421-48D477758A8A}"/>
          </ac:spMkLst>
        </pc:spChg>
        <pc:spChg chg="del">
          <ac:chgData name="Ezra Weible" userId="67bcaf2f89c4552e" providerId="LiveId" clId="{E4E19776-AA89-4579-B0CB-50FEF10C4E93}" dt="2026-03-02T06:22:39.714" v="1007" actId="931"/>
          <ac:spMkLst>
            <pc:docMk/>
            <pc:sldMk cId="4241141346" sldId="262"/>
            <ac:spMk id="3" creationId="{63A10736-5D81-4CBD-54F9-9917E06531EF}"/>
          </ac:spMkLst>
        </pc:spChg>
        <pc:picChg chg="add mod">
          <ac:chgData name="Ezra Weible" userId="67bcaf2f89c4552e" providerId="LiveId" clId="{E4E19776-AA89-4579-B0CB-50FEF10C4E93}" dt="2026-03-02T06:22:49.677" v="1010" actId="1076"/>
          <ac:picMkLst>
            <pc:docMk/>
            <pc:sldMk cId="4241141346" sldId="262"/>
            <ac:picMk id="5" creationId="{7480106B-FE1D-378C-C5EC-5F80146DBA28}"/>
          </ac:picMkLst>
        </pc:picChg>
      </pc:sldChg>
      <pc:sldChg chg="modSp new mod">
        <pc:chgData name="Ezra Weible" userId="67bcaf2f89c4552e" providerId="LiveId" clId="{E4E19776-AA89-4579-B0CB-50FEF10C4E93}" dt="2026-03-02T06:26:04.195" v="1551" actId="20577"/>
        <pc:sldMkLst>
          <pc:docMk/>
          <pc:sldMk cId="526477587" sldId="263"/>
        </pc:sldMkLst>
        <pc:spChg chg="mod">
          <ac:chgData name="Ezra Weible" userId="67bcaf2f89c4552e" providerId="LiveId" clId="{E4E19776-AA89-4579-B0CB-50FEF10C4E93}" dt="2026-03-02T06:25:05.987" v="1256" actId="20577"/>
          <ac:spMkLst>
            <pc:docMk/>
            <pc:sldMk cId="526477587" sldId="263"/>
            <ac:spMk id="2" creationId="{918BB890-9475-61F8-E4FD-539EB1225540}"/>
          </ac:spMkLst>
        </pc:spChg>
        <pc:spChg chg="mod">
          <ac:chgData name="Ezra Weible" userId="67bcaf2f89c4552e" providerId="LiveId" clId="{E4E19776-AA89-4579-B0CB-50FEF10C4E93}" dt="2026-03-02T06:26:04.195" v="1551" actId="20577"/>
          <ac:spMkLst>
            <pc:docMk/>
            <pc:sldMk cId="526477587" sldId="263"/>
            <ac:spMk id="3" creationId="{A45962E8-9B6F-3E4F-36EA-FA81667F1DC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0EFA4-960B-4904-885A-CF0C95618E0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8332F0-876C-42EC-A93C-C92102BDEA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197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Here I’m looking at whether baseline hard drug use affects how well people respond to HAART two years later.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outcomes I’m focusing on are viral load on the log10 scale, CD4 count, and physical and mental quality‑of‑life scores. Hard drug use at baseline is the </a:t>
            </a:r>
            <a:r>
              <a:rPr lang="en-US"/>
              <a:t>main predictor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null hypothesis is that there’s no difference in year‑2 outcomes between baseline hard‑drug users and non‑users. I’m also keeping in mind what counts as a clinically meaningful difference: half a log10 for viral load, 50 CD4 cells, and 2 points on the QoL scales.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Figure 1 shows the distributions of the year‑2 outcomes, validating the log10 transformation of viral load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D2BE1A-52B3-4E0A-AE6E-FEFEFB71A9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915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This dataset includes 476 participants who had complete baseline and year‑2 measurements and reported baseline hard drug use.</a:t>
            </a:r>
          </a:p>
          <a:p>
            <a:pPr marL="171450" indent="-171450">
              <a:buFontTx/>
              <a:buChar char="-"/>
            </a:pPr>
            <a:r>
              <a:rPr lang="en-US" dirty="0"/>
              <a:t>A few data issues needed attention: some BMI values were miscoded or implausible, and several categorical variables had very small categories, so I collapsed smoking, education, and race into two groups each.</a:t>
            </a:r>
          </a:p>
          <a:p>
            <a:pPr marL="171450" indent="-171450">
              <a:buFontTx/>
              <a:buChar char="-"/>
            </a:pPr>
            <a:r>
              <a:rPr lang="en-US" dirty="0"/>
              <a:t>Baseline characteristics by drug‑use group are summarized in Tables 1 and 2. Viral load is analyzed on the log10 scale, and we’re using complete‑case analysis for each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D2BE1A-52B3-4E0A-AE6E-FEFEFB71A9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796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FE284-64B5-C5D0-B3E8-564B73702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CE5E8C-B0F2-6FFF-B663-5CD4BFCB6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A83D9-3923-6FBF-2132-DF3B625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CC66B7-5DCF-F354-99F5-75EA97264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5F299-A6EC-872F-DF77-F4CBF6B2D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790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B6D16-20B0-7319-6F13-8ABC50A7C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911CC-EF93-806C-60D4-1044A7C97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69CA3-BC5E-8CFF-5BB1-352569EA2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F8AAD-C092-8241-FCAC-A257BC84D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F29A6-EF3C-B25F-DDF5-109988232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640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846E-9883-C29B-92B5-5252065B8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1D6CD-7DC6-6EFE-70DC-4FBD8518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0976F6-7626-FF16-8FAE-5F493D0DC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003DA-F8FF-10B8-5230-9F43CD8BF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178A4-9DDB-6A2B-2C2C-33E29AB3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28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C06E0-AC4F-2D00-F35A-1D7E1F0E8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46523-327E-67A2-7032-1ECB97AFF7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DBDCC8-6EF1-3C7A-4964-86B33378F4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48C719-8DEC-D9F6-961B-25D3A9809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D5B53F-FF12-D94D-89AE-D2355F96B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ABA882-A2DD-197D-0E2D-2FFAC6125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502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1F11-0ADF-C696-603F-FC53DF2EB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BC530-81D9-555E-BC6C-443C2E64E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D3B3BD-6DB5-A52C-D86A-E9CA6B2106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F80B23-6581-F8F8-8680-F99B88D873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BA9478-C477-3BD6-61C6-7CB9452362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24A826-53E0-91EF-1534-68169DD42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80B5AC-8FEE-5D43-79EC-0F53CF4E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F3D00E-B4E1-C52C-2309-236330306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183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E2AFB-FA74-68B4-1558-2A692037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C5D354-5C3B-5A5D-D408-2DE6E7BD1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4B3425-CDA8-45DE-77B7-C609D89E8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C970A-6B22-1C61-C8A0-DA82373E4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002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7C6FF0-32B9-9670-A3DE-4E7110CF2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2F49CF-FE7A-762D-2FA1-2011677CE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5CA7A-D98D-427E-F6B4-C8B6F72EB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499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F34D2-3E61-A062-D0D6-3E4BCF995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1394D-6F94-9FD3-FE5B-607D94A41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9AA088-804B-7E89-3D19-11693890C0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A1C07-3CA2-EBAC-E839-63E52771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9A2230-91E0-891F-AD24-5C2321A2D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E9D8A3-04C0-B1E9-CA62-E71B64B4F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41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0F111-FDAD-319E-E960-FD60927F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D7592-443C-9CF6-D6B2-D867FF27D5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E907-A511-B6A5-3E12-50584FAF0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0F5EC8-DD5D-0A95-83A7-EA790E569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2D766-52D1-D8A3-EB93-DA0E04E8F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AA520C-A548-6FF1-8EFD-D111D91C9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427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5A4C7-4F50-9423-8EA2-A43D5F534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DC6F77-B750-8B23-A67E-174249E76B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42D16-4826-031B-04A2-0E154D998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BA1258-7FC9-DA63-6F7D-6A053BD15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99362-B7BA-6A6C-9ABD-2DB8686B6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46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3B060C-C061-E9CF-1A20-889C2DC5CB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C11011-8FEA-2AFF-C95C-9B0091DC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A19C9-4B35-D17D-D748-D7368AD66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3F49-C5CD-E519-C0B0-6BACBDED1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58C32-F9B8-AFC4-7F12-CEF8C548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544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BAF288-A17E-144A-D40C-D80E47E5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7BE835-34B0-9AA4-0636-29BD19862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3E5F96-C992-004B-B99B-33B633D9E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C4AEBB-EB7F-487C-A8ED-8DBAC0E887F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77DB2-676F-AA7A-CF45-9C780740BB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D508A-9F91-0102-E875-45ED9A8F7D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643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A05CB-D135-24A4-70E2-C769C9D4E3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Associations Between Baseline Hard Drug Use and Two-Year Treatment Outcomes After HAART Initiation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8EDFCD-1365-0B50-E2C7-26389D8331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 1</a:t>
            </a:r>
          </a:p>
          <a:p>
            <a:r>
              <a:rPr lang="en-US" dirty="0"/>
              <a:t>Ezra Weible</a:t>
            </a:r>
          </a:p>
          <a:p>
            <a:r>
              <a:rPr lang="en-US" dirty="0"/>
              <a:t>2 March 2026</a:t>
            </a:r>
          </a:p>
        </p:txBody>
      </p:sp>
    </p:spTree>
    <p:extLst>
      <p:ext uri="{BB962C8B-B14F-4D97-AF65-F5344CB8AC3E}">
        <p14:creationId xmlns:p14="http://schemas.microsoft.com/office/powerpoint/2010/main" val="172457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8FA23-D7FB-336E-27D3-D22A653A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EC1C9-F0BB-944E-104A-1C46C5D25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5253644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Does baseline hard drug use affect treatment response two years after initiating HAART?</a:t>
            </a:r>
          </a:p>
          <a:p>
            <a:pPr lvl="1"/>
            <a:r>
              <a:rPr lang="en-US" dirty="0"/>
              <a:t>Outcomes: viral load (log10 scale), CD4 count, physical and mental quality of life</a:t>
            </a:r>
          </a:p>
          <a:p>
            <a:pPr lvl="1"/>
            <a:r>
              <a:rPr lang="en-US" dirty="0"/>
              <a:t>Null Hypothesis: No difference in year-2 response between baseline hard drug users and non-users</a:t>
            </a:r>
          </a:p>
          <a:p>
            <a:r>
              <a:rPr lang="en-US" dirty="0"/>
              <a:t>Can this be explained by differences in second year adherence?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8A30CA-B1A8-8A5E-38F6-F3D88EB2C5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889" y="1329802"/>
            <a:ext cx="7049111" cy="5395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421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494F59-A2CB-EC87-AA9B-041040610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968" y="2948369"/>
            <a:ext cx="5534797" cy="38772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F2EA4A-770B-A007-C32D-C113EF2536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80149"/>
            <a:ext cx="5782482" cy="62778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944C85-5A76-96FD-50F8-486CF4A0F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604" y="32415"/>
            <a:ext cx="3837527" cy="1325563"/>
          </a:xfrm>
        </p:spPr>
        <p:txBody>
          <a:bodyPr/>
          <a:lstStyle/>
          <a:p>
            <a:pPr algn="ctr"/>
            <a:r>
              <a:rPr lang="en-US" dirty="0"/>
              <a:t>Data Overview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A07D77-2269-D274-738F-B2444736DC13}"/>
              </a:ext>
            </a:extLst>
          </p:cNvPr>
          <p:cNvSpPr txBox="1"/>
          <p:nvPr/>
        </p:nvSpPr>
        <p:spPr>
          <a:xfrm>
            <a:off x="6344317" y="1173312"/>
            <a:ext cx="5790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*</a:t>
            </a:r>
            <a:r>
              <a:rPr lang="en-US" dirty="0"/>
              <a:t>Collapsed to 2 categories each based on sample sizes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B8A822-D31F-B0D8-A93B-8FA4DA1E44A5}"/>
              </a:ext>
            </a:extLst>
          </p:cNvPr>
          <p:cNvSpPr txBox="1"/>
          <p:nvPr/>
        </p:nvSpPr>
        <p:spPr>
          <a:xfrm>
            <a:off x="-47847" y="4800523"/>
            <a:ext cx="3000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*</a:t>
            </a:r>
          </a:p>
          <a:p>
            <a:endParaRPr lang="en-US" b="1" dirty="0"/>
          </a:p>
          <a:p>
            <a:r>
              <a:rPr lang="en-US" b="1" dirty="0"/>
              <a:t>*</a:t>
            </a:r>
            <a:br>
              <a:rPr lang="en-US" b="1" dirty="0"/>
            </a:br>
            <a:br>
              <a:rPr lang="en-US" b="1" dirty="0"/>
            </a:br>
            <a:r>
              <a:rPr lang="en-US" b="1" dirty="0"/>
              <a:t>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8B4911-AAF2-73BA-87E9-8638E6A10DB3}"/>
              </a:ext>
            </a:extLst>
          </p:cNvPr>
          <p:cNvSpPr txBox="1"/>
          <p:nvPr/>
        </p:nvSpPr>
        <p:spPr>
          <a:xfrm>
            <a:off x="8422111" y="2107783"/>
            <a:ext cx="3808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463 subjects had complete outcome and covariate data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DFA17A8-8C28-A290-AA5A-52FF2677DB26}"/>
              </a:ext>
            </a:extLst>
          </p:cNvPr>
          <p:cNvCxnSpPr>
            <a:cxnSpLocks/>
          </p:cNvCxnSpPr>
          <p:nvPr/>
        </p:nvCxnSpPr>
        <p:spPr>
          <a:xfrm>
            <a:off x="11404927" y="2754114"/>
            <a:ext cx="0" cy="5571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678A103-B34A-7245-70D3-19061D09F596}"/>
              </a:ext>
            </a:extLst>
          </p:cNvPr>
          <p:cNvSpPr txBox="1"/>
          <p:nvPr/>
        </p:nvSpPr>
        <p:spPr>
          <a:xfrm>
            <a:off x="6372811" y="5908519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66294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15DF-3CD4-329A-4010-2682136C7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021CD-AE97-EDA5-E14F-25C0B1E7C8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15600" cy="480218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u="sng" dirty="0"/>
              <a:t>Primary Models</a:t>
            </a:r>
          </a:p>
          <a:p>
            <a:r>
              <a:rPr lang="en-US" dirty="0"/>
              <a:t>Linear regression for each year 2 outcome by hard drug status</a:t>
            </a:r>
          </a:p>
          <a:p>
            <a:pPr lvl="1"/>
            <a:r>
              <a:rPr lang="en-US" dirty="0"/>
              <a:t>Adjusted for: baseline outcome, age, BMI, smoking, education, race/ethnicity</a:t>
            </a:r>
          </a:p>
          <a:p>
            <a:r>
              <a:rPr lang="en-US" dirty="0"/>
              <a:t>Bayesian implementation</a:t>
            </a:r>
          </a:p>
          <a:p>
            <a:pPr lvl="1"/>
            <a:r>
              <a:rPr lang="en-US" dirty="0"/>
              <a:t>Priors: N(0,1000) for coefficients, half Normal(0,1000) for residual SD</a:t>
            </a:r>
          </a:p>
          <a:p>
            <a:pPr lvl="1"/>
            <a:r>
              <a:rPr lang="en-US" dirty="0"/>
              <a:t>Stan (HMC/NUTS), 4 chains, 2000 burn-in followed by 5000 iterations</a:t>
            </a:r>
          </a:p>
          <a:p>
            <a:pPr lvl="1"/>
            <a:r>
              <a:rPr lang="en-US" dirty="0"/>
              <a:t>Diagnostics: R-hat, ESS, trace, autocorrelation, and posterior density plots</a:t>
            </a:r>
          </a:p>
          <a:p>
            <a:pPr lvl="1"/>
            <a:r>
              <a:rPr lang="en-US" dirty="0"/>
              <a:t>Used clinically meaningful thresholds for posterior probability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sz="3000" u="sng" dirty="0"/>
              <a:t>Secondary Models</a:t>
            </a:r>
          </a:p>
          <a:p>
            <a:r>
              <a:rPr lang="en-US" dirty="0"/>
              <a:t>Refit each model including year 2 adherence</a:t>
            </a:r>
          </a:p>
          <a:p>
            <a:pPr lvl="1"/>
            <a:r>
              <a:rPr lang="en-US" dirty="0"/>
              <a:t>Compare estimates descriptively</a:t>
            </a:r>
          </a:p>
        </p:txBody>
      </p:sp>
    </p:spTree>
    <p:extLst>
      <p:ext uri="{BB962C8B-B14F-4D97-AF65-F5344CB8AC3E}">
        <p14:creationId xmlns:p14="http://schemas.microsoft.com/office/powerpoint/2010/main" val="387199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67FC7-B7BC-970E-1FA6-9034E8AF4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72D68-9BF5-ACD2-A9CF-64A8A6F4D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713"/>
          <a:stretch>
            <a:fillRect/>
          </a:stretch>
        </p:blipFill>
        <p:spPr>
          <a:xfrm>
            <a:off x="3158836" y="963119"/>
            <a:ext cx="9033164" cy="58766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8F9F09-9E85-2651-71D6-7593B2A9A4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758"/>
          <a:stretch>
            <a:fillRect/>
          </a:stretch>
        </p:blipFill>
        <p:spPr>
          <a:xfrm>
            <a:off x="3158836" y="-18243"/>
            <a:ext cx="9033164" cy="687624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0B6ED8A-E67E-B8F5-16BB-5BF975943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3158836" cy="480218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Strong evidence of lower CD4 counts among hard drug users</a:t>
            </a:r>
          </a:p>
          <a:p>
            <a:r>
              <a:rPr lang="en-US" dirty="0"/>
              <a:t>Moderate evidence of lower physical quality of life among hard drug users</a:t>
            </a:r>
          </a:p>
          <a:p>
            <a:r>
              <a:rPr lang="en-US" dirty="0"/>
              <a:t>Adherence adjustment did not change any conclusions</a:t>
            </a:r>
          </a:p>
        </p:txBody>
      </p:sp>
    </p:spTree>
    <p:extLst>
      <p:ext uri="{BB962C8B-B14F-4D97-AF65-F5344CB8AC3E}">
        <p14:creationId xmlns:p14="http://schemas.microsoft.com/office/powerpoint/2010/main" val="3421660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F2C28-C500-6BBE-8421-48D477758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80106B-FE1D-378C-C5EC-5F80146DB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4" y="0"/>
            <a:ext cx="8959956" cy="6858000"/>
          </a:xfrm>
        </p:spPr>
      </p:pic>
    </p:spTree>
    <p:extLst>
      <p:ext uri="{BB962C8B-B14F-4D97-AF65-F5344CB8AC3E}">
        <p14:creationId xmlns:p14="http://schemas.microsoft.com/office/powerpoint/2010/main" val="424114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BB890-9475-61F8-E4FD-539EB1225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962E8-9B6F-3E4F-36EA-FA81667F1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Hard drug use and adherence are self reported and only measured once</a:t>
            </a:r>
          </a:p>
          <a:p>
            <a:pPr lvl="1"/>
            <a:r>
              <a:rPr lang="en-US" dirty="0"/>
              <a:t>Complete case analysis may introduce bias</a:t>
            </a:r>
          </a:p>
          <a:p>
            <a:pPr lvl="1"/>
            <a:r>
              <a:rPr lang="en-US" dirty="0"/>
              <a:t>Potential differential dropout by drug use</a:t>
            </a:r>
          </a:p>
          <a:p>
            <a:pPr lvl="1"/>
            <a:r>
              <a:rPr lang="en-US" dirty="0"/>
              <a:t>Potential unmeasured confounders (SES, mental health, co-infections)</a:t>
            </a:r>
          </a:p>
          <a:p>
            <a:pPr lvl="1"/>
            <a:r>
              <a:rPr lang="en-US" dirty="0"/>
              <a:t>Generalization beyond MACS cohort</a:t>
            </a:r>
          </a:p>
        </p:txBody>
      </p:sp>
    </p:spTree>
    <p:extLst>
      <p:ext uri="{BB962C8B-B14F-4D97-AF65-F5344CB8AC3E}">
        <p14:creationId xmlns:p14="http://schemas.microsoft.com/office/powerpoint/2010/main" val="526477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504</Words>
  <Application>Microsoft Office PowerPoint</Application>
  <PresentationFormat>Widescreen</PresentationFormat>
  <Paragraphs>50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Associations Between Baseline Hard Drug Use and Two-Year Treatment Outcomes After HAART Initiation</vt:lpstr>
      <vt:lpstr>Research Question</vt:lpstr>
      <vt:lpstr>Data Overview</vt:lpstr>
      <vt:lpstr>Analysis Overview</vt:lpstr>
      <vt:lpstr>Results</vt:lpstr>
      <vt:lpstr>Results 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Weible, Ezra</dc:creator>
  <cp:lastModifiedBy>Weible, Ezra</cp:lastModifiedBy>
  <cp:revision>1</cp:revision>
  <dcterms:created xsi:type="dcterms:W3CDTF">2026-03-02T06:00:18Z</dcterms:created>
  <dcterms:modified xsi:type="dcterms:W3CDTF">2026-03-02T06:29:34Z</dcterms:modified>
</cp:coreProperties>
</file>