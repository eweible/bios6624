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8" r:id="rId3"/>
    <p:sldId id="260" r:id="rId4"/>
    <p:sldId id="259"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AA4D66-65EB-4A1D-819D-11B87478C751}" v="17" dt="2026-03-02T07:00:50.4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601" autoAdjust="0"/>
  </p:normalViewPr>
  <p:slideViewPr>
    <p:cSldViewPr snapToGrid="0">
      <p:cViewPr varScale="1">
        <p:scale>
          <a:sx n="81" d="100"/>
          <a:sy n="81" d="100"/>
        </p:scale>
        <p:origin x="114" y="9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zra Weible" userId="67bcaf2f89c4552e" providerId="LiveId" clId="{E4E19776-AA89-4579-B0CB-50FEF10C4E93}"/>
    <pc:docChg chg="undo redo custSel addSld delSld modSld">
      <pc:chgData name="Ezra Weible" userId="67bcaf2f89c4552e" providerId="LiveId" clId="{E4E19776-AA89-4579-B0CB-50FEF10C4E93}" dt="2026-03-02T07:02:21.700" v="3054" actId="20577"/>
      <pc:docMkLst>
        <pc:docMk/>
      </pc:docMkLst>
      <pc:sldChg chg="modSp mod">
        <pc:chgData name="Ezra Weible" userId="67bcaf2f89c4552e" providerId="LiveId" clId="{E4E19776-AA89-4579-B0CB-50FEF10C4E93}" dt="2026-03-02T06:29:32.647" v="1555" actId="404"/>
        <pc:sldMkLst>
          <pc:docMk/>
          <pc:sldMk cId="172457528" sldId="256"/>
        </pc:sldMkLst>
        <pc:spChg chg="mod">
          <ac:chgData name="Ezra Weible" userId="67bcaf2f89c4552e" providerId="LiveId" clId="{E4E19776-AA89-4579-B0CB-50FEF10C4E93}" dt="2026-03-02T06:29:32.647" v="1555" actId="404"/>
          <ac:spMkLst>
            <pc:docMk/>
            <pc:sldMk cId="172457528" sldId="256"/>
            <ac:spMk id="2" creationId="{22BA05CB-D135-24A4-70E2-C769C9D4E398}"/>
          </ac:spMkLst>
        </pc:spChg>
        <pc:spChg chg="mod">
          <ac:chgData name="Ezra Weible" userId="67bcaf2f89c4552e" providerId="LiveId" clId="{E4E19776-AA89-4579-B0CB-50FEF10C4E93}" dt="2026-03-02T06:02:59.231" v="41" actId="20577"/>
          <ac:spMkLst>
            <pc:docMk/>
            <pc:sldMk cId="172457528" sldId="256"/>
            <ac:spMk id="3" creationId="{738EDFCD-1365-0B50-E2C7-26389D8331A7}"/>
          </ac:spMkLst>
        </pc:spChg>
      </pc:sldChg>
      <pc:sldChg chg="addSp new del">
        <pc:chgData name="Ezra Weible" userId="67bcaf2f89c4552e" providerId="LiveId" clId="{E4E19776-AA89-4579-B0CB-50FEF10C4E93}" dt="2026-03-02T06:03:25.841" v="45" actId="47"/>
        <pc:sldMkLst>
          <pc:docMk/>
          <pc:sldMk cId="1654238856" sldId="257"/>
        </pc:sldMkLst>
        <pc:picChg chg="add">
          <ac:chgData name="Ezra Weible" userId="67bcaf2f89c4552e" providerId="LiveId" clId="{E4E19776-AA89-4579-B0CB-50FEF10C4E93}" dt="2026-03-02T06:03:15.314" v="43"/>
          <ac:picMkLst>
            <pc:docMk/>
            <pc:sldMk cId="1654238856" sldId="257"/>
            <ac:picMk id="4" creationId="{4AB4C566-0211-AE90-A2D8-D767B60033F1}"/>
          </ac:picMkLst>
        </pc:picChg>
      </pc:sldChg>
      <pc:sldChg chg="addSp delSp modSp add mod modNotesTx">
        <pc:chgData name="Ezra Weible" userId="67bcaf2f89c4552e" providerId="LiveId" clId="{E4E19776-AA89-4579-B0CB-50FEF10C4E93}" dt="2026-03-02T06:47:08.575" v="1905" actId="20577"/>
        <pc:sldMkLst>
          <pc:docMk/>
          <pc:sldMk cId="3886421937" sldId="258"/>
        </pc:sldMkLst>
        <pc:spChg chg="mod">
          <ac:chgData name="Ezra Weible" userId="67bcaf2f89c4552e" providerId="LiveId" clId="{E4E19776-AA89-4579-B0CB-50FEF10C4E93}" dt="2026-03-02T06:04:48.814" v="168" actId="27636"/>
          <ac:spMkLst>
            <pc:docMk/>
            <pc:sldMk cId="3886421937" sldId="258"/>
            <ac:spMk id="3" creationId="{3DDEC1C9-F0BB-944E-104A-1C46C5D25AF4}"/>
          </ac:spMkLst>
        </pc:spChg>
        <pc:picChg chg="add mod">
          <ac:chgData name="Ezra Weible" userId="67bcaf2f89c4552e" providerId="LiveId" clId="{E4E19776-AA89-4579-B0CB-50FEF10C4E93}" dt="2026-03-02T06:10:23.602" v="170" actId="1076"/>
          <ac:picMkLst>
            <pc:docMk/>
            <pc:sldMk cId="3886421937" sldId="258"/>
            <ac:picMk id="5" creationId="{688A30CA-B1A8-8A5E-38F6-F3D88EB2C501}"/>
          </ac:picMkLst>
        </pc:picChg>
        <pc:picChg chg="del">
          <ac:chgData name="Ezra Weible" userId="67bcaf2f89c4552e" providerId="LiveId" clId="{E4E19776-AA89-4579-B0CB-50FEF10C4E93}" dt="2026-03-02T06:03:43.226" v="48" actId="478"/>
          <ac:picMkLst>
            <pc:docMk/>
            <pc:sldMk cId="3886421937" sldId="258"/>
            <ac:picMk id="8" creationId="{4B908AD0-3AAB-40FF-B6EA-B08760851026}"/>
          </ac:picMkLst>
        </pc:picChg>
      </pc:sldChg>
      <pc:sldChg chg="modSp new mod modNotesTx">
        <pc:chgData name="Ezra Weible" userId="67bcaf2f89c4552e" providerId="LiveId" clId="{E4E19776-AA89-4579-B0CB-50FEF10C4E93}" dt="2026-03-02T06:50:17.482" v="2384" actId="14"/>
        <pc:sldMkLst>
          <pc:docMk/>
          <pc:sldMk cId="387199353" sldId="259"/>
        </pc:sldMkLst>
        <pc:spChg chg="mod">
          <ac:chgData name="Ezra Weible" userId="67bcaf2f89c4552e" providerId="LiveId" clId="{E4E19776-AA89-4579-B0CB-50FEF10C4E93}" dt="2026-03-02T06:13:48.770" v="283" actId="20577"/>
          <ac:spMkLst>
            <pc:docMk/>
            <pc:sldMk cId="387199353" sldId="259"/>
            <ac:spMk id="2" creationId="{518015DF-3CD4-329A-4010-2682136C7949}"/>
          </ac:spMkLst>
        </pc:spChg>
        <pc:spChg chg="mod">
          <ac:chgData name="Ezra Weible" userId="67bcaf2f89c4552e" providerId="LiveId" clId="{E4E19776-AA89-4579-B0CB-50FEF10C4E93}" dt="2026-03-02T06:18:17.666" v="966" actId="20577"/>
          <ac:spMkLst>
            <pc:docMk/>
            <pc:sldMk cId="387199353" sldId="259"/>
            <ac:spMk id="3" creationId="{C8E021CD-AE97-EDA5-E14F-25C0B1E7C85E}"/>
          </ac:spMkLst>
        </pc:spChg>
      </pc:sldChg>
      <pc:sldChg chg="addSp delSp modSp add mod modNotesTx">
        <pc:chgData name="Ezra Weible" userId="67bcaf2f89c4552e" providerId="LiveId" clId="{E4E19776-AA89-4579-B0CB-50FEF10C4E93}" dt="2026-03-02T06:48:35.489" v="2097" actId="1076"/>
        <pc:sldMkLst>
          <pc:docMk/>
          <pc:sldMk cId="3662945949" sldId="260"/>
        </pc:sldMkLst>
        <pc:spChg chg="add mod">
          <ac:chgData name="Ezra Weible" userId="67bcaf2f89c4552e" providerId="LiveId" clId="{E4E19776-AA89-4579-B0CB-50FEF10C4E93}" dt="2026-03-02T06:48:35.489" v="2097" actId="1076"/>
          <ac:spMkLst>
            <pc:docMk/>
            <pc:sldMk cId="3662945949" sldId="260"/>
            <ac:spMk id="8" creationId="{2678A103-B34A-7245-70D3-19061D09F596}"/>
          </ac:spMkLst>
        </pc:spChg>
        <pc:spChg chg="mod">
          <ac:chgData name="Ezra Weible" userId="67bcaf2f89c4552e" providerId="LiveId" clId="{E4E19776-AA89-4579-B0CB-50FEF10C4E93}" dt="2026-03-02T06:12:43.439" v="257" actId="1076"/>
          <ac:spMkLst>
            <pc:docMk/>
            <pc:sldMk cId="3662945949" sldId="260"/>
            <ac:spMk id="10" creationId="{278B4911-AAF2-73BA-87E9-8638E6A10DB3}"/>
          </ac:spMkLst>
        </pc:spChg>
        <pc:spChg chg="mod">
          <ac:chgData name="Ezra Weible" userId="67bcaf2f89c4552e" providerId="LiveId" clId="{E4E19776-AA89-4579-B0CB-50FEF10C4E93}" dt="2026-03-02T06:12:08.933" v="181" actId="1076"/>
          <ac:spMkLst>
            <pc:docMk/>
            <pc:sldMk cId="3662945949" sldId="260"/>
            <ac:spMk id="20" creationId="{EAB8A822-D31F-B0D8-A93B-8FA4DA1E44A5}"/>
          </ac:spMkLst>
        </pc:spChg>
        <pc:picChg chg="del">
          <ac:chgData name="Ezra Weible" userId="67bcaf2f89c4552e" providerId="LiveId" clId="{E4E19776-AA89-4579-B0CB-50FEF10C4E93}" dt="2026-03-02T06:11:32.731" v="173" actId="478"/>
          <ac:picMkLst>
            <pc:docMk/>
            <pc:sldMk cId="3662945949" sldId="260"/>
            <ac:picMk id="4" creationId="{36C99FA2-AA1A-1222-EE9C-76ACA2259E4D}"/>
          </ac:picMkLst>
        </pc:picChg>
        <pc:picChg chg="add mod ord">
          <ac:chgData name="Ezra Weible" userId="67bcaf2f89c4552e" providerId="LiveId" clId="{E4E19776-AA89-4579-B0CB-50FEF10C4E93}" dt="2026-03-02T06:12:03.243" v="180" actId="1076"/>
          <ac:picMkLst>
            <pc:docMk/>
            <pc:sldMk cId="3662945949" sldId="260"/>
            <ac:picMk id="5" creationId="{CBF2EA4A-770B-A007-C32D-C113EF253623}"/>
          </ac:picMkLst>
        </pc:picChg>
        <pc:picChg chg="add mod ord">
          <ac:chgData name="Ezra Weible" userId="67bcaf2f89c4552e" providerId="LiveId" clId="{E4E19776-AA89-4579-B0CB-50FEF10C4E93}" dt="2026-03-02T06:12:14.687" v="182" actId="167"/>
          <ac:picMkLst>
            <pc:docMk/>
            <pc:sldMk cId="3662945949" sldId="260"/>
            <ac:picMk id="7" creationId="{D9494F59-A2CB-EC87-AA9B-041040610F76}"/>
          </ac:picMkLst>
        </pc:picChg>
        <pc:picChg chg="del">
          <ac:chgData name="Ezra Weible" userId="67bcaf2f89c4552e" providerId="LiveId" clId="{E4E19776-AA89-4579-B0CB-50FEF10C4E93}" dt="2026-03-02T06:11:57.057" v="178" actId="478"/>
          <ac:picMkLst>
            <pc:docMk/>
            <pc:sldMk cId="3662945949" sldId="260"/>
            <ac:picMk id="17" creationId="{EAC0159E-8D1F-4D51-A052-DB93628CE193}"/>
          </ac:picMkLst>
        </pc:picChg>
      </pc:sldChg>
      <pc:sldChg chg="addSp delSp modSp new mod modAnim modNotesTx">
        <pc:chgData name="Ezra Weible" userId="67bcaf2f89c4552e" providerId="LiveId" clId="{E4E19776-AA89-4579-B0CB-50FEF10C4E93}" dt="2026-03-02T06:52:06.804" v="2694" actId="20577"/>
        <pc:sldMkLst>
          <pc:docMk/>
          <pc:sldMk cId="3421660498" sldId="261"/>
        </pc:sldMkLst>
        <pc:spChg chg="mod">
          <ac:chgData name="Ezra Weible" userId="67bcaf2f89c4552e" providerId="LiveId" clId="{E4E19776-AA89-4579-B0CB-50FEF10C4E93}" dt="2026-03-02T06:18:26.585" v="976" actId="20577"/>
          <ac:spMkLst>
            <pc:docMk/>
            <pc:sldMk cId="3421660498" sldId="261"/>
            <ac:spMk id="2" creationId="{AF467FC7-B7BC-970E-1FA6-9034E8AF46F6}"/>
          </ac:spMkLst>
        </pc:spChg>
        <pc:spChg chg="del">
          <ac:chgData name="Ezra Weible" userId="67bcaf2f89c4552e" providerId="LiveId" clId="{E4E19776-AA89-4579-B0CB-50FEF10C4E93}" dt="2026-03-02T06:18:49.063" v="977" actId="478"/>
          <ac:spMkLst>
            <pc:docMk/>
            <pc:sldMk cId="3421660498" sldId="261"/>
            <ac:spMk id="3" creationId="{7A980D9D-3FE1-DE37-4B8B-AC63E86BD7FA}"/>
          </ac:spMkLst>
        </pc:spChg>
        <pc:spChg chg="add mod">
          <ac:chgData name="Ezra Weible" userId="67bcaf2f89c4552e" providerId="LiveId" clId="{E4E19776-AA89-4579-B0CB-50FEF10C4E93}" dt="2026-03-02T06:24:35.201" v="1214" actId="1076"/>
          <ac:spMkLst>
            <pc:docMk/>
            <pc:sldMk cId="3421660498" sldId="261"/>
            <ac:spMk id="8" creationId="{E0B6ED8A-E67E-B8F5-16BB-5BF975943A7A}"/>
          </ac:spMkLst>
        </pc:spChg>
        <pc:picChg chg="add mod modCrop">
          <ac:chgData name="Ezra Weible" userId="67bcaf2f89c4552e" providerId="LiveId" clId="{E4E19776-AA89-4579-B0CB-50FEF10C4E93}" dt="2026-03-02T06:19:41.050" v="991" actId="14100"/>
          <ac:picMkLst>
            <pc:docMk/>
            <pc:sldMk cId="3421660498" sldId="261"/>
            <ac:picMk id="5" creationId="{AD272D68-9BF5-ACD2-A9CF-64A8A6F4DBA2}"/>
          </ac:picMkLst>
        </pc:picChg>
        <pc:picChg chg="add mod modCrop">
          <ac:chgData name="Ezra Weible" userId="67bcaf2f89c4552e" providerId="LiveId" clId="{E4E19776-AA89-4579-B0CB-50FEF10C4E93}" dt="2026-03-02T06:20:14.358" v="995" actId="1076"/>
          <ac:picMkLst>
            <pc:docMk/>
            <pc:sldMk cId="3421660498" sldId="261"/>
            <ac:picMk id="7" creationId="{868F9F09-9E85-2651-71D6-7593B2A9A4A2}"/>
          </ac:picMkLst>
        </pc:picChg>
      </pc:sldChg>
      <pc:sldChg chg="addSp delSp modSp new mod modNotesTx">
        <pc:chgData name="Ezra Weible" userId="67bcaf2f89c4552e" providerId="LiveId" clId="{E4E19776-AA89-4579-B0CB-50FEF10C4E93}" dt="2026-03-02T07:02:21.700" v="3054" actId="20577"/>
        <pc:sldMkLst>
          <pc:docMk/>
          <pc:sldMk cId="4241141346" sldId="262"/>
        </pc:sldMkLst>
        <pc:spChg chg="mod">
          <ac:chgData name="Ezra Weible" userId="67bcaf2f89c4552e" providerId="LiveId" clId="{E4E19776-AA89-4579-B0CB-50FEF10C4E93}" dt="2026-03-02T06:22:28.596" v="1006" actId="20577"/>
          <ac:spMkLst>
            <pc:docMk/>
            <pc:sldMk cId="4241141346" sldId="262"/>
            <ac:spMk id="2" creationId="{797F2C28-C500-6BBE-8421-48D477758A8A}"/>
          </ac:spMkLst>
        </pc:spChg>
        <pc:spChg chg="add mod">
          <ac:chgData name="Ezra Weible" userId="67bcaf2f89c4552e" providerId="LiveId" clId="{E4E19776-AA89-4579-B0CB-50FEF10C4E93}" dt="2026-03-02T07:00:57.801" v="2722" actId="27636"/>
          <ac:spMkLst>
            <pc:docMk/>
            <pc:sldMk cId="4241141346" sldId="262"/>
            <ac:spMk id="3" creationId="{53376DF1-8DE5-D260-301B-8DBEDDB2F2E2}"/>
          </ac:spMkLst>
        </pc:spChg>
        <pc:spChg chg="del">
          <ac:chgData name="Ezra Weible" userId="67bcaf2f89c4552e" providerId="LiveId" clId="{E4E19776-AA89-4579-B0CB-50FEF10C4E93}" dt="2026-03-02T06:22:39.714" v="1007" actId="931"/>
          <ac:spMkLst>
            <pc:docMk/>
            <pc:sldMk cId="4241141346" sldId="262"/>
            <ac:spMk id="3" creationId="{63A10736-5D81-4CBD-54F9-9917E06531EF}"/>
          </ac:spMkLst>
        </pc:spChg>
        <pc:picChg chg="add mod">
          <ac:chgData name="Ezra Weible" userId="67bcaf2f89c4552e" providerId="LiveId" clId="{E4E19776-AA89-4579-B0CB-50FEF10C4E93}" dt="2026-03-02T06:22:49.677" v="1010" actId="1076"/>
          <ac:picMkLst>
            <pc:docMk/>
            <pc:sldMk cId="4241141346" sldId="262"/>
            <ac:picMk id="5" creationId="{7480106B-FE1D-378C-C5EC-5F80146DBA28}"/>
          </ac:picMkLst>
        </pc:picChg>
      </pc:sldChg>
      <pc:sldChg chg="modSp new mod">
        <pc:chgData name="Ezra Weible" userId="67bcaf2f89c4552e" providerId="LiveId" clId="{E4E19776-AA89-4579-B0CB-50FEF10C4E93}" dt="2026-03-02T06:26:04.195" v="1551" actId="20577"/>
        <pc:sldMkLst>
          <pc:docMk/>
          <pc:sldMk cId="526477587" sldId="263"/>
        </pc:sldMkLst>
        <pc:spChg chg="mod">
          <ac:chgData name="Ezra Weible" userId="67bcaf2f89c4552e" providerId="LiveId" clId="{E4E19776-AA89-4579-B0CB-50FEF10C4E93}" dt="2026-03-02T06:25:05.987" v="1256" actId="20577"/>
          <ac:spMkLst>
            <pc:docMk/>
            <pc:sldMk cId="526477587" sldId="263"/>
            <ac:spMk id="2" creationId="{918BB890-9475-61F8-E4FD-539EB1225540}"/>
          </ac:spMkLst>
        </pc:spChg>
        <pc:spChg chg="mod">
          <ac:chgData name="Ezra Weible" userId="67bcaf2f89c4552e" providerId="LiveId" clId="{E4E19776-AA89-4579-B0CB-50FEF10C4E93}" dt="2026-03-02T06:26:04.195" v="1551" actId="20577"/>
          <ac:spMkLst>
            <pc:docMk/>
            <pc:sldMk cId="526477587" sldId="263"/>
            <ac:spMk id="3" creationId="{A45962E8-9B6F-3E4F-36EA-FA81667F1DC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0EFA4-960B-4904-885A-CF0C95618E09}"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8332F0-876C-42EC-A93C-C92102BDEA90}" type="slidenum">
              <a:rPr lang="en-US" smtClean="0"/>
              <a:t>‹#›</a:t>
            </a:fld>
            <a:endParaRPr lang="en-US"/>
          </a:p>
        </p:txBody>
      </p:sp>
    </p:spTree>
    <p:extLst>
      <p:ext uri="{BB962C8B-B14F-4D97-AF65-F5344CB8AC3E}">
        <p14:creationId xmlns:p14="http://schemas.microsoft.com/office/powerpoint/2010/main" val="2429197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 As you can see, the distributions largely agree between those that reported using hard drugs and those that did not, though there are many more non-users present. You can see that the shape of the CD4 and physical quality of life figures are the most different by group. </a:t>
            </a:r>
          </a:p>
        </p:txBody>
      </p:sp>
      <p:sp>
        <p:nvSpPr>
          <p:cNvPr id="4" name="Slide Number Placeholder 3"/>
          <p:cNvSpPr>
            <a:spLocks noGrp="1"/>
          </p:cNvSpPr>
          <p:nvPr>
            <p:ph type="sldNum" sz="quarter" idx="5"/>
          </p:nvPr>
        </p:nvSpPr>
        <p:spPr/>
        <p:txBody>
          <a:bodyPr/>
          <a:lstStyle/>
          <a:p>
            <a:fld id="{4DD2BE1A-52B3-4E0A-AE6E-FEFEFB71A999}" type="slidenum">
              <a:rPr lang="en-US" smtClean="0"/>
              <a:t>2</a:t>
            </a:fld>
            <a:endParaRPr lang="en-US"/>
          </a:p>
        </p:txBody>
      </p:sp>
    </p:spTree>
    <p:extLst>
      <p:ext uri="{BB962C8B-B14F-4D97-AF65-F5344CB8AC3E}">
        <p14:creationId xmlns:p14="http://schemas.microsoft.com/office/powerpoint/2010/main" val="1532915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This dataset includes 715 participants that were filtered to 463 who had complete baseline and year‑2 outcomes, baseline covariates, and year two adherence. This allows for easy comparison across models. </a:t>
            </a:r>
          </a:p>
          <a:p>
            <a:pPr marL="171450" indent="-171450">
              <a:buFontTx/>
              <a:buChar char="-"/>
            </a:pPr>
            <a:r>
              <a:rPr lang="en-US" dirty="0"/>
              <a:t>A few data issues needed attention: some BMI values were miscoded or implausible, and several categorical variables had very small categories that needed to be collapsed. Viral load is analyzed on the log10 scale.</a:t>
            </a:r>
          </a:p>
        </p:txBody>
      </p:sp>
      <p:sp>
        <p:nvSpPr>
          <p:cNvPr id="4" name="Slide Number Placeholder 3"/>
          <p:cNvSpPr>
            <a:spLocks noGrp="1"/>
          </p:cNvSpPr>
          <p:nvPr>
            <p:ph type="sldNum" sz="quarter" idx="5"/>
          </p:nvPr>
        </p:nvSpPr>
        <p:spPr/>
        <p:txBody>
          <a:bodyPr/>
          <a:lstStyle/>
          <a:p>
            <a:fld id="{4DD2BE1A-52B3-4E0A-AE6E-FEFEFB71A999}" type="slidenum">
              <a:rPr lang="en-US" smtClean="0"/>
              <a:t>3</a:t>
            </a:fld>
            <a:endParaRPr lang="en-US"/>
          </a:p>
        </p:txBody>
      </p:sp>
    </p:spTree>
    <p:extLst>
      <p:ext uri="{BB962C8B-B14F-4D97-AF65-F5344CB8AC3E}">
        <p14:creationId xmlns:p14="http://schemas.microsoft.com/office/powerpoint/2010/main" val="2555879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Frequentist and Bayesian approaches for a total of 16 models </a:t>
            </a:r>
          </a:p>
          <a:p>
            <a:pPr marL="171450" indent="-171450">
              <a:buFontTx/>
              <a:buChar char="-"/>
            </a:pPr>
            <a:r>
              <a:rPr lang="en-US" dirty="0"/>
              <a:t>No p-value adjustment for frequentist due to the prior specification of the importance of all outcomes, just noted in the discussion</a:t>
            </a:r>
          </a:p>
          <a:p>
            <a:pPr marL="171450" indent="-171450">
              <a:buFontTx/>
              <a:buChar char="-"/>
            </a:pPr>
            <a:r>
              <a:rPr lang="en-US" dirty="0"/>
              <a:t>Bayesian STAN used Hamiltonian Monte Carlo algorithm with the no-U-turn sampler </a:t>
            </a:r>
          </a:p>
          <a:p>
            <a:pPr marL="628650" lvl="1" indent="-171450">
              <a:buFontTx/>
              <a:buChar char="-"/>
            </a:pPr>
            <a:r>
              <a:rPr lang="en-US" dirty="0"/>
              <a:t>Diagnostics all looked good</a:t>
            </a:r>
          </a:p>
          <a:p>
            <a:pPr marL="171450" lvl="0" indent="-171450">
              <a:buFontTx/>
              <a:buChar char="-"/>
            </a:pPr>
            <a:endParaRPr lang="en-US" dirty="0"/>
          </a:p>
          <a:p>
            <a:pPr marL="628650" lvl="1" indent="-171450">
              <a:buFontTx/>
              <a:buChar char="-"/>
            </a:pPr>
            <a:endParaRPr lang="en-US" dirty="0"/>
          </a:p>
          <a:p>
            <a:pPr marL="0" indent="0">
              <a:buFontTx/>
              <a:buNone/>
            </a:pPr>
            <a:endParaRPr lang="en-US" dirty="0"/>
          </a:p>
        </p:txBody>
      </p:sp>
      <p:sp>
        <p:nvSpPr>
          <p:cNvPr id="4" name="Slide Number Placeholder 3"/>
          <p:cNvSpPr>
            <a:spLocks noGrp="1"/>
          </p:cNvSpPr>
          <p:nvPr>
            <p:ph type="sldNum" sz="quarter" idx="5"/>
          </p:nvPr>
        </p:nvSpPr>
        <p:spPr/>
        <p:txBody>
          <a:bodyPr/>
          <a:lstStyle/>
          <a:p>
            <a:fld id="{B18332F0-876C-42EC-A93C-C92102BDEA90}" type="slidenum">
              <a:rPr lang="en-US" smtClean="0"/>
              <a:t>4</a:t>
            </a:fld>
            <a:endParaRPr lang="en-US"/>
          </a:p>
        </p:txBody>
      </p:sp>
    </p:spTree>
    <p:extLst>
      <p:ext uri="{BB962C8B-B14F-4D97-AF65-F5344CB8AC3E}">
        <p14:creationId xmlns:p14="http://schemas.microsoft.com/office/powerpoint/2010/main" val="2627599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Clinically meaningful effect for CD4: 50 cells. Estimate and HPDI were lower and posterior probability was 1.000</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Clinically meaningful effect for physical quality of life: 2 points. Estimate was lower but HPDI overlapped with smaller posterior probability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The largest % changes from adherence were</a:t>
            </a:r>
          </a:p>
        </p:txBody>
      </p:sp>
      <p:sp>
        <p:nvSpPr>
          <p:cNvPr id="4" name="Slide Number Placeholder 3"/>
          <p:cNvSpPr>
            <a:spLocks noGrp="1"/>
          </p:cNvSpPr>
          <p:nvPr>
            <p:ph type="sldNum" sz="quarter" idx="5"/>
          </p:nvPr>
        </p:nvSpPr>
        <p:spPr/>
        <p:txBody>
          <a:bodyPr/>
          <a:lstStyle/>
          <a:p>
            <a:fld id="{B18332F0-876C-42EC-A93C-C92102BDEA90}" type="slidenum">
              <a:rPr lang="en-US" smtClean="0"/>
              <a:t>5</a:t>
            </a:fld>
            <a:endParaRPr lang="en-US"/>
          </a:p>
        </p:txBody>
      </p:sp>
    </p:spTree>
    <p:extLst>
      <p:ext uri="{BB962C8B-B14F-4D97-AF65-F5344CB8AC3E}">
        <p14:creationId xmlns:p14="http://schemas.microsoft.com/office/powerpoint/2010/main" val="581901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 rectangles represent the clinically significant differences by group. CD4 is well outside the range and physical quality of life is overlapping with intervals but not with point estimates, matching the previous conclusions.</a:t>
            </a:r>
          </a:p>
        </p:txBody>
      </p:sp>
      <p:sp>
        <p:nvSpPr>
          <p:cNvPr id="4" name="Slide Number Placeholder 3"/>
          <p:cNvSpPr>
            <a:spLocks noGrp="1"/>
          </p:cNvSpPr>
          <p:nvPr>
            <p:ph type="sldNum" sz="quarter" idx="5"/>
          </p:nvPr>
        </p:nvSpPr>
        <p:spPr/>
        <p:txBody>
          <a:bodyPr/>
          <a:lstStyle/>
          <a:p>
            <a:fld id="{B18332F0-876C-42EC-A93C-C92102BDEA90}" type="slidenum">
              <a:rPr lang="en-US" smtClean="0"/>
              <a:t>6</a:t>
            </a:fld>
            <a:endParaRPr lang="en-US"/>
          </a:p>
        </p:txBody>
      </p:sp>
    </p:spTree>
    <p:extLst>
      <p:ext uri="{BB962C8B-B14F-4D97-AF65-F5344CB8AC3E}">
        <p14:creationId xmlns:p14="http://schemas.microsoft.com/office/powerpoint/2010/main" val="2364730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FE284-64B5-C5D0-B3E8-564B73702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CE5E8C-B0F2-6FFF-B663-5CD4BFCB6A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7A83D9-3923-6FBF-2132-DF3B625BDF99}"/>
              </a:ext>
            </a:extLst>
          </p:cNvPr>
          <p:cNvSpPr>
            <a:spLocks noGrp="1"/>
          </p:cNvSpPr>
          <p:nvPr>
            <p:ph type="dt" sz="half" idx="10"/>
          </p:nvPr>
        </p:nvSpPr>
        <p:spPr/>
        <p:txBody>
          <a:bodyPr/>
          <a:lstStyle/>
          <a:p>
            <a:fld id="{81C4AEBB-EB7F-487C-A8ED-8DBAC0E887FE}" type="datetimeFigureOut">
              <a:rPr lang="en-US" smtClean="0"/>
              <a:t>3/1/2026</a:t>
            </a:fld>
            <a:endParaRPr lang="en-US"/>
          </a:p>
        </p:txBody>
      </p:sp>
      <p:sp>
        <p:nvSpPr>
          <p:cNvPr id="5" name="Footer Placeholder 4">
            <a:extLst>
              <a:ext uri="{FF2B5EF4-FFF2-40B4-BE49-F238E27FC236}">
                <a16:creationId xmlns:a16="http://schemas.microsoft.com/office/drawing/2014/main" id="{E0CC66B7-5DCF-F354-99F5-75EA972641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75F299-A6EC-872F-DF77-F4CBF6B2D361}"/>
              </a:ext>
            </a:extLst>
          </p:cNvPr>
          <p:cNvSpPr>
            <a:spLocks noGrp="1"/>
          </p:cNvSpPr>
          <p:nvPr>
            <p:ph type="sldNum" sz="quarter" idx="12"/>
          </p:nvPr>
        </p:nvSpPr>
        <p:spPr/>
        <p:txBody>
          <a:bodyPr/>
          <a:lstStyle/>
          <a:p>
            <a:fld id="{9F80896A-E317-44C8-9554-53D2476537A9}" type="slidenum">
              <a:rPr lang="en-US" smtClean="0"/>
              <a:t>‹#›</a:t>
            </a:fld>
            <a:endParaRPr lang="en-US"/>
          </a:p>
        </p:txBody>
      </p:sp>
    </p:spTree>
    <p:extLst>
      <p:ext uri="{BB962C8B-B14F-4D97-AF65-F5344CB8AC3E}">
        <p14:creationId xmlns:p14="http://schemas.microsoft.com/office/powerpoint/2010/main" val="638790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B6D16-20B0-7319-6F13-8ABC50A7C7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6911CC-EF93-806C-60D4-1044A7C970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69CA3-BC5E-8CFF-5BB1-352569EA2C69}"/>
              </a:ext>
            </a:extLst>
          </p:cNvPr>
          <p:cNvSpPr>
            <a:spLocks noGrp="1"/>
          </p:cNvSpPr>
          <p:nvPr>
            <p:ph type="dt" sz="half" idx="10"/>
          </p:nvPr>
        </p:nvSpPr>
        <p:spPr/>
        <p:txBody>
          <a:bodyPr/>
          <a:lstStyle/>
          <a:p>
            <a:fld id="{81C4AEBB-EB7F-487C-A8ED-8DBAC0E887FE}" type="datetimeFigureOut">
              <a:rPr lang="en-US" smtClean="0"/>
              <a:t>3/1/2026</a:t>
            </a:fld>
            <a:endParaRPr lang="en-US"/>
          </a:p>
        </p:txBody>
      </p:sp>
      <p:sp>
        <p:nvSpPr>
          <p:cNvPr id="5" name="Footer Placeholder 4">
            <a:extLst>
              <a:ext uri="{FF2B5EF4-FFF2-40B4-BE49-F238E27FC236}">
                <a16:creationId xmlns:a16="http://schemas.microsoft.com/office/drawing/2014/main" id="{5F6F8AAD-C092-8241-FCAC-A257BC84DD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5F29A6-EF3C-B25F-DDF5-1099882320B3}"/>
              </a:ext>
            </a:extLst>
          </p:cNvPr>
          <p:cNvSpPr>
            <a:spLocks noGrp="1"/>
          </p:cNvSpPr>
          <p:nvPr>
            <p:ph type="sldNum" sz="quarter" idx="12"/>
          </p:nvPr>
        </p:nvSpPr>
        <p:spPr/>
        <p:txBody>
          <a:bodyPr/>
          <a:lstStyle/>
          <a:p>
            <a:fld id="{9F80896A-E317-44C8-9554-53D2476537A9}" type="slidenum">
              <a:rPr lang="en-US" smtClean="0"/>
              <a:t>‹#›</a:t>
            </a:fld>
            <a:endParaRPr lang="en-US"/>
          </a:p>
        </p:txBody>
      </p:sp>
    </p:spTree>
    <p:extLst>
      <p:ext uri="{BB962C8B-B14F-4D97-AF65-F5344CB8AC3E}">
        <p14:creationId xmlns:p14="http://schemas.microsoft.com/office/powerpoint/2010/main" val="2788640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4846E-9883-C29B-92B5-5252065B80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11D6CD-7DC6-6EFE-70DC-4FBD85180F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0976F6-7626-FF16-8FAE-5F493D0DC92F}"/>
              </a:ext>
            </a:extLst>
          </p:cNvPr>
          <p:cNvSpPr>
            <a:spLocks noGrp="1"/>
          </p:cNvSpPr>
          <p:nvPr>
            <p:ph type="dt" sz="half" idx="10"/>
          </p:nvPr>
        </p:nvSpPr>
        <p:spPr/>
        <p:txBody>
          <a:bodyPr/>
          <a:lstStyle/>
          <a:p>
            <a:fld id="{81C4AEBB-EB7F-487C-A8ED-8DBAC0E887FE}" type="datetimeFigureOut">
              <a:rPr lang="en-US" smtClean="0"/>
              <a:t>3/1/2026</a:t>
            </a:fld>
            <a:endParaRPr lang="en-US"/>
          </a:p>
        </p:txBody>
      </p:sp>
      <p:sp>
        <p:nvSpPr>
          <p:cNvPr id="5" name="Footer Placeholder 4">
            <a:extLst>
              <a:ext uri="{FF2B5EF4-FFF2-40B4-BE49-F238E27FC236}">
                <a16:creationId xmlns:a16="http://schemas.microsoft.com/office/drawing/2014/main" id="{3C4003DA-F8FF-10B8-5230-9F43CD8BF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F178A4-9DDB-6A2B-2C2C-33E29AB3DD05}"/>
              </a:ext>
            </a:extLst>
          </p:cNvPr>
          <p:cNvSpPr>
            <a:spLocks noGrp="1"/>
          </p:cNvSpPr>
          <p:nvPr>
            <p:ph type="sldNum" sz="quarter" idx="12"/>
          </p:nvPr>
        </p:nvSpPr>
        <p:spPr/>
        <p:txBody>
          <a:bodyPr/>
          <a:lstStyle/>
          <a:p>
            <a:fld id="{9F80896A-E317-44C8-9554-53D2476537A9}" type="slidenum">
              <a:rPr lang="en-US" smtClean="0"/>
              <a:t>‹#›</a:t>
            </a:fld>
            <a:endParaRPr lang="en-US"/>
          </a:p>
        </p:txBody>
      </p:sp>
    </p:spTree>
    <p:extLst>
      <p:ext uri="{BB962C8B-B14F-4D97-AF65-F5344CB8AC3E}">
        <p14:creationId xmlns:p14="http://schemas.microsoft.com/office/powerpoint/2010/main" val="2080281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C06E0-AC4F-2D00-F35A-1D7E1F0E82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246523-327E-67A2-7032-1ECB97AFF7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DBDCC8-6EF1-3C7A-4964-86B33378F4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48C719-8DEC-D9F6-961B-25D3A9809139}"/>
              </a:ext>
            </a:extLst>
          </p:cNvPr>
          <p:cNvSpPr>
            <a:spLocks noGrp="1"/>
          </p:cNvSpPr>
          <p:nvPr>
            <p:ph type="dt" sz="half" idx="10"/>
          </p:nvPr>
        </p:nvSpPr>
        <p:spPr/>
        <p:txBody>
          <a:bodyPr/>
          <a:lstStyle/>
          <a:p>
            <a:fld id="{81C4AEBB-EB7F-487C-A8ED-8DBAC0E887FE}" type="datetimeFigureOut">
              <a:rPr lang="en-US" smtClean="0"/>
              <a:t>3/1/2026</a:t>
            </a:fld>
            <a:endParaRPr lang="en-US"/>
          </a:p>
        </p:txBody>
      </p:sp>
      <p:sp>
        <p:nvSpPr>
          <p:cNvPr id="6" name="Footer Placeholder 5">
            <a:extLst>
              <a:ext uri="{FF2B5EF4-FFF2-40B4-BE49-F238E27FC236}">
                <a16:creationId xmlns:a16="http://schemas.microsoft.com/office/drawing/2014/main" id="{EFD5B53F-FF12-D94D-89AE-D2355F96BB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ABA882-A2DD-197D-0E2D-2FFAC6125B58}"/>
              </a:ext>
            </a:extLst>
          </p:cNvPr>
          <p:cNvSpPr>
            <a:spLocks noGrp="1"/>
          </p:cNvSpPr>
          <p:nvPr>
            <p:ph type="sldNum" sz="quarter" idx="12"/>
          </p:nvPr>
        </p:nvSpPr>
        <p:spPr/>
        <p:txBody>
          <a:bodyPr/>
          <a:lstStyle/>
          <a:p>
            <a:fld id="{9F80896A-E317-44C8-9554-53D2476537A9}" type="slidenum">
              <a:rPr lang="en-US" smtClean="0"/>
              <a:t>‹#›</a:t>
            </a:fld>
            <a:endParaRPr lang="en-US"/>
          </a:p>
        </p:txBody>
      </p:sp>
    </p:spTree>
    <p:extLst>
      <p:ext uri="{BB962C8B-B14F-4D97-AF65-F5344CB8AC3E}">
        <p14:creationId xmlns:p14="http://schemas.microsoft.com/office/powerpoint/2010/main" val="3330502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51F11-0ADF-C696-603F-FC53DF2EB3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FBC530-81D9-555E-BC6C-443C2E64EB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D3B3BD-6DB5-A52C-D86A-E9CA6B2106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F80B23-6581-F8F8-8680-F99B88D873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BA9478-C477-3BD6-61C6-7CB9452362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24A826-53E0-91EF-1534-68169DD42547}"/>
              </a:ext>
            </a:extLst>
          </p:cNvPr>
          <p:cNvSpPr>
            <a:spLocks noGrp="1"/>
          </p:cNvSpPr>
          <p:nvPr>
            <p:ph type="dt" sz="half" idx="10"/>
          </p:nvPr>
        </p:nvSpPr>
        <p:spPr/>
        <p:txBody>
          <a:bodyPr/>
          <a:lstStyle/>
          <a:p>
            <a:fld id="{81C4AEBB-EB7F-487C-A8ED-8DBAC0E887FE}" type="datetimeFigureOut">
              <a:rPr lang="en-US" smtClean="0"/>
              <a:t>3/1/2026</a:t>
            </a:fld>
            <a:endParaRPr lang="en-US"/>
          </a:p>
        </p:txBody>
      </p:sp>
      <p:sp>
        <p:nvSpPr>
          <p:cNvPr id="8" name="Footer Placeholder 7">
            <a:extLst>
              <a:ext uri="{FF2B5EF4-FFF2-40B4-BE49-F238E27FC236}">
                <a16:creationId xmlns:a16="http://schemas.microsoft.com/office/drawing/2014/main" id="{5A80B5AC-8FEE-5D43-79EC-0F53CF4E7C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F3D00E-B4E1-C52C-2309-23633030612A}"/>
              </a:ext>
            </a:extLst>
          </p:cNvPr>
          <p:cNvSpPr>
            <a:spLocks noGrp="1"/>
          </p:cNvSpPr>
          <p:nvPr>
            <p:ph type="sldNum" sz="quarter" idx="12"/>
          </p:nvPr>
        </p:nvSpPr>
        <p:spPr/>
        <p:txBody>
          <a:bodyPr/>
          <a:lstStyle/>
          <a:p>
            <a:fld id="{9F80896A-E317-44C8-9554-53D2476537A9}" type="slidenum">
              <a:rPr lang="en-US" smtClean="0"/>
              <a:t>‹#›</a:t>
            </a:fld>
            <a:endParaRPr lang="en-US"/>
          </a:p>
        </p:txBody>
      </p:sp>
    </p:spTree>
    <p:extLst>
      <p:ext uri="{BB962C8B-B14F-4D97-AF65-F5344CB8AC3E}">
        <p14:creationId xmlns:p14="http://schemas.microsoft.com/office/powerpoint/2010/main" val="3931183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E2AFB-FA74-68B4-1558-2A6920376E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C5D354-5C3B-5A5D-D408-2DE6E7BD1F55}"/>
              </a:ext>
            </a:extLst>
          </p:cNvPr>
          <p:cNvSpPr>
            <a:spLocks noGrp="1"/>
          </p:cNvSpPr>
          <p:nvPr>
            <p:ph type="dt" sz="half" idx="10"/>
          </p:nvPr>
        </p:nvSpPr>
        <p:spPr/>
        <p:txBody>
          <a:bodyPr/>
          <a:lstStyle/>
          <a:p>
            <a:fld id="{81C4AEBB-EB7F-487C-A8ED-8DBAC0E887FE}" type="datetimeFigureOut">
              <a:rPr lang="en-US" smtClean="0"/>
              <a:t>3/1/2026</a:t>
            </a:fld>
            <a:endParaRPr lang="en-US"/>
          </a:p>
        </p:txBody>
      </p:sp>
      <p:sp>
        <p:nvSpPr>
          <p:cNvPr id="4" name="Footer Placeholder 3">
            <a:extLst>
              <a:ext uri="{FF2B5EF4-FFF2-40B4-BE49-F238E27FC236}">
                <a16:creationId xmlns:a16="http://schemas.microsoft.com/office/drawing/2014/main" id="{2D4B3425-CDA8-45DE-77B7-C609D89E8D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6C970A-6B22-1C61-C8A0-DA82373E4293}"/>
              </a:ext>
            </a:extLst>
          </p:cNvPr>
          <p:cNvSpPr>
            <a:spLocks noGrp="1"/>
          </p:cNvSpPr>
          <p:nvPr>
            <p:ph type="sldNum" sz="quarter" idx="12"/>
          </p:nvPr>
        </p:nvSpPr>
        <p:spPr/>
        <p:txBody>
          <a:bodyPr/>
          <a:lstStyle/>
          <a:p>
            <a:fld id="{9F80896A-E317-44C8-9554-53D2476537A9}" type="slidenum">
              <a:rPr lang="en-US" smtClean="0"/>
              <a:t>‹#›</a:t>
            </a:fld>
            <a:endParaRPr lang="en-US"/>
          </a:p>
        </p:txBody>
      </p:sp>
    </p:spTree>
    <p:extLst>
      <p:ext uri="{BB962C8B-B14F-4D97-AF65-F5344CB8AC3E}">
        <p14:creationId xmlns:p14="http://schemas.microsoft.com/office/powerpoint/2010/main" val="2089000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7C6FF0-32B9-9670-A3DE-4E7110CF2B8B}"/>
              </a:ext>
            </a:extLst>
          </p:cNvPr>
          <p:cNvSpPr>
            <a:spLocks noGrp="1"/>
          </p:cNvSpPr>
          <p:nvPr>
            <p:ph type="dt" sz="half" idx="10"/>
          </p:nvPr>
        </p:nvSpPr>
        <p:spPr/>
        <p:txBody>
          <a:bodyPr/>
          <a:lstStyle/>
          <a:p>
            <a:fld id="{81C4AEBB-EB7F-487C-A8ED-8DBAC0E887FE}" type="datetimeFigureOut">
              <a:rPr lang="en-US" smtClean="0"/>
              <a:t>3/1/2026</a:t>
            </a:fld>
            <a:endParaRPr lang="en-US"/>
          </a:p>
        </p:txBody>
      </p:sp>
      <p:sp>
        <p:nvSpPr>
          <p:cNvPr id="3" name="Footer Placeholder 2">
            <a:extLst>
              <a:ext uri="{FF2B5EF4-FFF2-40B4-BE49-F238E27FC236}">
                <a16:creationId xmlns:a16="http://schemas.microsoft.com/office/drawing/2014/main" id="{662F49CF-FE7A-762D-2FA1-2011677CE6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15CA7A-D98D-427E-F6B4-C8B6F72EB2BC}"/>
              </a:ext>
            </a:extLst>
          </p:cNvPr>
          <p:cNvSpPr>
            <a:spLocks noGrp="1"/>
          </p:cNvSpPr>
          <p:nvPr>
            <p:ph type="sldNum" sz="quarter" idx="12"/>
          </p:nvPr>
        </p:nvSpPr>
        <p:spPr/>
        <p:txBody>
          <a:bodyPr/>
          <a:lstStyle/>
          <a:p>
            <a:fld id="{9F80896A-E317-44C8-9554-53D2476537A9}" type="slidenum">
              <a:rPr lang="en-US" smtClean="0"/>
              <a:t>‹#›</a:t>
            </a:fld>
            <a:endParaRPr lang="en-US"/>
          </a:p>
        </p:txBody>
      </p:sp>
    </p:spTree>
    <p:extLst>
      <p:ext uri="{BB962C8B-B14F-4D97-AF65-F5344CB8AC3E}">
        <p14:creationId xmlns:p14="http://schemas.microsoft.com/office/powerpoint/2010/main" val="780499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F34D2-3E61-A062-D0D6-3E4BCF9955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71394D-6F94-9FD3-FE5B-607D94A412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9AA088-804B-7E89-3D19-11693890C0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2A1C07-3CA2-EBAC-E839-63E5277118E0}"/>
              </a:ext>
            </a:extLst>
          </p:cNvPr>
          <p:cNvSpPr>
            <a:spLocks noGrp="1"/>
          </p:cNvSpPr>
          <p:nvPr>
            <p:ph type="dt" sz="half" idx="10"/>
          </p:nvPr>
        </p:nvSpPr>
        <p:spPr/>
        <p:txBody>
          <a:bodyPr/>
          <a:lstStyle/>
          <a:p>
            <a:fld id="{81C4AEBB-EB7F-487C-A8ED-8DBAC0E887FE}" type="datetimeFigureOut">
              <a:rPr lang="en-US" smtClean="0"/>
              <a:t>3/1/2026</a:t>
            </a:fld>
            <a:endParaRPr lang="en-US"/>
          </a:p>
        </p:txBody>
      </p:sp>
      <p:sp>
        <p:nvSpPr>
          <p:cNvPr id="6" name="Footer Placeholder 5">
            <a:extLst>
              <a:ext uri="{FF2B5EF4-FFF2-40B4-BE49-F238E27FC236}">
                <a16:creationId xmlns:a16="http://schemas.microsoft.com/office/drawing/2014/main" id="{4C9A2230-91E0-891F-AD24-5C2321A2D5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E9D8A3-04C0-B1E9-CA62-E71B64B4FBD9}"/>
              </a:ext>
            </a:extLst>
          </p:cNvPr>
          <p:cNvSpPr>
            <a:spLocks noGrp="1"/>
          </p:cNvSpPr>
          <p:nvPr>
            <p:ph type="sldNum" sz="quarter" idx="12"/>
          </p:nvPr>
        </p:nvSpPr>
        <p:spPr/>
        <p:txBody>
          <a:bodyPr/>
          <a:lstStyle/>
          <a:p>
            <a:fld id="{9F80896A-E317-44C8-9554-53D2476537A9}" type="slidenum">
              <a:rPr lang="en-US" smtClean="0"/>
              <a:t>‹#›</a:t>
            </a:fld>
            <a:endParaRPr lang="en-US"/>
          </a:p>
        </p:txBody>
      </p:sp>
    </p:spTree>
    <p:extLst>
      <p:ext uri="{BB962C8B-B14F-4D97-AF65-F5344CB8AC3E}">
        <p14:creationId xmlns:p14="http://schemas.microsoft.com/office/powerpoint/2010/main" val="2002741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0F111-FDAD-319E-E960-FD60927FAB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1D7592-443C-9CF6-D6B2-D867FF27D5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7DE907-A511-B6A5-3E12-50584FAF06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0F5EC8-DD5D-0A95-83A7-EA790E569421}"/>
              </a:ext>
            </a:extLst>
          </p:cNvPr>
          <p:cNvSpPr>
            <a:spLocks noGrp="1"/>
          </p:cNvSpPr>
          <p:nvPr>
            <p:ph type="dt" sz="half" idx="10"/>
          </p:nvPr>
        </p:nvSpPr>
        <p:spPr/>
        <p:txBody>
          <a:bodyPr/>
          <a:lstStyle/>
          <a:p>
            <a:fld id="{81C4AEBB-EB7F-487C-A8ED-8DBAC0E887FE}" type="datetimeFigureOut">
              <a:rPr lang="en-US" smtClean="0"/>
              <a:t>3/1/2026</a:t>
            </a:fld>
            <a:endParaRPr lang="en-US"/>
          </a:p>
        </p:txBody>
      </p:sp>
      <p:sp>
        <p:nvSpPr>
          <p:cNvPr id="6" name="Footer Placeholder 5">
            <a:extLst>
              <a:ext uri="{FF2B5EF4-FFF2-40B4-BE49-F238E27FC236}">
                <a16:creationId xmlns:a16="http://schemas.microsoft.com/office/drawing/2014/main" id="{F732D766-52D1-D8A3-EB93-DA0E04E8F2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AA520C-A548-6FF1-8EFD-D111D91C99F6}"/>
              </a:ext>
            </a:extLst>
          </p:cNvPr>
          <p:cNvSpPr>
            <a:spLocks noGrp="1"/>
          </p:cNvSpPr>
          <p:nvPr>
            <p:ph type="sldNum" sz="quarter" idx="12"/>
          </p:nvPr>
        </p:nvSpPr>
        <p:spPr/>
        <p:txBody>
          <a:bodyPr/>
          <a:lstStyle/>
          <a:p>
            <a:fld id="{9F80896A-E317-44C8-9554-53D2476537A9}" type="slidenum">
              <a:rPr lang="en-US" smtClean="0"/>
              <a:t>‹#›</a:t>
            </a:fld>
            <a:endParaRPr lang="en-US"/>
          </a:p>
        </p:txBody>
      </p:sp>
    </p:spTree>
    <p:extLst>
      <p:ext uri="{BB962C8B-B14F-4D97-AF65-F5344CB8AC3E}">
        <p14:creationId xmlns:p14="http://schemas.microsoft.com/office/powerpoint/2010/main" val="2924427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5A4C7-4F50-9423-8EA2-A43D5F5345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DC6F77-B750-8B23-A67E-174249E76B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642D16-4826-031B-04A2-0E154D9980C8}"/>
              </a:ext>
            </a:extLst>
          </p:cNvPr>
          <p:cNvSpPr>
            <a:spLocks noGrp="1"/>
          </p:cNvSpPr>
          <p:nvPr>
            <p:ph type="dt" sz="half" idx="10"/>
          </p:nvPr>
        </p:nvSpPr>
        <p:spPr/>
        <p:txBody>
          <a:bodyPr/>
          <a:lstStyle/>
          <a:p>
            <a:fld id="{81C4AEBB-EB7F-487C-A8ED-8DBAC0E887FE}" type="datetimeFigureOut">
              <a:rPr lang="en-US" smtClean="0"/>
              <a:t>3/1/2026</a:t>
            </a:fld>
            <a:endParaRPr lang="en-US"/>
          </a:p>
        </p:txBody>
      </p:sp>
      <p:sp>
        <p:nvSpPr>
          <p:cNvPr id="5" name="Footer Placeholder 4">
            <a:extLst>
              <a:ext uri="{FF2B5EF4-FFF2-40B4-BE49-F238E27FC236}">
                <a16:creationId xmlns:a16="http://schemas.microsoft.com/office/drawing/2014/main" id="{EDBA1258-7FC9-DA63-6F7D-6A053BD158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F99362-B7BA-6A6C-9ABD-2DB8686B6674}"/>
              </a:ext>
            </a:extLst>
          </p:cNvPr>
          <p:cNvSpPr>
            <a:spLocks noGrp="1"/>
          </p:cNvSpPr>
          <p:nvPr>
            <p:ph type="sldNum" sz="quarter" idx="12"/>
          </p:nvPr>
        </p:nvSpPr>
        <p:spPr/>
        <p:txBody>
          <a:bodyPr/>
          <a:lstStyle/>
          <a:p>
            <a:fld id="{9F80896A-E317-44C8-9554-53D2476537A9}" type="slidenum">
              <a:rPr lang="en-US" smtClean="0"/>
              <a:t>‹#›</a:t>
            </a:fld>
            <a:endParaRPr lang="en-US"/>
          </a:p>
        </p:txBody>
      </p:sp>
    </p:spTree>
    <p:extLst>
      <p:ext uri="{BB962C8B-B14F-4D97-AF65-F5344CB8AC3E}">
        <p14:creationId xmlns:p14="http://schemas.microsoft.com/office/powerpoint/2010/main" val="879746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3B060C-C061-E9CF-1A20-889C2DC5CB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C11011-8FEA-2AFF-C95C-9B0091DCD2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A19C9-4B35-D17D-D748-D7368AD66FA5}"/>
              </a:ext>
            </a:extLst>
          </p:cNvPr>
          <p:cNvSpPr>
            <a:spLocks noGrp="1"/>
          </p:cNvSpPr>
          <p:nvPr>
            <p:ph type="dt" sz="half" idx="10"/>
          </p:nvPr>
        </p:nvSpPr>
        <p:spPr/>
        <p:txBody>
          <a:bodyPr/>
          <a:lstStyle/>
          <a:p>
            <a:fld id="{81C4AEBB-EB7F-487C-A8ED-8DBAC0E887FE}" type="datetimeFigureOut">
              <a:rPr lang="en-US" smtClean="0"/>
              <a:t>3/1/2026</a:t>
            </a:fld>
            <a:endParaRPr lang="en-US"/>
          </a:p>
        </p:txBody>
      </p:sp>
      <p:sp>
        <p:nvSpPr>
          <p:cNvPr id="5" name="Footer Placeholder 4">
            <a:extLst>
              <a:ext uri="{FF2B5EF4-FFF2-40B4-BE49-F238E27FC236}">
                <a16:creationId xmlns:a16="http://schemas.microsoft.com/office/drawing/2014/main" id="{2C263F49-C5CD-E519-C0B0-6BACBDED1D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758C32-F9B8-AFC4-7F12-CEF8C54849BC}"/>
              </a:ext>
            </a:extLst>
          </p:cNvPr>
          <p:cNvSpPr>
            <a:spLocks noGrp="1"/>
          </p:cNvSpPr>
          <p:nvPr>
            <p:ph type="sldNum" sz="quarter" idx="12"/>
          </p:nvPr>
        </p:nvSpPr>
        <p:spPr/>
        <p:txBody>
          <a:bodyPr/>
          <a:lstStyle/>
          <a:p>
            <a:fld id="{9F80896A-E317-44C8-9554-53D2476537A9}" type="slidenum">
              <a:rPr lang="en-US" smtClean="0"/>
              <a:t>‹#›</a:t>
            </a:fld>
            <a:endParaRPr lang="en-US"/>
          </a:p>
        </p:txBody>
      </p:sp>
    </p:spTree>
    <p:extLst>
      <p:ext uri="{BB962C8B-B14F-4D97-AF65-F5344CB8AC3E}">
        <p14:creationId xmlns:p14="http://schemas.microsoft.com/office/powerpoint/2010/main" val="1254544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BAF288-A17E-144A-D40C-D80E47E552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7BE835-34B0-9AA4-0636-29BD198625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3E5F96-C992-004B-B99B-33B633D9EA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C4AEBB-EB7F-487C-A8ED-8DBAC0E887FE}" type="datetimeFigureOut">
              <a:rPr lang="en-US" smtClean="0"/>
              <a:t>3/1/2026</a:t>
            </a:fld>
            <a:endParaRPr lang="en-US"/>
          </a:p>
        </p:txBody>
      </p:sp>
      <p:sp>
        <p:nvSpPr>
          <p:cNvPr id="5" name="Footer Placeholder 4">
            <a:extLst>
              <a:ext uri="{FF2B5EF4-FFF2-40B4-BE49-F238E27FC236}">
                <a16:creationId xmlns:a16="http://schemas.microsoft.com/office/drawing/2014/main" id="{12077DB2-676F-AA7A-CF45-9C780740BB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A4D508A-9F91-0102-E875-45ED9A8F7D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80896A-E317-44C8-9554-53D2476537A9}" type="slidenum">
              <a:rPr lang="en-US" smtClean="0"/>
              <a:t>‹#›</a:t>
            </a:fld>
            <a:endParaRPr lang="en-US"/>
          </a:p>
        </p:txBody>
      </p:sp>
    </p:spTree>
    <p:extLst>
      <p:ext uri="{BB962C8B-B14F-4D97-AF65-F5344CB8AC3E}">
        <p14:creationId xmlns:p14="http://schemas.microsoft.com/office/powerpoint/2010/main" val="622643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05CB-D135-24A4-70E2-C769C9D4E398}"/>
              </a:ext>
            </a:extLst>
          </p:cNvPr>
          <p:cNvSpPr>
            <a:spLocks noGrp="1"/>
          </p:cNvSpPr>
          <p:nvPr>
            <p:ph type="ctrTitle"/>
          </p:nvPr>
        </p:nvSpPr>
        <p:spPr/>
        <p:txBody>
          <a:bodyPr>
            <a:noAutofit/>
          </a:bodyPr>
          <a:lstStyle/>
          <a:p>
            <a:r>
              <a:rPr lang="en-US" sz="4400" dirty="0"/>
              <a:t>Associations Between Baseline Hard Drug Use and Two-Year Treatment Outcomes After HAART Initiation</a:t>
            </a:r>
          </a:p>
        </p:txBody>
      </p:sp>
      <p:sp>
        <p:nvSpPr>
          <p:cNvPr id="3" name="Subtitle 2">
            <a:extLst>
              <a:ext uri="{FF2B5EF4-FFF2-40B4-BE49-F238E27FC236}">
                <a16:creationId xmlns:a16="http://schemas.microsoft.com/office/drawing/2014/main" id="{738EDFCD-1365-0B50-E2C7-26389D8331A7}"/>
              </a:ext>
            </a:extLst>
          </p:cNvPr>
          <p:cNvSpPr>
            <a:spLocks noGrp="1"/>
          </p:cNvSpPr>
          <p:nvPr>
            <p:ph type="subTitle" idx="1"/>
          </p:nvPr>
        </p:nvSpPr>
        <p:spPr/>
        <p:txBody>
          <a:bodyPr/>
          <a:lstStyle/>
          <a:p>
            <a:r>
              <a:rPr lang="en-US" dirty="0"/>
              <a:t>Project 1</a:t>
            </a:r>
          </a:p>
          <a:p>
            <a:r>
              <a:rPr lang="en-US" dirty="0"/>
              <a:t>Ezra Weible</a:t>
            </a:r>
          </a:p>
          <a:p>
            <a:r>
              <a:rPr lang="en-US" dirty="0"/>
              <a:t>2 March 2026</a:t>
            </a:r>
          </a:p>
        </p:txBody>
      </p:sp>
    </p:spTree>
    <p:extLst>
      <p:ext uri="{BB962C8B-B14F-4D97-AF65-F5344CB8AC3E}">
        <p14:creationId xmlns:p14="http://schemas.microsoft.com/office/powerpoint/2010/main" val="172457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8FA23-D7FB-336E-27D3-D22A653A0920}"/>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3DDEC1C9-F0BB-944E-104A-1C46C5D25AF4}"/>
              </a:ext>
            </a:extLst>
          </p:cNvPr>
          <p:cNvSpPr>
            <a:spLocks noGrp="1"/>
          </p:cNvSpPr>
          <p:nvPr>
            <p:ph idx="1"/>
          </p:nvPr>
        </p:nvSpPr>
        <p:spPr>
          <a:xfrm>
            <a:off x="0" y="1690688"/>
            <a:ext cx="5253644" cy="4351338"/>
          </a:xfrm>
        </p:spPr>
        <p:txBody>
          <a:bodyPr>
            <a:normAutofit fontScale="92500"/>
          </a:bodyPr>
          <a:lstStyle/>
          <a:p>
            <a:r>
              <a:rPr lang="en-US" dirty="0"/>
              <a:t>Does baseline hard drug use affect treatment response two years after initiating HAART?</a:t>
            </a:r>
          </a:p>
          <a:p>
            <a:pPr lvl="1"/>
            <a:r>
              <a:rPr lang="en-US" dirty="0"/>
              <a:t>Outcomes: viral load (log10 scale), CD4 count, physical and mental quality of life</a:t>
            </a:r>
          </a:p>
          <a:p>
            <a:pPr lvl="1"/>
            <a:r>
              <a:rPr lang="en-US" dirty="0"/>
              <a:t>Null Hypothesis: No difference in year-2 response between baseline hard drug users and non-users</a:t>
            </a:r>
          </a:p>
          <a:p>
            <a:r>
              <a:rPr lang="en-US" dirty="0"/>
              <a:t>Can this be explained by differences in second year adherence?</a:t>
            </a:r>
          </a:p>
        </p:txBody>
      </p:sp>
      <p:pic>
        <p:nvPicPr>
          <p:cNvPr id="5" name="Picture 4">
            <a:extLst>
              <a:ext uri="{FF2B5EF4-FFF2-40B4-BE49-F238E27FC236}">
                <a16:creationId xmlns:a16="http://schemas.microsoft.com/office/drawing/2014/main" id="{688A30CA-B1A8-8A5E-38F6-F3D88EB2C5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2889" y="1329802"/>
            <a:ext cx="7049111" cy="5395428"/>
          </a:xfrm>
          <a:prstGeom prst="rect">
            <a:avLst/>
          </a:prstGeom>
        </p:spPr>
      </p:pic>
    </p:spTree>
    <p:extLst>
      <p:ext uri="{BB962C8B-B14F-4D97-AF65-F5344CB8AC3E}">
        <p14:creationId xmlns:p14="http://schemas.microsoft.com/office/powerpoint/2010/main" val="3886421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9494F59-A2CB-EC87-AA9B-041040610F76}"/>
              </a:ext>
            </a:extLst>
          </p:cNvPr>
          <p:cNvPicPr>
            <a:picLocks noChangeAspect="1"/>
          </p:cNvPicPr>
          <p:nvPr/>
        </p:nvPicPr>
        <p:blipFill>
          <a:blip r:embed="rId3"/>
          <a:stretch>
            <a:fillRect/>
          </a:stretch>
        </p:blipFill>
        <p:spPr>
          <a:xfrm>
            <a:off x="6404968" y="2948369"/>
            <a:ext cx="5534797" cy="3877216"/>
          </a:xfrm>
          <a:prstGeom prst="rect">
            <a:avLst/>
          </a:prstGeom>
        </p:spPr>
      </p:pic>
      <p:pic>
        <p:nvPicPr>
          <p:cNvPr id="5" name="Picture 4">
            <a:extLst>
              <a:ext uri="{FF2B5EF4-FFF2-40B4-BE49-F238E27FC236}">
                <a16:creationId xmlns:a16="http://schemas.microsoft.com/office/drawing/2014/main" id="{CBF2EA4A-770B-A007-C32D-C113EF253623}"/>
              </a:ext>
            </a:extLst>
          </p:cNvPr>
          <p:cNvPicPr>
            <a:picLocks noChangeAspect="1"/>
          </p:cNvPicPr>
          <p:nvPr/>
        </p:nvPicPr>
        <p:blipFill>
          <a:blip r:embed="rId4"/>
          <a:stretch>
            <a:fillRect/>
          </a:stretch>
        </p:blipFill>
        <p:spPr>
          <a:xfrm>
            <a:off x="0" y="580149"/>
            <a:ext cx="5782482" cy="6277851"/>
          </a:xfrm>
          <a:prstGeom prst="rect">
            <a:avLst/>
          </a:prstGeom>
        </p:spPr>
      </p:pic>
      <p:sp>
        <p:nvSpPr>
          <p:cNvPr id="2" name="Title 1">
            <a:extLst>
              <a:ext uri="{FF2B5EF4-FFF2-40B4-BE49-F238E27FC236}">
                <a16:creationId xmlns:a16="http://schemas.microsoft.com/office/drawing/2014/main" id="{B2944C85-5A76-96FD-50F8-486CF4A0FFFA}"/>
              </a:ext>
            </a:extLst>
          </p:cNvPr>
          <p:cNvSpPr>
            <a:spLocks noGrp="1"/>
          </p:cNvSpPr>
          <p:nvPr>
            <p:ph type="title"/>
          </p:nvPr>
        </p:nvSpPr>
        <p:spPr>
          <a:xfrm>
            <a:off x="7253604" y="32415"/>
            <a:ext cx="3837527" cy="1325563"/>
          </a:xfrm>
        </p:spPr>
        <p:txBody>
          <a:bodyPr/>
          <a:lstStyle/>
          <a:p>
            <a:pPr algn="ctr"/>
            <a:r>
              <a:rPr lang="en-US" dirty="0"/>
              <a:t>Data Overview</a:t>
            </a:r>
          </a:p>
        </p:txBody>
      </p:sp>
      <p:sp>
        <p:nvSpPr>
          <p:cNvPr id="21" name="TextBox 20">
            <a:extLst>
              <a:ext uri="{FF2B5EF4-FFF2-40B4-BE49-F238E27FC236}">
                <a16:creationId xmlns:a16="http://schemas.microsoft.com/office/drawing/2014/main" id="{CCA07D77-2269-D274-738F-B2444736DC13}"/>
              </a:ext>
            </a:extLst>
          </p:cNvPr>
          <p:cNvSpPr txBox="1"/>
          <p:nvPr/>
        </p:nvSpPr>
        <p:spPr>
          <a:xfrm>
            <a:off x="6344317" y="1173312"/>
            <a:ext cx="5790947" cy="369332"/>
          </a:xfrm>
          <a:prstGeom prst="rect">
            <a:avLst/>
          </a:prstGeom>
          <a:noFill/>
        </p:spPr>
        <p:txBody>
          <a:bodyPr wrap="square" rtlCol="0">
            <a:spAutoFit/>
          </a:bodyPr>
          <a:lstStyle/>
          <a:p>
            <a:r>
              <a:rPr lang="en-US" b="1" dirty="0"/>
              <a:t>*</a:t>
            </a:r>
            <a:r>
              <a:rPr lang="en-US" dirty="0"/>
              <a:t>Collapsed to 2 categories each based on sample sizes</a:t>
            </a:r>
          </a:p>
        </p:txBody>
      </p:sp>
      <p:sp>
        <p:nvSpPr>
          <p:cNvPr id="20" name="TextBox 19">
            <a:extLst>
              <a:ext uri="{FF2B5EF4-FFF2-40B4-BE49-F238E27FC236}">
                <a16:creationId xmlns:a16="http://schemas.microsoft.com/office/drawing/2014/main" id="{EAB8A822-D31F-B0D8-A93B-8FA4DA1E44A5}"/>
              </a:ext>
            </a:extLst>
          </p:cNvPr>
          <p:cNvSpPr txBox="1"/>
          <p:nvPr/>
        </p:nvSpPr>
        <p:spPr>
          <a:xfrm>
            <a:off x="-47847" y="4800523"/>
            <a:ext cx="300082" cy="1477328"/>
          </a:xfrm>
          <a:prstGeom prst="rect">
            <a:avLst/>
          </a:prstGeom>
          <a:noFill/>
        </p:spPr>
        <p:txBody>
          <a:bodyPr wrap="none" rtlCol="0">
            <a:spAutoFit/>
          </a:bodyPr>
          <a:lstStyle/>
          <a:p>
            <a:r>
              <a:rPr lang="en-US" b="1" dirty="0"/>
              <a:t>*</a:t>
            </a:r>
          </a:p>
          <a:p>
            <a:endParaRPr lang="en-US" b="1" dirty="0"/>
          </a:p>
          <a:p>
            <a:r>
              <a:rPr lang="en-US" b="1" dirty="0"/>
              <a:t>*</a:t>
            </a:r>
            <a:br>
              <a:rPr lang="en-US" b="1" dirty="0"/>
            </a:br>
            <a:br>
              <a:rPr lang="en-US" b="1" dirty="0"/>
            </a:br>
            <a:r>
              <a:rPr lang="en-US" b="1" dirty="0"/>
              <a:t>*</a:t>
            </a:r>
          </a:p>
        </p:txBody>
      </p:sp>
      <p:sp>
        <p:nvSpPr>
          <p:cNvPr id="10" name="TextBox 9">
            <a:extLst>
              <a:ext uri="{FF2B5EF4-FFF2-40B4-BE49-F238E27FC236}">
                <a16:creationId xmlns:a16="http://schemas.microsoft.com/office/drawing/2014/main" id="{278B4911-AAF2-73BA-87E9-8638E6A10DB3}"/>
              </a:ext>
            </a:extLst>
          </p:cNvPr>
          <p:cNvSpPr txBox="1"/>
          <p:nvPr/>
        </p:nvSpPr>
        <p:spPr>
          <a:xfrm>
            <a:off x="8422111" y="2107783"/>
            <a:ext cx="3808021" cy="646331"/>
          </a:xfrm>
          <a:prstGeom prst="rect">
            <a:avLst/>
          </a:prstGeom>
          <a:noFill/>
        </p:spPr>
        <p:txBody>
          <a:bodyPr wrap="square">
            <a:spAutoFit/>
          </a:bodyPr>
          <a:lstStyle/>
          <a:p>
            <a:pPr algn="r"/>
            <a:r>
              <a:rPr lang="en-US" dirty="0"/>
              <a:t>463 subjects had complete outcome and covariate data</a:t>
            </a:r>
          </a:p>
        </p:txBody>
      </p:sp>
      <p:cxnSp>
        <p:nvCxnSpPr>
          <p:cNvPr id="14" name="Straight Arrow Connector 13">
            <a:extLst>
              <a:ext uri="{FF2B5EF4-FFF2-40B4-BE49-F238E27FC236}">
                <a16:creationId xmlns:a16="http://schemas.microsoft.com/office/drawing/2014/main" id="{FDFA17A8-8C28-A290-AA5A-52FF2677DB26}"/>
              </a:ext>
            </a:extLst>
          </p:cNvPr>
          <p:cNvCxnSpPr>
            <a:cxnSpLocks/>
          </p:cNvCxnSpPr>
          <p:nvPr/>
        </p:nvCxnSpPr>
        <p:spPr>
          <a:xfrm>
            <a:off x="11404927" y="2754114"/>
            <a:ext cx="0" cy="557179"/>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2678A103-B34A-7245-70D3-19061D09F596}"/>
              </a:ext>
            </a:extLst>
          </p:cNvPr>
          <p:cNvSpPr txBox="1"/>
          <p:nvPr/>
        </p:nvSpPr>
        <p:spPr>
          <a:xfrm>
            <a:off x="6344317" y="5684688"/>
            <a:ext cx="290464" cy="646331"/>
          </a:xfrm>
          <a:prstGeom prst="rect">
            <a:avLst/>
          </a:prstGeom>
          <a:noFill/>
        </p:spPr>
        <p:txBody>
          <a:bodyPr wrap="none" rtlCol="0">
            <a:spAutoFit/>
          </a:bodyPr>
          <a:lstStyle/>
          <a:p>
            <a:br>
              <a:rPr lang="en-US" b="1" dirty="0"/>
            </a:br>
            <a:r>
              <a:rPr lang="en-US" b="1" dirty="0"/>
              <a:t>*</a:t>
            </a:r>
          </a:p>
        </p:txBody>
      </p:sp>
    </p:spTree>
    <p:extLst>
      <p:ext uri="{BB962C8B-B14F-4D97-AF65-F5344CB8AC3E}">
        <p14:creationId xmlns:p14="http://schemas.microsoft.com/office/powerpoint/2010/main" val="3662945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15DF-3CD4-329A-4010-2682136C7949}"/>
              </a:ext>
            </a:extLst>
          </p:cNvPr>
          <p:cNvSpPr>
            <a:spLocks noGrp="1"/>
          </p:cNvSpPr>
          <p:nvPr>
            <p:ph type="title"/>
          </p:nvPr>
        </p:nvSpPr>
        <p:spPr/>
        <p:txBody>
          <a:bodyPr/>
          <a:lstStyle/>
          <a:p>
            <a:r>
              <a:rPr lang="en-US" dirty="0"/>
              <a:t>Analysis Overview</a:t>
            </a:r>
          </a:p>
        </p:txBody>
      </p:sp>
      <p:sp>
        <p:nvSpPr>
          <p:cNvPr id="3" name="Content Placeholder 2">
            <a:extLst>
              <a:ext uri="{FF2B5EF4-FFF2-40B4-BE49-F238E27FC236}">
                <a16:creationId xmlns:a16="http://schemas.microsoft.com/office/drawing/2014/main" id="{C8E021CD-AE97-EDA5-E14F-25C0B1E7C85E}"/>
              </a:ext>
            </a:extLst>
          </p:cNvPr>
          <p:cNvSpPr>
            <a:spLocks noGrp="1"/>
          </p:cNvSpPr>
          <p:nvPr>
            <p:ph idx="1"/>
          </p:nvPr>
        </p:nvSpPr>
        <p:spPr>
          <a:xfrm>
            <a:off x="838200" y="1690687"/>
            <a:ext cx="10515600" cy="4802187"/>
          </a:xfrm>
        </p:spPr>
        <p:txBody>
          <a:bodyPr>
            <a:normAutofit fontScale="92500" lnSpcReduction="10000"/>
          </a:bodyPr>
          <a:lstStyle/>
          <a:p>
            <a:pPr marL="0" indent="0">
              <a:buNone/>
            </a:pPr>
            <a:r>
              <a:rPr lang="en-US" sz="3000" u="sng" dirty="0"/>
              <a:t>Primary Models</a:t>
            </a:r>
          </a:p>
          <a:p>
            <a:r>
              <a:rPr lang="en-US" dirty="0"/>
              <a:t>Linear regression for each year 2 outcome by hard drug status</a:t>
            </a:r>
          </a:p>
          <a:p>
            <a:pPr lvl="1"/>
            <a:r>
              <a:rPr lang="en-US" dirty="0"/>
              <a:t>Adjusted for: baseline outcome, age, BMI, smoking, education, race/ethnicity</a:t>
            </a:r>
          </a:p>
          <a:p>
            <a:r>
              <a:rPr lang="en-US" dirty="0"/>
              <a:t>Bayesian implementation</a:t>
            </a:r>
          </a:p>
          <a:p>
            <a:pPr lvl="1"/>
            <a:r>
              <a:rPr lang="en-US" dirty="0"/>
              <a:t>Priors: N(0,1000) for coefficients, half Normal(0,1000) for residual SD</a:t>
            </a:r>
          </a:p>
          <a:p>
            <a:pPr lvl="1"/>
            <a:r>
              <a:rPr lang="en-US" dirty="0"/>
              <a:t>Stan (HMC/NUTS), 4 chains, 2000 burn-in followed by 5000 iterations</a:t>
            </a:r>
          </a:p>
          <a:p>
            <a:pPr lvl="1"/>
            <a:r>
              <a:rPr lang="en-US" dirty="0"/>
              <a:t>Diagnostics: R-hat, ESS, trace, autocorrelation, and posterior density plots</a:t>
            </a:r>
          </a:p>
          <a:p>
            <a:pPr lvl="1"/>
            <a:r>
              <a:rPr lang="en-US" dirty="0"/>
              <a:t>Used clinically meaningful thresholds for posterior probability</a:t>
            </a:r>
            <a:br>
              <a:rPr lang="en-US" dirty="0"/>
            </a:br>
            <a:endParaRPr lang="en-US" dirty="0"/>
          </a:p>
          <a:p>
            <a:pPr marL="0" indent="0">
              <a:buNone/>
            </a:pPr>
            <a:r>
              <a:rPr lang="en-US" sz="3000" u="sng" dirty="0"/>
              <a:t>Secondary Models</a:t>
            </a:r>
          </a:p>
          <a:p>
            <a:r>
              <a:rPr lang="en-US" dirty="0"/>
              <a:t>Refit each model including year 2 adherence</a:t>
            </a:r>
          </a:p>
          <a:p>
            <a:pPr lvl="1"/>
            <a:r>
              <a:rPr lang="en-US" dirty="0"/>
              <a:t>Compare estimates descriptively</a:t>
            </a:r>
          </a:p>
        </p:txBody>
      </p:sp>
    </p:spTree>
    <p:extLst>
      <p:ext uri="{BB962C8B-B14F-4D97-AF65-F5344CB8AC3E}">
        <p14:creationId xmlns:p14="http://schemas.microsoft.com/office/powerpoint/2010/main" val="387199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67FC7-B7BC-970E-1FA6-9034E8AF46F6}"/>
              </a:ext>
            </a:extLst>
          </p:cNvPr>
          <p:cNvSpPr>
            <a:spLocks noGrp="1"/>
          </p:cNvSpPr>
          <p:nvPr>
            <p:ph type="title"/>
          </p:nvPr>
        </p:nvSpPr>
        <p:spPr/>
        <p:txBody>
          <a:bodyPr/>
          <a:lstStyle/>
          <a:p>
            <a:r>
              <a:rPr lang="en-US" dirty="0"/>
              <a:t>Results</a:t>
            </a:r>
          </a:p>
        </p:txBody>
      </p:sp>
      <p:pic>
        <p:nvPicPr>
          <p:cNvPr id="5" name="Picture 4">
            <a:extLst>
              <a:ext uri="{FF2B5EF4-FFF2-40B4-BE49-F238E27FC236}">
                <a16:creationId xmlns:a16="http://schemas.microsoft.com/office/drawing/2014/main" id="{AD272D68-9BF5-ACD2-A9CF-64A8A6F4DBA2}"/>
              </a:ext>
            </a:extLst>
          </p:cNvPr>
          <p:cNvPicPr>
            <a:picLocks noChangeAspect="1"/>
          </p:cNvPicPr>
          <p:nvPr/>
        </p:nvPicPr>
        <p:blipFill>
          <a:blip r:embed="rId3">
            <a:extLst>
              <a:ext uri="{28A0092B-C50C-407E-A947-70E740481C1C}">
                <a14:useLocalDpi xmlns:a14="http://schemas.microsoft.com/office/drawing/2010/main" val="0"/>
              </a:ext>
            </a:extLst>
          </a:blip>
          <a:srcRect b="19713"/>
          <a:stretch>
            <a:fillRect/>
          </a:stretch>
        </p:blipFill>
        <p:spPr>
          <a:xfrm>
            <a:off x="3158836" y="963119"/>
            <a:ext cx="9033164" cy="5876638"/>
          </a:xfrm>
          <a:prstGeom prst="rect">
            <a:avLst/>
          </a:prstGeom>
        </p:spPr>
      </p:pic>
      <p:pic>
        <p:nvPicPr>
          <p:cNvPr id="7" name="Picture 6">
            <a:extLst>
              <a:ext uri="{FF2B5EF4-FFF2-40B4-BE49-F238E27FC236}">
                <a16:creationId xmlns:a16="http://schemas.microsoft.com/office/drawing/2014/main" id="{868F9F09-9E85-2651-71D6-7593B2A9A4A2}"/>
              </a:ext>
            </a:extLst>
          </p:cNvPr>
          <p:cNvPicPr>
            <a:picLocks noChangeAspect="1"/>
          </p:cNvPicPr>
          <p:nvPr/>
        </p:nvPicPr>
        <p:blipFill>
          <a:blip r:embed="rId4">
            <a:extLst>
              <a:ext uri="{28A0092B-C50C-407E-A947-70E740481C1C}">
                <a14:useLocalDpi xmlns:a14="http://schemas.microsoft.com/office/drawing/2010/main" val="0"/>
              </a:ext>
            </a:extLst>
          </a:blip>
          <a:srcRect b="21758"/>
          <a:stretch>
            <a:fillRect/>
          </a:stretch>
        </p:blipFill>
        <p:spPr>
          <a:xfrm>
            <a:off x="3158836" y="-18243"/>
            <a:ext cx="9033164" cy="6876243"/>
          </a:xfrm>
          <a:prstGeom prst="rect">
            <a:avLst/>
          </a:prstGeom>
        </p:spPr>
      </p:pic>
      <p:sp>
        <p:nvSpPr>
          <p:cNvPr id="8" name="Content Placeholder 2">
            <a:extLst>
              <a:ext uri="{FF2B5EF4-FFF2-40B4-BE49-F238E27FC236}">
                <a16:creationId xmlns:a16="http://schemas.microsoft.com/office/drawing/2014/main" id="{E0B6ED8A-E67E-B8F5-16BB-5BF975943A7A}"/>
              </a:ext>
            </a:extLst>
          </p:cNvPr>
          <p:cNvSpPr>
            <a:spLocks noGrp="1"/>
          </p:cNvSpPr>
          <p:nvPr>
            <p:ph idx="1"/>
          </p:nvPr>
        </p:nvSpPr>
        <p:spPr>
          <a:xfrm>
            <a:off x="0" y="1690688"/>
            <a:ext cx="3158836" cy="4802187"/>
          </a:xfrm>
        </p:spPr>
        <p:txBody>
          <a:bodyPr>
            <a:normAutofit lnSpcReduction="10000"/>
          </a:bodyPr>
          <a:lstStyle/>
          <a:p>
            <a:r>
              <a:rPr lang="en-US" dirty="0"/>
              <a:t>Strong evidence of lower CD4 counts among hard drug users</a:t>
            </a:r>
          </a:p>
          <a:p>
            <a:r>
              <a:rPr lang="en-US" dirty="0"/>
              <a:t>Moderate evidence of lower physical quality of life among hard drug users</a:t>
            </a:r>
          </a:p>
          <a:p>
            <a:r>
              <a:rPr lang="en-US" dirty="0"/>
              <a:t>Adherence adjustment did not change any conclusions</a:t>
            </a:r>
          </a:p>
        </p:txBody>
      </p:sp>
    </p:spTree>
    <p:extLst>
      <p:ext uri="{BB962C8B-B14F-4D97-AF65-F5344CB8AC3E}">
        <p14:creationId xmlns:p14="http://schemas.microsoft.com/office/powerpoint/2010/main" val="3421660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F2C28-C500-6BBE-8421-48D477758A8A}"/>
              </a:ext>
            </a:extLst>
          </p:cNvPr>
          <p:cNvSpPr>
            <a:spLocks noGrp="1"/>
          </p:cNvSpPr>
          <p:nvPr>
            <p:ph type="title"/>
          </p:nvPr>
        </p:nvSpPr>
        <p:spPr/>
        <p:txBody>
          <a:bodyPr/>
          <a:lstStyle/>
          <a:p>
            <a:r>
              <a:rPr lang="en-US" dirty="0"/>
              <a:t>Results </a:t>
            </a:r>
          </a:p>
        </p:txBody>
      </p:sp>
      <p:pic>
        <p:nvPicPr>
          <p:cNvPr id="5" name="Content Placeholder 4">
            <a:extLst>
              <a:ext uri="{FF2B5EF4-FFF2-40B4-BE49-F238E27FC236}">
                <a16:creationId xmlns:a16="http://schemas.microsoft.com/office/drawing/2014/main" id="{7480106B-FE1D-378C-C5EC-5F80146DBA2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232044" y="0"/>
            <a:ext cx="8959956" cy="6858000"/>
          </a:xfrm>
        </p:spPr>
      </p:pic>
      <p:sp>
        <p:nvSpPr>
          <p:cNvPr id="3" name="Content Placeholder 2">
            <a:extLst>
              <a:ext uri="{FF2B5EF4-FFF2-40B4-BE49-F238E27FC236}">
                <a16:creationId xmlns:a16="http://schemas.microsoft.com/office/drawing/2014/main" id="{53376DF1-8DE5-D260-301B-8DBEDDB2F2E2}"/>
              </a:ext>
            </a:extLst>
          </p:cNvPr>
          <p:cNvSpPr txBox="1">
            <a:spLocks/>
          </p:cNvSpPr>
          <p:nvPr/>
        </p:nvSpPr>
        <p:spPr>
          <a:xfrm>
            <a:off x="0" y="1690688"/>
            <a:ext cx="3158836" cy="48021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Strong agreement across models</a:t>
            </a:r>
          </a:p>
        </p:txBody>
      </p:sp>
    </p:spTree>
    <p:extLst>
      <p:ext uri="{BB962C8B-B14F-4D97-AF65-F5344CB8AC3E}">
        <p14:creationId xmlns:p14="http://schemas.microsoft.com/office/powerpoint/2010/main" val="4241141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B890-9475-61F8-E4FD-539EB1225540}"/>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A45962E8-9B6F-3E4F-36EA-FA81667F1DC1}"/>
              </a:ext>
            </a:extLst>
          </p:cNvPr>
          <p:cNvSpPr>
            <a:spLocks noGrp="1"/>
          </p:cNvSpPr>
          <p:nvPr>
            <p:ph idx="1"/>
          </p:nvPr>
        </p:nvSpPr>
        <p:spPr/>
        <p:txBody>
          <a:bodyPr/>
          <a:lstStyle/>
          <a:p>
            <a:r>
              <a:rPr lang="en-US" dirty="0"/>
              <a:t>Limitations</a:t>
            </a:r>
          </a:p>
          <a:p>
            <a:pPr lvl="1"/>
            <a:r>
              <a:rPr lang="en-US" dirty="0"/>
              <a:t>Hard drug use and adherence are self reported and only measured once</a:t>
            </a:r>
          </a:p>
          <a:p>
            <a:pPr lvl="1"/>
            <a:r>
              <a:rPr lang="en-US" dirty="0"/>
              <a:t>Complete case analysis may introduce bias</a:t>
            </a:r>
          </a:p>
          <a:p>
            <a:pPr lvl="1"/>
            <a:r>
              <a:rPr lang="en-US" dirty="0"/>
              <a:t>Potential differential dropout by drug use</a:t>
            </a:r>
          </a:p>
          <a:p>
            <a:pPr lvl="1"/>
            <a:r>
              <a:rPr lang="en-US" dirty="0"/>
              <a:t>Potential unmeasured confounders (SES, mental health, co-infections)</a:t>
            </a:r>
          </a:p>
          <a:p>
            <a:pPr lvl="1"/>
            <a:r>
              <a:rPr lang="en-US" dirty="0"/>
              <a:t>Generalization beyond MACS cohort</a:t>
            </a:r>
          </a:p>
        </p:txBody>
      </p:sp>
    </p:spTree>
    <p:extLst>
      <p:ext uri="{BB962C8B-B14F-4D97-AF65-F5344CB8AC3E}">
        <p14:creationId xmlns:p14="http://schemas.microsoft.com/office/powerpoint/2010/main" val="5264775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545</Words>
  <Application>Microsoft Office PowerPoint</Application>
  <PresentationFormat>Widescreen</PresentationFormat>
  <Paragraphs>58</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Associations Between Baseline Hard Drug Use and Two-Year Treatment Outcomes After HAART Initiation</vt:lpstr>
      <vt:lpstr>Research Question</vt:lpstr>
      <vt:lpstr>Data Overview</vt:lpstr>
      <vt:lpstr>Analysis Overview</vt:lpstr>
      <vt:lpstr>Results</vt:lpstr>
      <vt:lpstr>Results </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Weible, Ezra</dc:creator>
  <cp:lastModifiedBy>Weible, Ezra</cp:lastModifiedBy>
  <cp:revision>1</cp:revision>
  <dcterms:created xsi:type="dcterms:W3CDTF">2026-03-02T06:00:18Z</dcterms:created>
  <dcterms:modified xsi:type="dcterms:W3CDTF">2026-03-02T07:02:30Z</dcterms:modified>
</cp:coreProperties>
</file>